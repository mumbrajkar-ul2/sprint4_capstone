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47" autoAdjust="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038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dirty="0">
                <a:solidFill>
                  <a:srgbClr val="231F20"/>
                </a:solidFill>
                <a:latin typeface="Calibri"/>
                <a:ea typeface="Calibri"/>
                <a:cs typeface="Calibri"/>
              </a:rPr>
              <a:t>A Context Lake holds the reviewed meaning across an enterprise's systems. A lake card is one reviewed fact a later reader can point at. A rule card is the decision table for one rule, so the same rule is applied the same way and a missing table is visible. The knowledge graph is the links between cards, so a reader can walk from a rule to the program, the decision, and the evidence. Shared words give one definition and the local names other systems use. The review gate lets a fact in only when it has an owner, a legal shape, and real links. The built copy is one read-only file, so every reader sees the same set. A change starts in the source, then a new copy is built. Together, these six parts give every team the same accepted meaning, the same owner, and the same links. The lake does not take over the systems that still run the work.</a:t>
            </a:r>
          </a:p>
          <a:p>
            <a:pPr algn="l">
              <a:spcAft>
                <a:spcPts val="800"/>
              </a:spcAft>
            </a:pPr>
            <a:r>
              <a:rPr sz="1400" b="0" i="0" dirty="0">
                <a:solidFill>
                  <a:srgbClr val="231F20"/>
                </a:solidFill>
                <a:latin typeface="Calibri"/>
                <a:ea typeface="Calibri"/>
                <a:cs typeface="Calibri"/>
              </a:rPr>
              <a:t>Point at the six parts, then the gold line.</a:t>
            </a:r>
          </a:p>
          <a:p>
            <a:pPr algn="l">
              <a:spcAft>
                <a:spcPts val="800"/>
              </a:spcAft>
            </a:pPr>
            <a:r>
              <a:rPr sz="1400" b="0" i="0" dirty="0">
                <a:solidFill>
                  <a:srgbClr val="231F20"/>
                </a:solidFill>
                <a:latin typeface="Calibri"/>
                <a:ea typeface="Calibri"/>
                <a:cs typeface="Calibri"/>
              </a:rPr>
              <a:t>Next slide: this page on a semiconductor lot.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lot row cannot explain the hold. A reviewed rule page can. Lot L00000016 shows dispatch recipe R02 and tool recipe R01. The Context Lake ties the policy record, the old programs, and the locked decision into one reviewed page. Application A keeps the wafer decision available. The rebuilt program still sets the hold if the page is missing. The page is what the signer reads, and RT-03 still signs. A knowledge file must not be what releases the lot. Application B makes a drifted rule visible. The same page is the mark. A missing or different page changes the mark and names that page. A rule that lives only in code can hide a missing written limit, such as the old 1.05 tolerance. One lake file, version 1.0.0, built 18 October 2026, does not refresh as the lot moves. The model does not write the hold.</a:t>
            </a:r>
          </a:p>
          <a:p>
            <a:pPr algn="l">
              <a:spcAft>
                <a:spcPts val="800"/>
              </a:spcAft>
            </a:pPr>
            <a:r>
              <a:rPr sz="1400" b="0" i="0">
                <a:solidFill>
                  <a:srgbClr val="231F20"/>
                </a:solidFill>
                <a:latin typeface="Calibri"/>
                <a:ea typeface="Calibri"/>
                <a:cs typeface="Calibri"/>
              </a:rPr>
              <a:t>Point at the lot row, then the two cards.</a:t>
            </a:r>
          </a:p>
          <a:p>
            <a:pPr algn="l">
              <a:spcAft>
                <a:spcPts val="800"/>
              </a:spcAft>
            </a:pPr>
            <a:r>
              <a:rPr sz="1400" b="0" i="0">
                <a:solidFill>
                  <a:srgbClr val="231F20"/>
                </a:solidFill>
                <a:latin typeface="Calibri"/>
                <a:ea typeface="Calibri"/>
                <a:cs typeface="Calibri"/>
              </a:rPr>
              <a:t>Next slide: the command-center walk of this lot.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 name="Connector 6"/>
          <p:cNvCxnSpPr/>
          <p:nvPr/>
        </p:nvCxnSpPr>
        <p:spPr>
          <a:xfrm>
            <a:off x="2679192" y="139903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79192" y="176479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79192" y="2130552"/>
            <a:ext cx="448056" cy="0"/>
          </a:xfrm>
          <a:prstGeom prst="line">
            <a:avLst/>
          </a:prstGeom>
          <a:ln w="19050">
            <a:solidFill>
              <a:srgbClr val="231F2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Force Fab</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dirty="0">
                <a:solidFill>
                  <a:srgbClr val="231F20"/>
                </a:solidFill>
                <a:latin typeface="Calibri"/>
                <a:ea typeface="Calibri"/>
                <a:cs typeface="Calibri"/>
              </a:rPr>
              <a:t>A Context Lake holds the reviewed meaning across an enterprise's systems.</a:t>
            </a:r>
          </a:p>
        </p:txBody>
      </p:sp>
      <p:sp>
        <p:nvSpPr>
          <p:cNvPr id="5" name="chip:policy"/>
          <p:cNvSpPr/>
          <p:nvPr/>
        </p:nvSpPr>
        <p:spPr>
          <a:xfrm>
            <a:off x="502920" y="124358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ip-label:policy"/>
          <p:cNvSpPr txBox="1"/>
          <p:nvPr/>
        </p:nvSpPr>
        <p:spPr>
          <a:xfrm>
            <a:off x="566928" y="124358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Policy</a:t>
            </a:r>
          </a:p>
        </p:txBody>
      </p:sp>
      <p:sp>
        <p:nvSpPr>
          <p:cNvPr id="8" name="chip:program"/>
          <p:cNvSpPr/>
          <p:nvPr/>
        </p:nvSpPr>
        <p:spPr>
          <a:xfrm>
            <a:off x="502920" y="160934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ip-label:program"/>
          <p:cNvSpPr txBox="1"/>
          <p:nvPr/>
        </p:nvSpPr>
        <p:spPr>
          <a:xfrm>
            <a:off x="566928" y="160934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Program</a:t>
            </a:r>
          </a:p>
        </p:txBody>
      </p:sp>
      <p:sp>
        <p:nvSpPr>
          <p:cNvPr id="11" name="chip:decision"/>
          <p:cNvSpPr/>
          <p:nvPr/>
        </p:nvSpPr>
        <p:spPr>
          <a:xfrm>
            <a:off x="502920" y="1975104"/>
            <a:ext cx="2103120" cy="310896"/>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hip-label:decision"/>
          <p:cNvSpPr txBox="1"/>
          <p:nvPr/>
        </p:nvSpPr>
        <p:spPr>
          <a:xfrm>
            <a:off x="566928" y="1975104"/>
            <a:ext cx="1975104" cy="310896"/>
          </a:xfrm>
          <a:prstGeom prst="rect">
            <a:avLst/>
          </a:prstGeom>
          <a:noFill/>
        </p:spPr>
        <p:txBody>
          <a:bodyPr wrap="square" lIns="0" tIns="36576" rIns="0" bIns="36576" anchor="ctr"/>
          <a:lstStyle/>
          <a:p>
            <a:pPr algn="ctr">
              <a:spcBef>
                <a:spcPts val="0"/>
              </a:spcBef>
              <a:spcAft>
                <a:spcPts val="0"/>
              </a:spcAft>
            </a:pPr>
            <a:r>
              <a:rPr sz="1300" b="1" i="0">
                <a:solidFill>
                  <a:srgbClr val="231F20"/>
                </a:solidFill>
                <a:latin typeface="Calibri"/>
                <a:ea typeface="Calibri"/>
                <a:cs typeface="Calibri"/>
              </a:rPr>
              <a:t>Recorded decision</a:t>
            </a:r>
          </a:p>
        </p:txBody>
      </p:sp>
      <p:sp>
        <p:nvSpPr>
          <p:cNvPr id="14" name="lake-page"/>
          <p:cNvSpPr/>
          <p:nvPr/>
        </p:nvSpPr>
        <p:spPr>
          <a:xfrm>
            <a:off x="3200400" y="1243584"/>
            <a:ext cx="2468880" cy="1042415"/>
          </a:xfrm>
          <a:prstGeom prst="roundRect">
            <a:avLst>
              <a:gd name="adj" fmla="val 8000"/>
            </a:avLst>
          </a:prstGeom>
          <a:solidFill>
            <a:srgbClr val="FCF3DE"/>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ake-page-label"/>
          <p:cNvSpPr txBox="1"/>
          <p:nvPr/>
        </p:nvSpPr>
        <p:spPr>
          <a:xfrm>
            <a:off x="3310128" y="1243584"/>
            <a:ext cx="2249424" cy="1042415"/>
          </a:xfrm>
          <a:prstGeom prst="rect">
            <a:avLst/>
          </a:prstGeom>
          <a:noFill/>
        </p:spPr>
        <p:txBody>
          <a:bodyPr wrap="square" lIns="18288" tIns="36576" rIns="18288" bIns="36576" anchor="ctr"/>
          <a:lstStyle/>
          <a:p>
            <a:pPr algn="ctr">
              <a:spcBef>
                <a:spcPts val="0"/>
              </a:spcBef>
              <a:spcAft>
                <a:spcPts val="0"/>
              </a:spcAft>
            </a:pPr>
            <a:r>
              <a:rPr sz="1600" b="1" i="0" dirty="0">
                <a:solidFill>
                  <a:srgbClr val="231F20"/>
                </a:solidFill>
                <a:latin typeface="Calibri"/>
                <a:ea typeface="Calibri"/>
                <a:cs typeface="Calibri"/>
              </a:rPr>
              <a:t>Context Lake</a:t>
            </a:r>
          </a:p>
          <a:p>
            <a:pPr algn="ctr">
              <a:spcBef>
                <a:spcPts val="0"/>
              </a:spcBef>
              <a:spcAft>
                <a:spcPts val="0"/>
              </a:spcAft>
            </a:pPr>
            <a:r>
              <a:rPr sz="1300" b="0" i="0" dirty="0">
                <a:solidFill>
                  <a:srgbClr val="4B4B4B"/>
                </a:solidFill>
                <a:latin typeface="Calibri"/>
                <a:ea typeface="Calibri"/>
                <a:cs typeface="Calibri"/>
              </a:rPr>
              <a:t>Reviewed </a:t>
            </a:r>
            <a:r>
              <a:rPr lang="en-US" sz="1300" dirty="0">
                <a:solidFill>
                  <a:srgbClr val="4B4B4B"/>
                </a:solidFill>
                <a:latin typeface="Calibri"/>
                <a:ea typeface="Calibri"/>
                <a:cs typeface="Calibri"/>
              </a:rPr>
              <a:t>meaning in the </a:t>
            </a:r>
          </a:p>
          <a:p>
            <a:pPr algn="ctr">
              <a:spcBef>
                <a:spcPts val="0"/>
              </a:spcBef>
              <a:spcAft>
                <a:spcPts val="0"/>
              </a:spcAft>
            </a:pPr>
            <a:r>
              <a:rPr lang="en-US" sz="1300" u="sng" dirty="0">
                <a:solidFill>
                  <a:srgbClr val="4B4B4B"/>
                </a:solidFill>
                <a:latin typeface="Calibri"/>
                <a:ea typeface="Calibri"/>
                <a:cs typeface="Calibri"/>
              </a:rPr>
              <a:t>Lake Card</a:t>
            </a:r>
            <a:endParaRPr sz="1300" b="0" i="0" u="sng" dirty="0">
              <a:solidFill>
                <a:srgbClr val="4B4B4B"/>
              </a:solidFill>
              <a:latin typeface="Calibri"/>
              <a:ea typeface="Calibri"/>
              <a:cs typeface="Calibri"/>
            </a:endParaRPr>
          </a:p>
        </p:txBody>
      </p:sp>
      <p:sp>
        <p:nvSpPr>
          <p:cNvPr id="16" name="caption"/>
          <p:cNvSpPr txBox="1"/>
          <p:nvPr/>
        </p:nvSpPr>
        <p:spPr>
          <a:xfrm>
            <a:off x="5852160" y="1243584"/>
            <a:ext cx="5806440" cy="1042415"/>
          </a:xfrm>
          <a:prstGeom prst="rect">
            <a:avLst/>
          </a:prstGeom>
          <a:noFill/>
        </p:spPr>
        <p:txBody>
          <a:bodyPr wrap="square" lIns="18288" tIns="36576" rIns="18288" bIns="36576" anchor="ctr"/>
          <a:lstStyle/>
          <a:p>
            <a:pPr algn="l">
              <a:spcBef>
                <a:spcPts val="0"/>
              </a:spcBef>
              <a:spcAft>
                <a:spcPts val="0"/>
              </a:spcAft>
            </a:pPr>
            <a:r>
              <a:rPr sz="1600" b="0" i="0" dirty="0">
                <a:solidFill>
                  <a:srgbClr val="231F20"/>
                </a:solidFill>
                <a:latin typeface="Calibri"/>
                <a:ea typeface="Calibri"/>
                <a:cs typeface="Calibri"/>
              </a:rPr>
              <a:t>Each source system keeps its own records. The lake </a:t>
            </a:r>
            <a:r>
              <a:rPr lang="en-US" sz="1600" b="0" i="0" dirty="0">
                <a:solidFill>
                  <a:srgbClr val="231F20"/>
                </a:solidFill>
                <a:latin typeface="Calibri"/>
                <a:ea typeface="Calibri"/>
                <a:cs typeface="Calibri"/>
              </a:rPr>
              <a:t>card</a:t>
            </a:r>
            <a:r>
              <a:rPr sz="1600" b="0" i="0" dirty="0">
                <a:solidFill>
                  <a:srgbClr val="231F20"/>
                </a:solidFill>
                <a:latin typeface="Calibri"/>
                <a:ea typeface="Calibri"/>
                <a:cs typeface="Calibri"/>
              </a:rPr>
              <a:t> is the reviewed meaning those records do not hold.</a:t>
            </a:r>
          </a:p>
        </p:txBody>
      </p:sp>
      <p:sp>
        <p:nvSpPr>
          <p:cNvPr id="17" name="Rounded Rectangle 16"/>
          <p:cNvSpPr/>
          <p:nvPr/>
        </p:nvSpPr>
        <p:spPr>
          <a:xfrm>
            <a:off x="502920" y="2432304"/>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2508382"/>
            <a:ext cx="64008" cy="323331"/>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ard:0"/>
          <p:cNvSpPr txBox="1"/>
          <p:nvPr/>
        </p:nvSpPr>
        <p:spPr>
          <a:xfrm>
            <a:off x="667512" y="2432304"/>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Lake card</a:t>
            </a:r>
          </a:p>
        </p:txBody>
      </p:sp>
      <p:sp>
        <p:nvSpPr>
          <p:cNvPr id="20" name="card:0"/>
          <p:cNvSpPr txBox="1"/>
          <p:nvPr/>
        </p:nvSpPr>
        <p:spPr>
          <a:xfrm>
            <a:off x="2560320" y="2432304"/>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reviewed fact: the statement, who accepted it, the source, and the dates it applied. A later reader can point at that meaning.</a:t>
            </a:r>
          </a:p>
        </p:txBody>
      </p:sp>
      <p:sp>
        <p:nvSpPr>
          <p:cNvPr id="21" name="Rounded Rectangle 20"/>
          <p:cNvSpPr/>
          <p:nvPr/>
        </p:nvSpPr>
        <p:spPr>
          <a:xfrm>
            <a:off x="502920" y="2944368"/>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21208" y="3020446"/>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ard:1"/>
          <p:cNvSpPr txBox="1"/>
          <p:nvPr/>
        </p:nvSpPr>
        <p:spPr>
          <a:xfrm>
            <a:off x="667512" y="2944368"/>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Rule card</a:t>
            </a:r>
          </a:p>
        </p:txBody>
      </p:sp>
      <p:sp>
        <p:nvSpPr>
          <p:cNvPr id="24" name="card:1"/>
          <p:cNvSpPr txBox="1"/>
          <p:nvPr/>
        </p:nvSpPr>
        <p:spPr>
          <a:xfrm>
            <a:off x="2560320" y="2944368"/>
            <a:ext cx="8942832" cy="475488"/>
          </a:xfrm>
          <a:prstGeom prst="rect">
            <a:avLst/>
          </a:prstGeom>
          <a:noFill/>
        </p:spPr>
        <p:txBody>
          <a:bodyPr wrap="square" lIns="18288" tIns="36576" rIns="18288" bIns="36576" anchor="ctr"/>
          <a:lstStyle/>
          <a:p>
            <a:r>
              <a:rPr sz="1300" b="0" i="0" dirty="0">
                <a:solidFill>
                  <a:srgbClr val="4B4B4B"/>
                </a:solidFill>
                <a:latin typeface="Calibri"/>
                <a:ea typeface="Calibri"/>
                <a:cs typeface="Calibri"/>
              </a:rPr>
              <a:t>The decision table for one rule: the inputs, the authority, and the </a:t>
            </a:r>
            <a:r>
              <a:rPr sz="1300" dirty="0">
                <a:solidFill>
                  <a:srgbClr val="4B4B4B"/>
                </a:solidFill>
                <a:latin typeface="Calibri"/>
                <a:ea typeface="Calibri"/>
                <a:cs typeface="Calibri"/>
              </a:rPr>
              <a:t>tests. </a:t>
            </a:r>
            <a:r>
              <a:rPr lang="en-US" sz="1300" dirty="0">
                <a:solidFill>
                  <a:srgbClr val="4B4B4B"/>
                </a:solidFill>
                <a:latin typeface="Calibri"/>
                <a:ea typeface="Calibri"/>
                <a:cs typeface="Calibri"/>
              </a:rPr>
              <a:t>So every reader applies that rule the same way. If the table is missing, the result names that missing card.</a:t>
            </a:r>
            <a:endParaRPr sz="1300" dirty="0">
              <a:solidFill>
                <a:srgbClr val="4B4B4B"/>
              </a:solidFill>
              <a:latin typeface="Calibri"/>
              <a:ea typeface="Calibri"/>
              <a:cs typeface="Calibri"/>
            </a:endParaRPr>
          </a:p>
        </p:txBody>
      </p:sp>
      <p:sp>
        <p:nvSpPr>
          <p:cNvPr id="25" name="Rounded Rectangle 24"/>
          <p:cNvSpPr/>
          <p:nvPr/>
        </p:nvSpPr>
        <p:spPr>
          <a:xfrm>
            <a:off x="502920" y="3456432"/>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21208" y="3532510"/>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2"/>
          <p:cNvSpPr txBox="1"/>
          <p:nvPr/>
        </p:nvSpPr>
        <p:spPr>
          <a:xfrm>
            <a:off x="667512" y="3456432"/>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Knowledge graph</a:t>
            </a:r>
          </a:p>
        </p:txBody>
      </p:sp>
      <p:sp>
        <p:nvSpPr>
          <p:cNvPr id="28" name="card:2"/>
          <p:cNvSpPr txBox="1"/>
          <p:nvPr/>
        </p:nvSpPr>
        <p:spPr>
          <a:xfrm>
            <a:off x="2560320" y="3456432"/>
            <a:ext cx="8942832" cy="475488"/>
          </a:xfrm>
          <a:prstGeom prst="rect">
            <a:avLst/>
          </a:prstGeom>
          <a:noFill/>
        </p:spPr>
        <p:txBody>
          <a:bodyPr wrap="square" lIns="18288" tIns="36576" rIns="18288" bIns="36576" anchor="ctr"/>
          <a:lstStyle/>
          <a:p>
            <a:pPr algn="l">
              <a:spcBef>
                <a:spcPts val="0"/>
              </a:spcBef>
              <a:spcAft>
                <a:spcPts val="0"/>
              </a:spcAft>
            </a:pPr>
            <a:r>
              <a:rPr sz="1300" b="0" i="0" dirty="0">
                <a:solidFill>
                  <a:srgbClr val="4B4B4B"/>
                </a:solidFill>
                <a:latin typeface="Calibri"/>
                <a:ea typeface="Calibri"/>
                <a:cs typeface="Calibri"/>
              </a:rPr>
              <a:t>Links between cards: carries out, governs, conflicts with, replaces, evidenced by, depends on, maps to, and tested by. A reader walks from a rule to the program, the decision, and the evidence.</a:t>
            </a:r>
          </a:p>
        </p:txBody>
      </p:sp>
      <p:sp>
        <p:nvSpPr>
          <p:cNvPr id="29" name="Rounded Rectangle 28"/>
          <p:cNvSpPr/>
          <p:nvPr/>
        </p:nvSpPr>
        <p:spPr>
          <a:xfrm>
            <a:off x="502920" y="3968496"/>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21208" y="4044574"/>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ard:3"/>
          <p:cNvSpPr txBox="1"/>
          <p:nvPr/>
        </p:nvSpPr>
        <p:spPr>
          <a:xfrm>
            <a:off x="667512" y="3968496"/>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Shared words</a:t>
            </a:r>
          </a:p>
        </p:txBody>
      </p:sp>
      <p:sp>
        <p:nvSpPr>
          <p:cNvPr id="32" name="card:3"/>
          <p:cNvSpPr txBox="1"/>
          <p:nvPr/>
        </p:nvSpPr>
        <p:spPr>
          <a:xfrm>
            <a:off x="2560320" y="3968496"/>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definition, plus the local names other systems use for that word. Systems that use different words can still meet on one meaning.</a:t>
            </a:r>
          </a:p>
        </p:txBody>
      </p:sp>
      <p:sp>
        <p:nvSpPr>
          <p:cNvPr id="33" name="Rounded Rectangle 32"/>
          <p:cNvSpPr/>
          <p:nvPr/>
        </p:nvSpPr>
        <p:spPr>
          <a:xfrm>
            <a:off x="502920" y="4480560"/>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1208" y="4556638"/>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ard:4"/>
          <p:cNvSpPr txBox="1"/>
          <p:nvPr/>
        </p:nvSpPr>
        <p:spPr>
          <a:xfrm>
            <a:off x="667512" y="4480560"/>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Review gate</a:t>
            </a:r>
          </a:p>
        </p:txBody>
      </p:sp>
      <p:sp>
        <p:nvSpPr>
          <p:cNvPr id="36" name="card:4"/>
          <p:cNvSpPr txBox="1"/>
          <p:nvPr/>
        </p:nvSpPr>
        <p:spPr>
          <a:xfrm>
            <a:off x="2560320" y="4480560"/>
            <a:ext cx="8942832" cy="475488"/>
          </a:xfrm>
          <a:prstGeom prst="rect">
            <a:avLst/>
          </a:prstGeom>
          <a:noFill/>
        </p:spPr>
        <p:txBody>
          <a:bodyPr wrap="square" lIns="18288" tIns="36576" rIns="18288" bIns="36576" anchor="ctr"/>
          <a:lstStyle/>
          <a:p>
            <a:pPr algn="l">
              <a:spcBef>
                <a:spcPts val="0"/>
              </a:spcBef>
              <a:spcAft>
                <a:spcPts val="0"/>
              </a:spcAft>
            </a:pPr>
            <a:r>
              <a:rPr sz="1300" b="0" i="0" dirty="0">
                <a:solidFill>
                  <a:srgbClr val="4B4B4B"/>
                </a:solidFill>
                <a:latin typeface="Calibri"/>
                <a:ea typeface="Calibri"/>
                <a:cs typeface="Calibri"/>
              </a:rPr>
              <a:t>A fact enters only when it has an owner, a legal shape, and links that point at real cards. Raw operational rows stay in the system that owns them.</a:t>
            </a:r>
          </a:p>
        </p:txBody>
      </p:sp>
      <p:sp>
        <p:nvSpPr>
          <p:cNvPr id="37" name="Rounded Rectangle 36"/>
          <p:cNvSpPr/>
          <p:nvPr/>
        </p:nvSpPr>
        <p:spPr>
          <a:xfrm>
            <a:off x="502920" y="4992624"/>
            <a:ext cx="11183112" cy="4754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1208" y="5068702"/>
            <a:ext cx="64008" cy="323331"/>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ard:5"/>
          <p:cNvSpPr txBox="1"/>
          <p:nvPr/>
        </p:nvSpPr>
        <p:spPr>
          <a:xfrm>
            <a:off x="667512" y="4992624"/>
            <a:ext cx="1874519" cy="475488"/>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Built copy</a:t>
            </a:r>
          </a:p>
        </p:txBody>
      </p:sp>
      <p:sp>
        <p:nvSpPr>
          <p:cNvPr id="40" name="card:5"/>
          <p:cNvSpPr txBox="1"/>
          <p:nvPr/>
        </p:nvSpPr>
        <p:spPr>
          <a:xfrm>
            <a:off x="2560320" y="4992624"/>
            <a:ext cx="8942832" cy="475488"/>
          </a:xfrm>
          <a:prstGeom prst="rect">
            <a:avLst/>
          </a:prstGeom>
          <a:noFill/>
        </p:spPr>
        <p:txBody>
          <a:bodyPr wrap="square" lIns="18288" tIns="36576" rIns="18288" bIns="36576" anchor="ctr"/>
          <a:lstStyle/>
          <a:p>
            <a:pPr algn="l">
              <a:spcBef>
                <a:spcPts val="0"/>
              </a:spcBef>
              <a:spcAft>
                <a:spcPts val="0"/>
              </a:spcAft>
            </a:pPr>
            <a:r>
              <a:rPr sz="1300" b="0" i="0">
                <a:solidFill>
                  <a:srgbClr val="4B4B4B"/>
                </a:solidFill>
                <a:latin typeface="Calibri"/>
                <a:ea typeface="Calibri"/>
                <a:cs typeface="Calibri"/>
              </a:rPr>
              <a:t>One read-only file from the reviewed source, so every reader sees the same set. A change starts in the source, then a new copy is built.</a:t>
            </a:r>
          </a:p>
        </p:txBody>
      </p:sp>
      <p:sp>
        <p:nvSpPr>
          <p:cNvPr id="41" name="value"/>
          <p:cNvSpPr/>
          <p:nvPr/>
        </p:nvSpPr>
        <p:spPr>
          <a:xfrm>
            <a:off x="502920" y="5614416"/>
            <a:ext cx="11183112" cy="749808"/>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36576" rIns="146304" bIns="36576" rtlCol="0" anchor="ctr"/>
          <a:lstStyle/>
          <a:p>
            <a:pPr algn="l">
              <a:spcBef>
                <a:spcPts val="0"/>
              </a:spcBef>
              <a:spcAft>
                <a:spcPts val="0"/>
              </a:spcAft>
            </a:pPr>
            <a:r>
              <a:rPr sz="1400" b="1" i="0">
                <a:solidFill>
                  <a:srgbClr val="231F20"/>
                </a:solidFill>
                <a:latin typeface="Calibri"/>
                <a:ea typeface="Calibri"/>
                <a:cs typeface="Calibri"/>
              </a:rPr>
              <a:t>An enterprise keeps many systems, and each system keeps its own records. Together, these six parts give every team the same accepted meaning, the same owner, and the same links.</a:t>
            </a:r>
          </a:p>
          <a:p>
            <a:pPr algn="l">
              <a:spcBef>
                <a:spcPts val="0"/>
              </a:spcBef>
              <a:spcAft>
                <a:spcPts val="0"/>
              </a:spcAft>
            </a:pPr>
            <a:r>
              <a:rPr sz="1400" b="0" i="0">
                <a:solidFill>
                  <a:srgbClr val="231F20"/>
                </a:solidFill>
                <a:latin typeface="Calibri"/>
                <a:ea typeface="Calibri"/>
                <a:cs typeface="Calibri"/>
              </a:rPr>
              <a:t>The lake does not take over the systems that still run the work.</a:t>
            </a:r>
          </a:p>
        </p:txBody>
      </p:sp>
      <p:sp>
        <p:nvSpPr>
          <p:cNvPr id="42" name="Rectangle 41"/>
          <p:cNvSpPr/>
          <p:nvPr/>
        </p:nvSpPr>
        <p:spPr>
          <a:xfrm>
            <a:off x="521208" y="5734385"/>
            <a:ext cx="64008" cy="509869"/>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Force Fab</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lang="en-US" sz="2600" b="1" i="0" dirty="0">
                <a:solidFill>
                  <a:srgbClr val="231F20"/>
                </a:solidFill>
                <a:latin typeface="Calibri"/>
                <a:ea typeface="Calibri"/>
                <a:cs typeface="Calibri"/>
              </a:rPr>
              <a:t>Context Lake : Recipe Mismatch Scenario</a:t>
            </a:r>
            <a:endParaRPr sz="2600" b="1" i="0" dirty="0">
              <a:solidFill>
                <a:srgbClr val="231F20"/>
              </a:solidFill>
              <a:latin typeface="Calibri"/>
              <a:ea typeface="Calibri"/>
              <a:cs typeface="Calibri"/>
            </a:endParaRPr>
          </a:p>
        </p:txBody>
      </p:sp>
      <p:sp>
        <p:nvSpPr>
          <p:cNvPr id="5" name="problem-band"/>
          <p:cNvSpPr/>
          <p:nvPr/>
        </p:nvSpPr>
        <p:spPr>
          <a:xfrm>
            <a:off x="502920" y="1261872"/>
            <a:ext cx="11183112" cy="10789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blem"/>
          <p:cNvSpPr txBox="1"/>
          <p:nvPr/>
        </p:nvSpPr>
        <p:spPr>
          <a:xfrm>
            <a:off x="658368" y="1335024"/>
            <a:ext cx="10881360" cy="932688"/>
          </a:xfrm>
          <a:prstGeom prst="rect">
            <a:avLst/>
          </a:prstGeom>
          <a:noFill/>
        </p:spPr>
        <p:txBody>
          <a:bodyPr wrap="square" lIns="18288" tIns="36576" rIns="18288" bIns="36576" anchor="t"/>
          <a:lstStyle/>
          <a:p>
            <a:pPr algn="l">
              <a:spcBef>
                <a:spcPts val="0"/>
              </a:spcBef>
              <a:spcAft>
                <a:spcPts val="0"/>
              </a:spcAft>
            </a:pPr>
            <a:r>
              <a:rPr sz="1500" b="0" i="0" dirty="0">
                <a:solidFill>
                  <a:srgbClr val="231F20"/>
                </a:solidFill>
                <a:latin typeface="Calibri"/>
                <a:ea typeface="Calibri"/>
                <a:cs typeface="Calibri"/>
              </a:rPr>
              <a:t>Lot L00000016 shows dispatch recipe R02 and tool recipe R01. That row does not say what the disagreement means, who accepted the rule, or which program carries it out.</a:t>
            </a:r>
          </a:p>
          <a:p>
            <a:pPr algn="l">
              <a:spcBef>
                <a:spcPts val="0"/>
              </a:spcBef>
              <a:spcAft>
                <a:spcPts val="0"/>
              </a:spcAft>
            </a:pPr>
            <a:r>
              <a:rPr sz="1500" b="0" i="0" dirty="0">
                <a:solidFill>
                  <a:srgbClr val="231F20"/>
                </a:solidFill>
                <a:latin typeface="Calibri"/>
                <a:ea typeface="Calibri"/>
                <a:cs typeface="Calibri"/>
              </a:rPr>
              <a:t>Those facts started in the policy record, the old programs, and the locked decision. They are not on the traveler.</a:t>
            </a:r>
          </a:p>
        </p:txBody>
      </p:sp>
      <p:sp>
        <p:nvSpPr>
          <p:cNvPr id="7" name="why"/>
          <p:cNvSpPr txBox="1"/>
          <p:nvPr/>
        </p:nvSpPr>
        <p:spPr>
          <a:xfrm>
            <a:off x="502920" y="2432304"/>
            <a:ext cx="11183112" cy="566928"/>
          </a:xfrm>
          <a:prstGeom prst="rect">
            <a:avLst/>
          </a:prstGeom>
          <a:noFill/>
        </p:spPr>
        <p:txBody>
          <a:bodyPr wrap="square" lIns="0" tIns="36576" rIns="0" bIns="36576" anchor="t"/>
          <a:lstStyle/>
          <a:p>
            <a:pPr algn="l">
              <a:spcBef>
                <a:spcPts val="0"/>
              </a:spcBef>
              <a:spcAft>
                <a:spcPts val="0"/>
              </a:spcAft>
            </a:pPr>
            <a:r>
              <a:rPr sz="1500" b="1" i="0" dirty="0">
                <a:solidFill>
                  <a:srgbClr val="231F20"/>
                </a:solidFill>
                <a:latin typeface="Calibri"/>
                <a:ea typeface="Calibri"/>
                <a:cs typeface="Calibri"/>
              </a:rPr>
              <a:t>The Context Lake is the reviewed page that ties those facts together, so the command center can point at the accepted rule instead of guessing from the two recipe fields.</a:t>
            </a:r>
          </a:p>
        </p:txBody>
      </p:sp>
      <p:sp>
        <p:nvSpPr>
          <p:cNvPr id="8" name="Rounded Rectangle 7"/>
          <p:cNvSpPr/>
          <p:nvPr/>
        </p:nvSpPr>
        <p:spPr>
          <a:xfrm>
            <a:off x="502920" y="3072384"/>
            <a:ext cx="5509259" cy="23042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3236976"/>
            <a:ext cx="64008" cy="197510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0"/>
          <p:cNvSpPr txBox="1"/>
          <p:nvPr/>
        </p:nvSpPr>
        <p:spPr>
          <a:xfrm>
            <a:off x="704088" y="3218688"/>
            <a:ext cx="5143499" cy="640080"/>
          </a:xfrm>
          <a:prstGeom prst="rect">
            <a:avLst/>
          </a:prstGeom>
          <a:noFill/>
        </p:spPr>
        <p:txBody>
          <a:bodyPr wrap="square" lIns="0" tIns="36576" rIns="0" bIns="36576" anchor="t"/>
          <a:lstStyle/>
          <a:p>
            <a:pPr algn="l">
              <a:spcBef>
                <a:spcPts val="0"/>
              </a:spcBef>
              <a:spcAft>
                <a:spcPts val="0"/>
              </a:spcAft>
            </a:pPr>
            <a:r>
              <a:rPr sz="1600" b="1" i="0">
                <a:solidFill>
                  <a:srgbClr val="231F20"/>
                </a:solidFill>
                <a:latin typeface="Calibri"/>
                <a:ea typeface="Calibri"/>
                <a:cs typeface="Calibri"/>
              </a:rPr>
              <a:t>Keep the wafer decision available</a:t>
            </a:r>
          </a:p>
        </p:txBody>
      </p:sp>
      <p:sp>
        <p:nvSpPr>
          <p:cNvPr id="11" name="card:0"/>
          <p:cNvSpPr txBox="1"/>
          <p:nvPr/>
        </p:nvSpPr>
        <p:spPr>
          <a:xfrm>
            <a:off x="704088" y="3822191"/>
            <a:ext cx="5143499" cy="256032"/>
          </a:xfrm>
          <a:prstGeom prst="rect">
            <a:avLst/>
          </a:prstGeom>
          <a:noFill/>
        </p:spPr>
        <p:txBody>
          <a:bodyPr wrap="square" lIns="0" tIns="36576" rIns="0" bIns="36576" anchor="t"/>
          <a:lstStyle/>
          <a:p>
            <a:pPr algn="l">
              <a:spcBef>
                <a:spcPts val="0"/>
              </a:spcBef>
              <a:spcAft>
                <a:spcPts val="0"/>
              </a:spcAft>
            </a:pPr>
            <a:r>
              <a:rPr sz="1300" b="1" i="0">
                <a:solidFill>
                  <a:srgbClr val="ED1C24"/>
                </a:solidFill>
                <a:latin typeface="Calibri"/>
                <a:ea typeface="Calibri"/>
                <a:cs typeface="Calibri"/>
              </a:rPr>
              <a:t>Application A</a:t>
            </a:r>
          </a:p>
        </p:txBody>
      </p:sp>
      <p:sp>
        <p:nvSpPr>
          <p:cNvPr id="12" name="card:0"/>
          <p:cNvSpPr txBox="1"/>
          <p:nvPr/>
        </p:nvSpPr>
        <p:spPr>
          <a:xfrm>
            <a:off x="704088" y="4114800"/>
            <a:ext cx="5143499" cy="1115568"/>
          </a:xfrm>
          <a:prstGeom prst="rect">
            <a:avLst/>
          </a:prstGeom>
          <a:noFill/>
        </p:spPr>
        <p:txBody>
          <a:bodyPr wrap="square" lIns="0" tIns="36576" rIns="0" bIns="36576" anchor="t"/>
          <a:lstStyle/>
          <a:p>
            <a:pPr algn="l">
              <a:spcBef>
                <a:spcPts val="0"/>
              </a:spcBef>
              <a:spcAft>
                <a:spcPts val="0"/>
              </a:spcAft>
            </a:pPr>
            <a:r>
              <a:rPr sz="1400" b="0" i="0">
                <a:solidFill>
                  <a:srgbClr val="4B4B4B"/>
                </a:solidFill>
                <a:latin typeface="Calibri"/>
                <a:ea typeface="Calibri"/>
                <a:cs typeface="Calibri"/>
              </a:rPr>
              <a:t>The rebuilt program still sets the hold if the page is missing. The page is what the signer reads. A missing page leaves the sentence with nothing to cite. The hold can remain, and RT-03 still signs. A knowledge file must not be what releases the lot.</a:t>
            </a:r>
          </a:p>
        </p:txBody>
      </p:sp>
      <p:sp>
        <p:nvSpPr>
          <p:cNvPr id="13" name="Rounded Rectangle 12"/>
          <p:cNvSpPr/>
          <p:nvPr/>
        </p:nvSpPr>
        <p:spPr>
          <a:xfrm>
            <a:off x="6176771" y="3072384"/>
            <a:ext cx="5509259" cy="230428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5059" y="3236976"/>
            <a:ext cx="64008" cy="1975104"/>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d:1"/>
          <p:cNvSpPr txBox="1"/>
          <p:nvPr/>
        </p:nvSpPr>
        <p:spPr>
          <a:xfrm>
            <a:off x="6377939" y="3218688"/>
            <a:ext cx="5143499" cy="640080"/>
          </a:xfrm>
          <a:prstGeom prst="rect">
            <a:avLst/>
          </a:prstGeom>
          <a:noFill/>
        </p:spPr>
        <p:txBody>
          <a:bodyPr wrap="square" lIns="0" tIns="36576" rIns="0" bIns="36576" anchor="t"/>
          <a:lstStyle/>
          <a:p>
            <a:pPr algn="l">
              <a:spcBef>
                <a:spcPts val="0"/>
              </a:spcBef>
              <a:spcAft>
                <a:spcPts val="0"/>
              </a:spcAft>
            </a:pPr>
            <a:r>
              <a:rPr sz="1600" b="1" i="0">
                <a:solidFill>
                  <a:srgbClr val="231F20"/>
                </a:solidFill>
                <a:latin typeface="Calibri"/>
                <a:ea typeface="Calibri"/>
                <a:cs typeface="Calibri"/>
              </a:rPr>
              <a:t>Make a drifted rule visible</a:t>
            </a:r>
          </a:p>
        </p:txBody>
      </p:sp>
      <p:sp>
        <p:nvSpPr>
          <p:cNvPr id="16" name="card:1"/>
          <p:cNvSpPr txBox="1"/>
          <p:nvPr/>
        </p:nvSpPr>
        <p:spPr>
          <a:xfrm>
            <a:off x="6377939" y="3822191"/>
            <a:ext cx="5143499" cy="256032"/>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Application B</a:t>
            </a:r>
          </a:p>
        </p:txBody>
      </p:sp>
      <p:sp>
        <p:nvSpPr>
          <p:cNvPr id="17" name="card:1"/>
          <p:cNvSpPr txBox="1"/>
          <p:nvPr/>
        </p:nvSpPr>
        <p:spPr>
          <a:xfrm>
            <a:off x="6377939" y="4114800"/>
            <a:ext cx="5143499" cy="1115568"/>
          </a:xfrm>
          <a:prstGeom prst="rect">
            <a:avLst/>
          </a:prstGeom>
          <a:noFill/>
        </p:spPr>
        <p:txBody>
          <a:bodyPr wrap="square" lIns="0" tIns="36576" rIns="0" bIns="36576" anchor="t"/>
          <a:lstStyle/>
          <a:p>
            <a:pPr algn="l">
              <a:spcBef>
                <a:spcPts val="0"/>
              </a:spcBef>
              <a:spcAft>
                <a:spcPts val="0"/>
              </a:spcAft>
            </a:pPr>
            <a:r>
              <a:rPr sz="1400" b="0" i="0" dirty="0">
                <a:solidFill>
                  <a:srgbClr val="4B4B4B"/>
                </a:solidFill>
                <a:latin typeface="Calibri"/>
                <a:ea typeface="Calibri"/>
                <a:cs typeface="Calibri"/>
              </a:rPr>
              <a:t>The same page is the mark. If the page is missing or says something else, the mark changes and names that page. A rule that lives only in code can hide a missing written limit</a:t>
            </a:r>
          </a:p>
        </p:txBody>
      </p:sp>
      <p:sp>
        <p:nvSpPr>
          <p:cNvPr id="18" name="how"/>
          <p:cNvSpPr/>
          <p:nvPr/>
        </p:nvSpPr>
        <p:spPr>
          <a:xfrm>
            <a:off x="502920" y="5522976"/>
            <a:ext cx="11183112" cy="822960"/>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36576" rIns="146304" bIns="36576" rtlCol="0" anchor="ctr"/>
          <a:lstStyle/>
          <a:p>
            <a:pPr algn="l">
              <a:spcBef>
                <a:spcPts val="0"/>
              </a:spcBef>
              <a:spcAft>
                <a:spcPts val="0"/>
              </a:spcAft>
            </a:pPr>
            <a:r>
              <a:rPr sz="1500" b="0" i="0">
                <a:solidFill>
                  <a:srgbClr val="231F20"/>
                </a:solidFill>
                <a:latin typeface="Calibri"/>
                <a:ea typeface="Calibri"/>
                <a:cs typeface="Calibri"/>
              </a:rPr>
              <a:t>One lake file, version 1.0.0, built 18 October 2026. It does not refresh as the lot moves. The model does not write the hold.</a:t>
            </a:r>
          </a:p>
        </p:txBody>
      </p:sp>
      <p:sp>
        <p:nvSpPr>
          <p:cNvPr id="19" name="Rectangle 18"/>
          <p:cNvSpPr/>
          <p:nvPr/>
        </p:nvSpPr>
        <p:spPr>
          <a:xfrm>
            <a:off x="521208" y="5654649"/>
            <a:ext cx="64008" cy="559612"/>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2AF79E-9213-AB80-640A-48519FF79A35}"/>
              </a:ext>
            </a:extLst>
          </p:cNvPr>
          <p:cNvPicPr>
            <a:picLocks noChangeAspect="1"/>
          </p:cNvPicPr>
          <p:nvPr/>
        </p:nvPicPr>
        <p:blipFill>
          <a:blip r:embed="rId2"/>
          <a:stretch>
            <a:fillRect/>
          </a:stretch>
        </p:blipFill>
        <p:spPr>
          <a:xfrm>
            <a:off x="1066801" y="413657"/>
            <a:ext cx="9797141" cy="6330607"/>
          </a:xfrm>
          <a:prstGeom prst="rect">
            <a:avLst/>
          </a:prstGeom>
        </p:spPr>
      </p:pic>
      <p:sp>
        <p:nvSpPr>
          <p:cNvPr id="11" name="title">
            <a:extLst>
              <a:ext uri="{FF2B5EF4-FFF2-40B4-BE49-F238E27FC236}">
                <a16:creationId xmlns:a16="http://schemas.microsoft.com/office/drawing/2014/main" id="{0373FD5B-14D4-09C1-832C-E2CDB9A77A86}"/>
              </a:ext>
            </a:extLst>
          </p:cNvPr>
          <p:cNvSpPr txBox="1"/>
          <p:nvPr/>
        </p:nvSpPr>
        <p:spPr>
          <a:xfrm>
            <a:off x="241663" y="0"/>
            <a:ext cx="11155680" cy="868680"/>
          </a:xfrm>
          <a:prstGeom prst="rect">
            <a:avLst/>
          </a:prstGeom>
          <a:noFill/>
        </p:spPr>
        <p:txBody>
          <a:bodyPr wrap="square" lIns="0" tIns="36576" rIns="0" bIns="36576" anchor="t"/>
          <a:lstStyle/>
          <a:p>
            <a:pPr algn="l">
              <a:spcBef>
                <a:spcPts val="0"/>
              </a:spcBef>
              <a:spcAft>
                <a:spcPts val="0"/>
              </a:spcAft>
            </a:pPr>
            <a:r>
              <a:rPr lang="en-US" sz="2600" b="1" i="0" dirty="0">
                <a:solidFill>
                  <a:srgbClr val="231F20"/>
                </a:solidFill>
                <a:latin typeface="Calibri"/>
                <a:ea typeface="Calibri"/>
                <a:cs typeface="Calibri"/>
              </a:rPr>
              <a:t>App A</a:t>
            </a:r>
            <a:endParaRPr sz="2600" b="1" i="0" dirty="0">
              <a:solidFill>
                <a:srgbClr val="231F20"/>
              </a:solidFill>
              <a:latin typeface="Calibri"/>
              <a:ea typeface="Calibri"/>
              <a:cs typeface="Calibri"/>
            </a:endParaRPr>
          </a:p>
        </p:txBody>
      </p:sp>
    </p:spTree>
    <p:extLst>
      <p:ext uri="{BB962C8B-B14F-4D97-AF65-F5344CB8AC3E}">
        <p14:creationId xmlns:p14="http://schemas.microsoft.com/office/powerpoint/2010/main" val="82778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208437-2954-63DD-FCE5-5D0293315CA2}"/>
              </a:ext>
            </a:extLst>
          </p:cNvPr>
          <p:cNvPicPr>
            <a:picLocks noChangeAspect="1"/>
          </p:cNvPicPr>
          <p:nvPr/>
        </p:nvPicPr>
        <p:blipFill>
          <a:blip r:embed="rId2"/>
          <a:stretch>
            <a:fillRect/>
          </a:stretch>
        </p:blipFill>
        <p:spPr>
          <a:xfrm>
            <a:off x="1066800" y="366107"/>
            <a:ext cx="9797141" cy="6378157"/>
          </a:xfrm>
          <a:prstGeom prst="rect">
            <a:avLst/>
          </a:prstGeom>
        </p:spPr>
      </p:pic>
      <p:sp>
        <p:nvSpPr>
          <p:cNvPr id="7" name="title">
            <a:extLst>
              <a:ext uri="{FF2B5EF4-FFF2-40B4-BE49-F238E27FC236}">
                <a16:creationId xmlns:a16="http://schemas.microsoft.com/office/drawing/2014/main" id="{C35304F2-16F6-B83D-DED0-25811CBFC6EA}"/>
              </a:ext>
            </a:extLst>
          </p:cNvPr>
          <p:cNvSpPr txBox="1"/>
          <p:nvPr/>
        </p:nvSpPr>
        <p:spPr>
          <a:xfrm>
            <a:off x="241663" y="0"/>
            <a:ext cx="11155680" cy="868680"/>
          </a:xfrm>
          <a:prstGeom prst="rect">
            <a:avLst/>
          </a:prstGeom>
          <a:noFill/>
        </p:spPr>
        <p:txBody>
          <a:bodyPr wrap="square" lIns="0" tIns="36576" rIns="0" bIns="36576" anchor="t"/>
          <a:lstStyle/>
          <a:p>
            <a:pPr algn="l">
              <a:spcBef>
                <a:spcPts val="0"/>
              </a:spcBef>
              <a:spcAft>
                <a:spcPts val="0"/>
              </a:spcAft>
            </a:pPr>
            <a:r>
              <a:rPr lang="en-US" sz="2600" b="1" i="0" dirty="0">
                <a:solidFill>
                  <a:srgbClr val="231F20"/>
                </a:solidFill>
                <a:latin typeface="Calibri"/>
                <a:ea typeface="Calibri"/>
                <a:cs typeface="Calibri"/>
              </a:rPr>
              <a:t>App B</a:t>
            </a:r>
            <a:endParaRPr sz="2600" b="1" i="0" dirty="0">
              <a:solidFill>
                <a:srgbClr val="231F20"/>
              </a:solidFill>
              <a:latin typeface="Calibri"/>
              <a:ea typeface="Calibri"/>
              <a:cs typeface="Calibri"/>
            </a:endParaRPr>
          </a:p>
        </p:txBody>
      </p:sp>
    </p:spTree>
    <p:extLst>
      <p:ext uri="{BB962C8B-B14F-4D97-AF65-F5344CB8AC3E}">
        <p14:creationId xmlns:p14="http://schemas.microsoft.com/office/powerpoint/2010/main" val="375990240"/>
      </p:ext>
    </p:extLst>
  </p:cSld>
  <p:clrMapOvr>
    <a:masterClrMapping/>
  </p:clrMapOvr>
</p:sld>
</file>

<file path=ppt/theme/theme1.xml><?xml version="1.0" encoding="utf-8"?>
<a:theme xmlns:a="http://schemas.openxmlformats.org/drawingml/2006/main" name="Fabpulse Defence">
  <a:themeElements>
    <a:clrScheme name="Fabpulse">
      <a:dk1>
        <a:srgbClr val="231F20"/>
      </a:dk1>
      <a:lt1>
        <a:srgbClr val="FFFFFF"/>
      </a:lt1>
      <a:dk2>
        <a:srgbClr val="231F20"/>
      </a:dk2>
      <a:lt2>
        <a:srgbClr val="F2F2F2"/>
      </a:lt2>
      <a:accent1>
        <a:srgbClr val="ED1C24"/>
      </a:accent1>
      <a:accent2>
        <a:srgbClr val="72007D"/>
      </a:accent2>
      <a:accent3>
        <a:srgbClr val="EFBC4A"/>
      </a:accent3>
      <a:accent4>
        <a:srgbClr val="666666"/>
      </a:accent4>
      <a:accent5>
        <a:srgbClr val="4B4B4B"/>
      </a:accent5>
      <a:accent6>
        <a:srgbClr val="FDEBEC"/>
      </a:accent6>
      <a:hlink>
        <a:srgbClr val="231F20"/>
      </a:hlink>
      <a:folHlink>
        <a:srgbClr val="666666"/>
      </a:folHlink>
    </a:clrScheme>
    <a:fontScheme name="Fabpulse Calibri">
      <a:majorFont>
        <a:latin typeface="Calibri"/>
        <a:ea typeface="Calibri"/>
        <a:cs typeface="Calibri"/>
      </a:majorFont>
      <a:minorFont>
        <a:latin typeface="Calibri"/>
        <a:ea typeface="Calibri"/>
        <a:cs typeface="Calibri"/>
      </a:minorFont>
    </a:fontScheme>
    <a:fmtScheme name="Fabpulse">
      <a:fillStyleLst>
        <a:solidFill>
          <a:srgbClr val="FFFFFF"/>
        </a:solidFill>
        <a:solidFill>
          <a:srgbClr val="F2F2F2"/>
        </a:solidFill>
        <a:solidFill>
          <a:srgbClr val="231F20"/>
        </a:solidFill>
      </a:fillStyleLst>
      <a:lnStyleLst>
        <a:ln w="6350">
          <a:solidFill>
            <a:srgbClr val="E0E0E0"/>
          </a:solidFill>
        </a:ln>
        <a:ln w="12700">
          <a:solidFill>
            <a:srgbClr val="231F20"/>
          </a:solidFill>
        </a:ln>
        <a:ln w="19050">
          <a:solidFill>
            <a:srgbClr val="ED1C24"/>
          </a:solidFill>
        </a:ln>
      </a:lnStyleLst>
      <a:effectStyleLst>
        <a:effectStyle>
          <a:effectLst/>
        </a:effectStyle>
        <a:effectStyle>
          <a:effectLst/>
        </a:effectStyle>
        <a:effectStyle>
          <a:effectLst/>
        </a:effectStyle>
      </a:effectStyleLst>
      <a:bgFillStyleLst>
        <a:solidFill>
          <a:srgbClr val="FFFFFF"/>
        </a:solidFill>
        <a:solidFill>
          <a:srgbClr val="F2F2F2"/>
        </a:solidFill>
        <a:solidFill>
          <a:srgbClr val="FFFFFF"/>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TotalTime>
  <Words>940</Words>
  <Application>Microsoft Office PowerPoint</Application>
  <PresentationFormat>Widescreen</PresentationFormat>
  <Paragraphs>45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Fabpulse Defence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Force Fab</dc:title>
  <dc:subject>Context Lake for the command center</dc:subject>
  <dc:creator>Team-Force</dc:creator>
  <cp:keywords/>
  <dc:description>generated using python-pptx</dc:description>
  <cp:lastModifiedBy>Mangesh Umbrajkar</cp:lastModifiedBy>
  <cp:revision>5</cp:revision>
  <dcterms:created xsi:type="dcterms:W3CDTF">2013-01-27T09:14:16Z</dcterms:created>
  <dcterms:modified xsi:type="dcterms:W3CDTF">2026-10-24T22:31:50Z</dcterms:modified>
  <cp:category/>
</cp:coreProperties>
</file>