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This is the Fabpulse exception console. A reviewer reads one exception and records the decision that role allows. The explanation and the live demonstration take 40 minutes. Questions take the next 10 minutes.</a:t>
            </a:r>
          </a:p>
          <a:p>
            <a:pPr algn="l">
              <a:spcAft>
                <a:spcPts val="800"/>
              </a:spcAft>
            </a:pPr>
            <a:r>
              <a:rPr sz="1400" b="0" i="0">
                <a:solidFill>
                  <a:srgbClr val="231F20"/>
                </a:solidFill>
                <a:latin typeface="Calibri"/>
                <a:ea typeface="Calibri"/>
                <a:cs typeface="Calibri"/>
              </a:rPr>
              <a:t>Point at the title.</a:t>
            </a:r>
          </a:p>
          <a:p>
            <a:pPr algn="l">
              <a:spcAft>
                <a:spcPts val="800"/>
              </a:spcAft>
            </a:pPr>
            <a:r>
              <a:rPr sz="1400" b="0" i="0">
                <a:solidFill>
                  <a:srgbClr val="231F20"/>
                </a:solidFill>
                <a:latin typeface="Calibri"/>
                <a:ea typeface="Calibri"/>
                <a:cs typeface="Calibri"/>
              </a:rPr>
              <a:t>Next slide: the seven parts of the hour.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This hour has seven parts. The live clicks sit inside the third part, from minute 12 to minute 24.</a:t>
            </a:r>
          </a:p>
          <a:p>
            <a:pPr algn="l">
              <a:spcAft>
                <a:spcPts val="800"/>
              </a:spcAft>
            </a:pPr>
            <a:r>
              <a:rPr sz="1400" b="0" i="0">
                <a:solidFill>
                  <a:srgbClr val="231F20"/>
                </a:solidFill>
                <a:latin typeface="Calibri"/>
                <a:ea typeface="Calibri"/>
                <a:cs typeface="Calibri"/>
              </a:rPr>
              <a:t>Point at the seven clock times.</a:t>
            </a:r>
          </a:p>
          <a:p>
            <a:pPr algn="l">
              <a:spcAft>
                <a:spcPts val="800"/>
              </a:spcAft>
            </a:pPr>
            <a:r>
              <a:rPr sz="1400" b="0" i="0">
                <a:solidFill>
                  <a:srgbClr val="231F20"/>
                </a:solidFill>
                <a:latin typeface="Calibri"/>
                <a:ea typeface="Calibri"/>
                <a:cs typeface="Calibri"/>
              </a:rPr>
              <a:t>Next slide: what disagrees on one exception.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The records for one exception do not agree. Six sources can each give a different answer for the same case.</a:t>
            </a:r>
          </a:p>
          <a:p>
            <a:pPr algn="l">
              <a:spcAft>
                <a:spcPts val="800"/>
              </a:spcAft>
            </a:pPr>
            <a:r>
              <a:rPr sz="1400" b="0" i="0">
                <a:solidFill>
                  <a:srgbClr val="231F20"/>
                </a:solidFill>
                <a:latin typeface="Calibri"/>
                <a:ea typeface="Calibri"/>
                <a:cs typeface="Calibri"/>
              </a:rPr>
              <a:t>Point at the six records.</a:t>
            </a:r>
          </a:p>
          <a:p>
            <a:pPr algn="l">
              <a:spcAft>
                <a:spcPts val="800"/>
              </a:spcAft>
            </a:pPr>
            <a:r>
              <a:rPr sz="1400" b="0" i="0">
                <a:solidFill>
                  <a:srgbClr val="231F20"/>
                </a:solidFill>
                <a:latin typeface="Calibri"/>
                <a:ea typeface="Calibri"/>
                <a:cs typeface="Calibri"/>
              </a:rPr>
              <a:t>Next slide: what that disagreement does on a shift.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A disagreed case costs the shift time and a clear owner. Incident INC-2025-014 has an empty owner field. Dollars for the delay stay Unknown.</a:t>
            </a:r>
          </a:p>
          <a:p>
            <a:pPr algn="l">
              <a:spcAft>
                <a:spcPts val="800"/>
              </a:spcAft>
            </a:pPr>
            <a:r>
              <a:rPr sz="1400" b="0" i="0">
                <a:solidFill>
                  <a:srgbClr val="231F20"/>
                </a:solidFill>
                <a:latin typeface="Calibri"/>
                <a:ea typeface="Calibri"/>
                <a:cs typeface="Calibri"/>
              </a:rPr>
              <a:t>Point at the incident example.</a:t>
            </a:r>
          </a:p>
          <a:p>
            <a:pPr algn="l">
              <a:spcAft>
                <a:spcPts val="800"/>
              </a:spcAft>
            </a:pPr>
            <a:r>
              <a:rPr sz="1400" b="0" i="0">
                <a:solidFill>
                  <a:srgbClr val="231F20"/>
                </a:solidFill>
                <a:latin typeface="Calibri"/>
                <a:ea typeface="Calibri"/>
                <a:cs typeface="Calibri"/>
              </a:rPr>
              <a:t>Next slide: the eight counted defects.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Eight defects are counted from the packaged data. Each count is REAL. Cycle time and aged backlog are Unknown.</a:t>
            </a:r>
          </a:p>
          <a:p>
            <a:pPr algn="l">
              <a:spcAft>
                <a:spcPts val="800"/>
              </a:spcAft>
            </a:pPr>
            <a:r>
              <a:rPr sz="1400" b="0" i="0">
                <a:solidFill>
                  <a:srgbClr val="231F20"/>
                </a:solidFill>
                <a:latin typeface="Calibri"/>
                <a:ea typeface="Calibri"/>
                <a:cs typeface="Calibri"/>
              </a:rPr>
              <a:t>Point at the honesty column.</a:t>
            </a:r>
          </a:p>
          <a:p>
            <a:pPr algn="l">
              <a:spcAft>
                <a:spcPts val="800"/>
              </a:spcAft>
            </a:pPr>
            <a:r>
              <a:rPr sz="1400" b="0" i="0">
                <a:solidFill>
                  <a:srgbClr val="231F20"/>
                </a:solidFill>
                <a:latin typeface="Calibri"/>
                <a:ea typeface="Calibri"/>
                <a:cs typeface="Calibri"/>
              </a:rPr>
              <a:t>Next slide: the six frozen baseline fields.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Four frozen fields are REAL. Records are 125, open cases are 89, urgent cases are 2, and sites are 6. Mean amount and hours per case are SIMULATED. They are not cash.</a:t>
            </a:r>
          </a:p>
          <a:p>
            <a:pPr algn="l">
              <a:spcAft>
                <a:spcPts val="800"/>
              </a:spcAft>
            </a:pPr>
            <a:r>
              <a:rPr sz="1400" b="0" i="0">
                <a:solidFill>
                  <a:srgbClr val="231F20"/>
                </a:solidFill>
                <a:latin typeface="Calibri"/>
                <a:ea typeface="Calibri"/>
                <a:cs typeface="Calibri"/>
              </a:rPr>
              <a:t>Point at the honesty column.</a:t>
            </a:r>
          </a:p>
          <a:p>
            <a:pPr algn="l">
              <a:spcAft>
                <a:spcPts val="800"/>
              </a:spcAft>
            </a:pPr>
            <a:r>
              <a:rPr sz="1400" b="0" i="0">
                <a:solidFill>
                  <a:srgbClr val="231F20"/>
                </a:solidFill>
                <a:latin typeface="Calibri"/>
                <a:ea typeface="Calibri"/>
                <a:cs typeface="Calibri"/>
              </a:rPr>
              <a:t>Next slide: the two applications that were built.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Two applications run the same review and stay apart. Application A is the rebuilt program on port 8100. Application B reads the Context Lake on port 8110. Replay mode is on.</a:t>
            </a:r>
          </a:p>
          <a:p>
            <a:pPr algn="l">
              <a:spcAft>
                <a:spcPts val="800"/>
              </a:spcAft>
            </a:pPr>
            <a:r>
              <a:rPr sz="1400" b="0" i="0">
                <a:solidFill>
                  <a:srgbClr val="231F20"/>
                </a:solidFill>
                <a:latin typeface="Calibri"/>
                <a:ea typeface="Calibri"/>
                <a:cs typeface="Calibri"/>
              </a:rPr>
              <a:t>Point at the three cards.</a:t>
            </a:r>
          </a:p>
          <a:p>
            <a:pPr algn="l">
              <a:spcAft>
                <a:spcPts val="800"/>
              </a:spcAft>
            </a:pPr>
            <a:r>
              <a:rPr sz="1400" b="0" i="0">
                <a:solidFill>
                  <a:srgbClr val="231F20"/>
                </a:solidFill>
                <a:latin typeface="Calibri"/>
                <a:ea typeface="Calibri"/>
                <a:cs typeface="Calibri"/>
              </a:rPr>
              <a:t>Next slide: which jobs stay in code and which jobs the model drafts.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The model drafts a sentence. The code records the decision. The model has no write tool. If the explanation fails, the business result can still change, and the page shows both.</a:t>
            </a:r>
          </a:p>
          <a:p>
            <a:pPr algn="l">
              <a:spcAft>
                <a:spcPts val="800"/>
              </a:spcAft>
            </a:pPr>
            <a:r>
              <a:rPr sz="1400" b="0" i="0">
                <a:solidFill>
                  <a:srgbClr val="231F20"/>
                </a:solidFill>
                <a:latin typeface="Calibri"/>
                <a:ea typeface="Calibri"/>
                <a:cs typeface="Calibri"/>
              </a:rPr>
              <a:t>Point at the two cards.</a:t>
            </a:r>
          </a:p>
          <a:p>
            <a:pPr algn="l">
              <a:spcAft>
                <a:spcPts val="800"/>
              </a:spcAft>
            </a:pPr>
            <a:r>
              <a:rPr sz="1400" b="0" i="0">
                <a:solidFill>
                  <a:srgbClr val="231F20"/>
                </a:solidFill>
                <a:latin typeface="Calibri"/>
                <a:ea typeface="Calibri"/>
                <a:cs typeface="Calibri"/>
              </a:rPr>
              <a:t>Next slide: why a hold prediction was rejected.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Hold prediction scored 117 of 125, the same as guessing the majority. It was rejected. The hold stays with RT-03.</a:t>
            </a:r>
          </a:p>
          <a:p>
            <a:pPr algn="l">
              <a:spcAft>
                <a:spcPts val="800"/>
              </a:spcAft>
            </a:pPr>
            <a:r>
              <a:rPr sz="1400" b="0" i="0">
                <a:solidFill>
                  <a:srgbClr val="231F20"/>
                </a:solidFill>
                <a:latin typeface="Calibri"/>
                <a:ea typeface="Calibri"/>
                <a:cs typeface="Calibri"/>
              </a:rPr>
              <a:t>Point at the three cards.</a:t>
            </a:r>
          </a:p>
          <a:p>
            <a:pPr algn="l">
              <a:spcAft>
                <a:spcPts val="800"/>
              </a:spcAft>
            </a:pPr>
            <a:r>
              <a:rPr sz="1400" b="0" i="0">
                <a:solidFill>
                  <a:srgbClr val="231F20"/>
                </a:solidFill>
                <a:latin typeface="Calibri"/>
                <a:ea typeface="Calibri"/>
                <a:cs typeface="Calibri"/>
              </a:rPr>
              <a:t>Next slide: the second delivery on this shift.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Partner feed REPLAY-000000000 is a second delivery of C00001646. The ingest times are 19:09 and 20:09.</a:t>
            </a:r>
          </a:p>
          <a:p>
            <a:pPr algn="l">
              <a:spcAft>
                <a:spcPts val="800"/>
              </a:spcAft>
            </a:pPr>
            <a:r>
              <a:rPr sz="1400" b="0" i="0">
                <a:solidFill>
                  <a:srgbClr val="231F20"/>
                </a:solidFill>
                <a:latin typeface="Calibri"/>
                <a:ea typeface="Calibri"/>
                <a:cs typeface="Calibri"/>
              </a:rPr>
              <a:t>Point at the two ingest times.</a:t>
            </a:r>
          </a:p>
          <a:p>
            <a:pPr algn="l">
              <a:spcAft>
                <a:spcPts val="800"/>
              </a:spcAft>
            </a:pPr>
            <a:r>
              <a:rPr sz="1400" b="0" i="0">
                <a:solidFill>
                  <a:srgbClr val="231F20"/>
                </a:solidFill>
                <a:latin typeface="Calibri"/>
                <a:ea typeface="Calibri"/>
                <a:cs typeface="Calibri"/>
              </a:rPr>
              <a:t>Next slide: how the page is arranged.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One page shows the case, the button, and the result. The red button is Review this delivery. The result still says Ready because no click has been made.</a:t>
            </a:r>
          </a:p>
          <a:p>
            <a:pPr algn="l">
              <a:spcAft>
                <a:spcPts val="800"/>
              </a:spcAft>
            </a:pPr>
            <a:r>
              <a:rPr sz="1400" b="0" i="0">
                <a:solidFill>
                  <a:srgbClr val="231F20"/>
                </a:solidFill>
                <a:latin typeface="Calibri"/>
                <a:ea typeface="Calibri"/>
                <a:cs typeface="Calibri"/>
              </a:rPr>
              <a:t>Point at Review this delivery.</a:t>
            </a:r>
          </a:p>
          <a:p>
            <a:pPr algn="l">
              <a:spcAft>
                <a:spcPts val="800"/>
              </a:spcAft>
            </a:pPr>
            <a:r>
              <a:rPr sz="1400" b="0" i="0">
                <a:solidFill>
                  <a:srgbClr val="231F20"/>
                </a:solidFill>
                <a:latin typeface="Calibri"/>
                <a:ea typeface="Calibri"/>
                <a:cs typeface="Calibri"/>
              </a:rPr>
              <a:t>Next slide: what that click changes.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The click moves the work-queue count from 196 to 197. Packaged replay rows stay 67. The session added the delivery. The packaged files were not rewritten.</a:t>
            </a:r>
          </a:p>
          <a:p>
            <a:pPr algn="l">
              <a:spcAft>
                <a:spcPts val="800"/>
              </a:spcAft>
            </a:pPr>
            <a:r>
              <a:rPr sz="1400" b="0" i="0">
                <a:solidFill>
                  <a:srgbClr val="231F20"/>
                </a:solidFill>
                <a:latin typeface="Calibri"/>
                <a:ea typeface="Calibri"/>
                <a:cs typeface="Calibri"/>
              </a:rPr>
              <a:t>Point at 197, then 67.</a:t>
            </a:r>
          </a:p>
          <a:p>
            <a:pPr algn="l">
              <a:spcAft>
                <a:spcPts val="800"/>
              </a:spcAft>
            </a:pPr>
            <a:r>
              <a:rPr sz="1400" b="0" i="0">
                <a:solidFill>
                  <a:srgbClr val="231F20"/>
                </a:solidFill>
                <a:latin typeface="Calibri"/>
                <a:ea typeface="Calibri"/>
                <a:cs typeface="Calibri"/>
              </a:rPr>
              <a:t>Next slide: who is allowed to drop the duplicate.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Only RT-05 can drop the duplicate. RT-01 is refused in a sentence that names RT-05 and RT-01. RT-05 drops it, the count returns to 196, and packaged rows stay 67.</a:t>
            </a:r>
          </a:p>
          <a:p>
            <a:pPr algn="l">
              <a:spcAft>
                <a:spcPts val="800"/>
              </a:spcAft>
            </a:pPr>
            <a:r>
              <a:rPr sz="1400" b="0" i="0">
                <a:solidFill>
                  <a:srgbClr val="231F20"/>
                </a:solidFill>
                <a:latin typeface="Calibri"/>
                <a:ea typeface="Calibri"/>
                <a:cs typeface="Calibri"/>
              </a:rPr>
              <a:t>Point at the refusal sentence, then the success sentence.</a:t>
            </a:r>
          </a:p>
          <a:p>
            <a:pPr algn="l">
              <a:spcAft>
                <a:spcPts val="800"/>
              </a:spcAft>
            </a:pPr>
            <a:r>
              <a:rPr sz="1400" b="0" i="0">
                <a:solidFill>
                  <a:srgbClr val="231F20"/>
                </a:solidFill>
                <a:latin typeface="Calibri"/>
                <a:ea typeface="Calibri"/>
                <a:cs typeface="Calibri"/>
              </a:rPr>
              <a:t>Next slide: the seven live moves.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Seven moves finish this case on the live page. If the saved explanation fails, say that the work-queue count still moved to 197, read the failure sentence on the screen, and continue to the RT-05 drop. Stay on the page. If the stack is down, say the live click was not run and read the same sentences from the previous slides.</a:t>
            </a:r>
          </a:p>
          <a:p>
            <a:pPr algn="l">
              <a:spcAft>
                <a:spcPts val="800"/>
              </a:spcAft>
            </a:pPr>
            <a:r>
              <a:rPr sz="1400" b="0" i="0">
                <a:solidFill>
                  <a:srgbClr val="231F20"/>
                </a:solidFill>
                <a:latin typeface="Calibri"/>
                <a:ea typeface="Calibri"/>
                <a:cs typeface="Calibri"/>
              </a:rPr>
              <a:t>Point at move 3, then move 4, then move 6.</a:t>
            </a:r>
          </a:p>
          <a:p>
            <a:pPr algn="l">
              <a:spcAft>
                <a:spcPts val="800"/>
              </a:spcAft>
            </a:pPr>
            <a:r>
              <a:rPr sz="1400" b="0" i="0">
                <a:solidFill>
                  <a:srgbClr val="231F20"/>
                </a:solidFill>
                <a:latin typeface="Calibri"/>
                <a:ea typeface="Calibri"/>
                <a:cs typeface="Calibri"/>
              </a:rPr>
              <a:t>Next slide: the same five cases on both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The same five cases are open on both applications. Recipe shows dispatch R02 and tool R01. Four policies are in force on FAB-00000002. The owner of INC-2025-014 is empty.</a:t>
            </a:r>
          </a:p>
          <a:p>
            <a:pPr algn="l">
              <a:spcAft>
                <a:spcPts val="800"/>
              </a:spcAft>
            </a:pPr>
            <a:r>
              <a:rPr sz="1400" b="0" i="0">
                <a:solidFill>
                  <a:srgbClr val="231F20"/>
                </a:solidFill>
                <a:latin typeface="Calibri"/>
                <a:ea typeface="Calibri"/>
                <a:cs typeface="Calibri"/>
              </a:rPr>
              <a:t>Point at the recipe row and the policy row.</a:t>
            </a:r>
          </a:p>
          <a:p>
            <a:pPr algn="l">
              <a:spcAft>
                <a:spcPts val="800"/>
              </a:spcAft>
            </a:pPr>
            <a:r>
              <a:rPr sz="1400" b="0" i="0">
                <a:solidFill>
                  <a:srgbClr val="231F20"/>
                </a:solidFill>
                <a:latin typeface="Calibri"/>
                <a:ea typeface="Calibri"/>
                <a:cs typeface="Calibri"/>
              </a:rPr>
              <a:t>Next slide: the rule path that only Application B shows.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Only Application B shows where the recipe rule came from. It lists five steps. The cited sentence holds 18600. That figure is a rule limit, not a cash benefit.</a:t>
            </a:r>
          </a:p>
          <a:p>
            <a:pPr algn="l">
              <a:spcAft>
                <a:spcPts val="800"/>
              </a:spcAft>
            </a:pPr>
            <a:r>
              <a:rPr sz="1400" b="0" i="0">
                <a:solidFill>
                  <a:srgbClr val="231F20"/>
                </a:solidFill>
                <a:latin typeface="Calibri"/>
                <a:ea typeface="Calibri"/>
                <a:cs typeface="Calibri"/>
              </a:rPr>
              <a:t>Point at the five steps.</a:t>
            </a:r>
          </a:p>
          <a:p>
            <a:pPr algn="l">
              <a:spcAft>
                <a:spcPts val="800"/>
              </a:spcAft>
            </a:pPr>
            <a:r>
              <a:rPr sz="1400" b="0" i="0">
                <a:solidFill>
                  <a:srgbClr val="231F20"/>
                </a:solidFill>
                <a:latin typeface="Calibri"/>
                <a:ea typeface="Calibri"/>
                <a:cs typeface="Calibri"/>
              </a:rPr>
              <a:t>Next slide: the packaged counts after the build.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The packaged counts stayed on the same numbers. Open cases stay 89. The harness matched 12 rows and differed on 2. There is no match percent. ROI stays educational. No cash benefit is claimed.</a:t>
            </a:r>
          </a:p>
          <a:p>
            <a:pPr algn="l">
              <a:spcAft>
                <a:spcPts val="800"/>
              </a:spcAft>
            </a:pPr>
            <a:r>
              <a:rPr sz="1400" b="0" i="0">
                <a:solidFill>
                  <a:srgbClr val="231F20"/>
                </a:solidFill>
                <a:latin typeface="Calibri"/>
                <a:ea typeface="Calibri"/>
                <a:cs typeface="Calibri"/>
              </a:rPr>
              <a:t>Point at the open-cases row and the ROI row.</a:t>
            </a:r>
          </a:p>
          <a:p>
            <a:pPr algn="l">
              <a:spcAft>
                <a:spcPts val="800"/>
              </a:spcAft>
            </a:pPr>
            <a:r>
              <a:rPr sz="1400" b="0" i="0">
                <a:solidFill>
                  <a:srgbClr val="231F20"/>
                </a:solidFill>
                <a:latin typeface="Calibri"/>
                <a:ea typeface="Calibri"/>
                <a:cs typeface="Calibri"/>
              </a:rPr>
              <a:t>Next slide: the headlines that stay Unknown.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The delivered value is a traceable decision on the page. Cycle time, aged backlog, dollars, company titles, and numeric floors stay Unknown.</a:t>
            </a:r>
          </a:p>
          <a:p>
            <a:pPr algn="l">
              <a:spcAft>
                <a:spcPts val="800"/>
              </a:spcAft>
            </a:pPr>
            <a:r>
              <a:rPr sz="1400" b="0" i="0">
                <a:solidFill>
                  <a:srgbClr val="231F20"/>
                </a:solidFill>
                <a:latin typeface="Calibri"/>
                <a:ea typeface="Calibri"/>
                <a:cs typeface="Calibri"/>
              </a:rPr>
              <a:t>Point at the Unknown card.</a:t>
            </a:r>
          </a:p>
          <a:p>
            <a:pPr algn="l">
              <a:spcAft>
                <a:spcPts val="800"/>
              </a:spcAft>
            </a:pPr>
            <a:r>
              <a:rPr sz="1400" b="0" i="0">
                <a:solidFill>
                  <a:srgbClr val="231F20"/>
                </a:solidFill>
                <a:latin typeface="Calibri"/>
                <a:ea typeface="Calibri"/>
                <a:cs typeface="Calibri"/>
              </a:rPr>
              <a:t>Next slide: the blocked approval.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A blocked approval left the case status as REPLAY. The reply was HTTP 409 BLOCK. This is a prior test. This room does not run a new post.</a:t>
            </a:r>
          </a:p>
          <a:p>
            <a:pPr algn="l">
              <a:spcAft>
                <a:spcPts val="800"/>
              </a:spcAft>
            </a:pPr>
            <a:r>
              <a:rPr sz="1400" b="0" i="0">
                <a:solidFill>
                  <a:srgbClr val="231F20"/>
                </a:solidFill>
                <a:latin typeface="Calibri"/>
                <a:ea typeface="Calibri"/>
                <a:cs typeface="Calibri"/>
              </a:rPr>
              <a:t>Point at the After card.</a:t>
            </a:r>
          </a:p>
          <a:p>
            <a:pPr algn="l">
              <a:spcAft>
                <a:spcPts val="800"/>
              </a:spcAft>
            </a:pPr>
            <a:r>
              <a:rPr sz="1400" b="0" i="0">
                <a:solidFill>
                  <a:srgbClr val="231F20"/>
                </a:solidFill>
                <a:latin typeface="Calibri"/>
                <a:ea typeface="Calibri"/>
                <a:cs typeface="Calibri"/>
              </a:rPr>
              <a:t>Next slide: the correlation id that survived a restart.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The same correlation id stayed on PS000000016 after pid 29320 was killed. The hold value stayed 0. This room does not kill a process.</a:t>
            </a:r>
          </a:p>
          <a:p>
            <a:pPr algn="l">
              <a:spcAft>
                <a:spcPts val="800"/>
              </a:spcAft>
            </a:pPr>
            <a:r>
              <a:rPr sz="1400" b="0" i="0">
                <a:solidFill>
                  <a:srgbClr val="231F20"/>
                </a:solidFill>
                <a:latin typeface="Calibri"/>
                <a:ea typeface="Calibri"/>
                <a:cs typeface="Calibri"/>
              </a:rPr>
              <a:t>Point at the What stayed card.</a:t>
            </a:r>
          </a:p>
          <a:p>
            <a:pPr algn="l">
              <a:spcAft>
                <a:spcPts val="800"/>
              </a:spcAft>
            </a:pPr>
            <a:r>
              <a:rPr sz="1400" b="0" i="0">
                <a:solidFill>
                  <a:srgbClr val="231F20"/>
                </a:solidFill>
                <a:latin typeface="Calibri"/>
                <a:ea typeface="Calibri"/>
                <a:cs typeface="Calibri"/>
              </a:rPr>
              <a:t>Next slide: the five lessons.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Five measured results close this walk. Read the five sentences. Stop at 40 minutes.</a:t>
            </a:r>
          </a:p>
          <a:p>
            <a:pPr algn="l">
              <a:spcAft>
                <a:spcPts val="800"/>
              </a:spcAft>
            </a:pPr>
            <a:r>
              <a:rPr sz="1400" b="0" i="0">
                <a:solidFill>
                  <a:srgbClr val="231F20"/>
                </a:solidFill>
                <a:latin typeface="Calibri"/>
                <a:ea typeface="Calibri"/>
                <a:cs typeface="Calibri"/>
              </a:rPr>
              <a:t>Point at lesson 5.</a:t>
            </a:r>
          </a:p>
          <a:p>
            <a:pPr algn="l">
              <a:spcAft>
                <a:spcPts val="800"/>
              </a:spcAft>
            </a:pPr>
            <a:r>
              <a:rPr sz="1400" b="0" i="0">
                <a:solidFill>
                  <a:srgbClr val="231F20"/>
                </a:solidFill>
                <a:latin typeface="Calibri"/>
                <a:ea typeface="Calibri"/>
                <a:cs typeface="Calibri"/>
              </a:rPr>
              <a:t>Next slide: the questions that stay open.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spcAft>
                <a:spcPts val="800"/>
              </a:spcAft>
            </a:pPr>
            <a:r>
              <a:rPr sz="1400" b="0" i="0">
                <a:solidFill>
                  <a:srgbClr val="231F20"/>
                </a:solidFill>
                <a:latin typeface="Calibri"/>
                <a:ea typeface="Calibri"/>
                <a:cs typeface="Calibri"/>
              </a:rPr>
              <a:t>Ten minutes are open for questions. Company titles, the incident owner, dollars, numeric floors, and a live Azure call stay unanswered by this build.</a:t>
            </a:r>
          </a:p>
          <a:p>
            <a:pPr algn="l">
              <a:spcAft>
                <a:spcPts val="800"/>
              </a:spcAft>
            </a:pPr>
            <a:r>
              <a:rPr sz="1400" b="0" i="0">
                <a:solidFill>
                  <a:srgbClr val="231F20"/>
                </a:solidFill>
                <a:latin typeface="Calibri"/>
                <a:ea typeface="Calibri"/>
                <a:cs typeface="Calibri"/>
              </a:rPr>
              <a:t>Point at the open items.</a:t>
            </a:r>
          </a:p>
          <a:p>
            <a:pPr algn="l">
              <a:spcAft>
                <a:spcPts val="800"/>
              </a:spcAft>
            </a:pPr>
            <a:r>
              <a:rPr sz="1400" b="0" i="0">
                <a:solidFill>
                  <a:srgbClr val="231F20"/>
                </a:solidFill>
                <a:latin typeface="Calibri"/>
                <a:ea typeface="Calibri"/>
                <a:cs typeface="Calibri"/>
              </a:rPr>
              <a:t>Next slide: Stop. Take the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cover-bar"/>
          <p:cNvSpPr/>
          <p:nvPr/>
        </p:nvSpPr>
        <p:spPr>
          <a:xfrm>
            <a:off x="0" y="0"/>
            <a:ext cx="201168" cy="6858000"/>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ver-arc-outer"/>
          <p:cNvSpPr/>
          <p:nvPr/>
        </p:nvSpPr>
        <p:spPr>
          <a:xfrm rot="1080000">
            <a:off x="8092440" y="-365760"/>
            <a:ext cx="4480560" cy="4480560"/>
          </a:xfrm>
          <a:prstGeom prst="arc">
            <a:avLst/>
          </a:prstGeom>
          <a:noFill/>
          <a:ln w="101600">
            <a:solidFill>
              <a:srgbClr val="ED1C24">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ver-arc-inner"/>
          <p:cNvSpPr/>
          <p:nvPr/>
        </p:nvSpPr>
        <p:spPr>
          <a:xfrm rot="1080000">
            <a:off x="8732520" y="228600"/>
            <a:ext cx="4023360" cy="4023360"/>
          </a:xfrm>
          <a:prstGeom prst="arc">
            <a:avLst/>
          </a:prstGeom>
          <a:noFill/>
          <a:ln w="25400">
            <a:solidFill>
              <a:srgbClr val="231F20">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ill-label"/>
          <p:cNvSpPr/>
          <p:nvPr/>
        </p:nvSpPr>
        <p:spPr>
          <a:xfrm>
            <a:off x="777240" y="914400"/>
            <a:ext cx="2148840" cy="310896"/>
          </a:xfrm>
          <a:prstGeom prst="rect">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Bef>
                <a:spcPts val="0"/>
              </a:spcBef>
              <a:spcAft>
                <a:spcPts val="0"/>
              </a:spcAft>
            </a:pPr>
            <a:r>
              <a:rPr sz="900" b="1" i="0">
                <a:solidFill>
                  <a:srgbClr val="ED1C24"/>
                </a:solidFill>
                <a:latin typeface="Calibri"/>
                <a:ea typeface="Calibri"/>
                <a:cs typeface="Calibri"/>
              </a:rPr>
              <a:t>Internal review</a:t>
            </a:r>
          </a:p>
        </p:txBody>
      </p:sp>
      <p:sp>
        <p:nvSpPr>
          <p:cNvPr id="6" name="title"/>
          <p:cNvSpPr txBox="1"/>
          <p:nvPr/>
        </p:nvSpPr>
        <p:spPr>
          <a:xfrm>
            <a:off x="777240" y="1417320"/>
            <a:ext cx="6583680" cy="1234440"/>
          </a:xfrm>
          <a:prstGeom prst="rect">
            <a:avLst/>
          </a:prstGeom>
          <a:noFill/>
        </p:spPr>
        <p:txBody>
          <a:bodyPr wrap="square" lIns="0" rIns="0" tIns="36576" bIns="36576" anchor="t"/>
          <a:lstStyle/>
          <a:p>
            <a:pPr algn="l">
              <a:spcBef>
                <a:spcPts val="0"/>
              </a:spcBef>
              <a:spcAft>
                <a:spcPts val="0"/>
              </a:spcAft>
            </a:pPr>
            <a:r>
              <a:rPr sz="3600" b="1" i="0">
                <a:solidFill>
                  <a:srgbClr val="231F20"/>
                </a:solidFill>
                <a:latin typeface="Calibri"/>
                <a:ea typeface="Calibri"/>
                <a:cs typeface="Calibri"/>
              </a:rPr>
              <a:t>Fabpulse exception console</a:t>
            </a:r>
          </a:p>
        </p:txBody>
      </p:sp>
      <p:sp>
        <p:nvSpPr>
          <p:cNvPr id="7" name="support"/>
          <p:cNvSpPr txBox="1"/>
          <p:nvPr/>
        </p:nvSpPr>
        <p:spPr>
          <a:xfrm>
            <a:off x="822960" y="2880360"/>
            <a:ext cx="6400800" cy="2011680"/>
          </a:xfrm>
          <a:prstGeom prst="rect">
            <a:avLst/>
          </a:prstGeom>
          <a:noFill/>
        </p:spPr>
        <p:txBody>
          <a:bodyPr wrap="square" lIns="0" rIns="0" tIns="36576" bIns="36576" anchor="t"/>
          <a:lstStyle/>
          <a:p>
            <a:pPr algn="l">
              <a:spcBef>
                <a:spcPts val="0"/>
              </a:spcBef>
              <a:spcAft>
                <a:spcPts val="0"/>
              </a:spcAft>
            </a:pPr>
            <a:r>
              <a:rPr sz="1800" b="0" i="0">
                <a:solidFill>
                  <a:srgbClr val="666666"/>
                </a:solidFill>
                <a:latin typeface="Calibri"/>
                <a:ea typeface="Calibri"/>
                <a:cs typeface="Calibri"/>
              </a:rPr>
              <a:t>A reviewer uses this page to read one fab-lot or equipment exception and to record the decision that role allows.</a:t>
            </a:r>
          </a:p>
          <a:p>
            <a:pPr algn="l">
              <a:spcBef>
                <a:spcPts val="0"/>
              </a:spcBef>
              <a:spcAft>
                <a:spcPts val="0"/>
              </a:spcAft>
            </a:pPr>
            <a:r>
              <a:rPr sz="1800" b="0" i="0">
                <a:solidFill>
                  <a:srgbClr val="666666"/>
                </a:solidFill>
                <a:latin typeface="Calibri"/>
                <a:ea typeface="Calibri"/>
                <a:cs typeface="Calibri"/>
              </a:rPr>
              <a:t>The explanation and the live demonstration take 40 minutes. Questions take the next 10 minutes.</a:t>
            </a:r>
          </a:p>
        </p:txBody>
      </p:sp>
      <p:sp>
        <p:nvSpPr>
          <p:cNvPr id="8" name="cover-footer"/>
          <p:cNvSpPr txBox="1"/>
          <p:nvPr/>
        </p:nvSpPr>
        <p:spPr>
          <a:xfrm>
            <a:off x="822960" y="6172200"/>
            <a:ext cx="7863840" cy="365760"/>
          </a:xfrm>
          <a:prstGeom prst="rect">
            <a:avLst/>
          </a:prstGeom>
          <a:noFill/>
        </p:spPr>
        <p:txBody>
          <a:bodyPr wrap="square" lIns="0" rIns="0" tIns="36576" bIns="36576" anchor="t"/>
          <a:lstStyle/>
          <a:p>
            <a:pPr algn="l">
              <a:spcBef>
                <a:spcPts val="0"/>
              </a:spcBef>
              <a:spcAft>
                <a:spcPts val="0"/>
              </a:spcAft>
            </a:pPr>
            <a:r>
              <a:rPr sz="1000" b="0" i="0">
                <a:solidFill>
                  <a:srgbClr val="666666"/>
                </a:solidFill>
                <a:latin typeface="Calibri"/>
                <a:ea typeface="Calibri"/>
                <a:cs typeface="Calibri"/>
              </a:rPr>
              <a:t>Fabpulse exception console   ·   Team-Force   ·   20 October 2026   ·   Prepared for internal 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2</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This hour has seven parts.</a:t>
            </a:r>
          </a:p>
        </p:txBody>
      </p:sp>
      <p:sp>
        <p:nvSpPr>
          <p:cNvPr id="5" name="body"/>
          <p:cNvSpPr txBox="1"/>
          <p:nvPr/>
        </p:nvSpPr>
        <p:spPr>
          <a:xfrm>
            <a:off x="502920" y="1280160"/>
            <a:ext cx="11155680" cy="41148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Each part below has a clock time. The live clicks sit inside the third part.</a:t>
            </a:r>
          </a:p>
        </p:txBody>
      </p:sp>
      <p:sp>
        <p:nvSpPr>
          <p:cNvPr id="6" name="Rectangle 5"/>
          <p:cNvSpPr/>
          <p:nvPr/>
        </p:nvSpPr>
        <p:spPr>
          <a:xfrm>
            <a:off x="502920" y="1783080"/>
            <a:ext cx="1051560" cy="512064"/>
          </a:xfrm>
          <a:prstGeom prst="rect">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genda"/>
          <p:cNvSpPr txBox="1"/>
          <p:nvPr/>
        </p:nvSpPr>
        <p:spPr>
          <a:xfrm>
            <a:off x="502920" y="1783080"/>
            <a:ext cx="1051560" cy="512064"/>
          </a:xfrm>
          <a:prstGeom prst="rect">
            <a:avLst/>
          </a:prstGeom>
          <a:noFill/>
        </p:spPr>
        <p:txBody>
          <a:bodyPr wrap="square" lIns="36576" rIns="36576" tIns="36576" bIns="36576" anchor="ctr"/>
          <a:lstStyle/>
          <a:p>
            <a:pPr algn="ctr">
              <a:spcBef>
                <a:spcPts val="0"/>
              </a:spcBef>
              <a:spcAft>
                <a:spcPts val="0"/>
              </a:spcAft>
            </a:pPr>
            <a:r>
              <a:rPr sz="1400" b="1" i="0">
                <a:solidFill>
                  <a:srgbClr val="ED1C24"/>
                </a:solidFill>
                <a:latin typeface="Calibri"/>
                <a:ea typeface="Calibri"/>
                <a:cs typeface="Calibri"/>
              </a:rPr>
              <a:t>0:00</a:t>
            </a:r>
          </a:p>
        </p:txBody>
      </p:sp>
      <p:sp>
        <p:nvSpPr>
          <p:cNvPr id="8" name="body"/>
          <p:cNvSpPr txBox="1"/>
          <p:nvPr/>
        </p:nvSpPr>
        <p:spPr>
          <a:xfrm>
            <a:off x="1691640" y="1783080"/>
            <a:ext cx="9784080" cy="512064"/>
          </a:xfrm>
          <a:prstGeom prst="rect">
            <a:avLst/>
          </a:prstGeom>
          <a:noFill/>
        </p:spPr>
        <p:txBody>
          <a:bodyPr wrap="square" lIns="54864" rIns="54864" tIns="36576" bIns="36576" anchor="ctr"/>
          <a:lstStyle/>
          <a:p>
            <a:pPr algn="l">
              <a:spcBef>
                <a:spcPts val="0"/>
              </a:spcBef>
              <a:spcAft>
                <a:spcPts val="0"/>
              </a:spcAft>
            </a:pPr>
            <a:r>
              <a:rPr sz="1600" b="0" i="0">
                <a:solidFill>
                  <a:srgbClr val="231F20"/>
                </a:solidFill>
                <a:latin typeface="Calibri"/>
                <a:ea typeface="Calibri"/>
                <a:cs typeface="Calibri"/>
              </a:rPr>
              <a:t>The records disagree, and the packaged counts say how often.</a:t>
            </a:r>
          </a:p>
        </p:txBody>
      </p:sp>
      <p:sp>
        <p:nvSpPr>
          <p:cNvPr id="9" name="Rectangle 8"/>
          <p:cNvSpPr/>
          <p:nvPr/>
        </p:nvSpPr>
        <p:spPr>
          <a:xfrm>
            <a:off x="502920" y="2404872"/>
            <a:ext cx="1051560" cy="51206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genda"/>
          <p:cNvSpPr txBox="1"/>
          <p:nvPr/>
        </p:nvSpPr>
        <p:spPr>
          <a:xfrm>
            <a:off x="502920" y="2404872"/>
            <a:ext cx="1051560" cy="512064"/>
          </a:xfrm>
          <a:prstGeom prst="rect">
            <a:avLst/>
          </a:prstGeom>
          <a:noFill/>
        </p:spPr>
        <p:txBody>
          <a:bodyPr wrap="square" lIns="36576" rIns="36576" tIns="36576" bIns="36576" anchor="ctr"/>
          <a:lstStyle/>
          <a:p>
            <a:pPr algn="ctr">
              <a:spcBef>
                <a:spcPts val="0"/>
              </a:spcBef>
              <a:spcAft>
                <a:spcPts val="0"/>
              </a:spcAft>
            </a:pPr>
            <a:r>
              <a:rPr sz="1400" b="1" i="0">
                <a:solidFill>
                  <a:srgbClr val="231F20"/>
                </a:solidFill>
                <a:latin typeface="Calibri"/>
                <a:ea typeface="Calibri"/>
                <a:cs typeface="Calibri"/>
              </a:rPr>
              <a:t>7:00</a:t>
            </a:r>
          </a:p>
        </p:txBody>
      </p:sp>
      <p:sp>
        <p:nvSpPr>
          <p:cNvPr id="11" name="body"/>
          <p:cNvSpPr txBox="1"/>
          <p:nvPr/>
        </p:nvSpPr>
        <p:spPr>
          <a:xfrm>
            <a:off x="1691640" y="2404872"/>
            <a:ext cx="9784080" cy="512064"/>
          </a:xfrm>
          <a:prstGeom prst="rect">
            <a:avLst/>
          </a:prstGeom>
          <a:noFill/>
        </p:spPr>
        <p:txBody>
          <a:bodyPr wrap="square" lIns="54864" rIns="54864" tIns="36576" bIns="36576" anchor="ctr"/>
          <a:lstStyle/>
          <a:p>
            <a:pPr algn="l">
              <a:spcBef>
                <a:spcPts val="0"/>
              </a:spcBef>
              <a:spcAft>
                <a:spcPts val="0"/>
              </a:spcAft>
            </a:pPr>
            <a:r>
              <a:rPr sz="1600" b="0" i="0">
                <a:solidFill>
                  <a:srgbClr val="231F20"/>
                </a:solidFill>
                <a:latin typeface="Calibri"/>
                <a:ea typeface="Calibri"/>
                <a:cs typeface="Calibri"/>
              </a:rPr>
              <a:t>Two applications share the review. The model drafts a sentence only.</a:t>
            </a:r>
          </a:p>
        </p:txBody>
      </p:sp>
      <p:sp>
        <p:nvSpPr>
          <p:cNvPr id="12" name="Rectangle 11"/>
          <p:cNvSpPr/>
          <p:nvPr/>
        </p:nvSpPr>
        <p:spPr>
          <a:xfrm>
            <a:off x="502920" y="3026664"/>
            <a:ext cx="1051560" cy="51206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genda"/>
          <p:cNvSpPr txBox="1"/>
          <p:nvPr/>
        </p:nvSpPr>
        <p:spPr>
          <a:xfrm>
            <a:off x="502920" y="3026664"/>
            <a:ext cx="1051560" cy="512064"/>
          </a:xfrm>
          <a:prstGeom prst="rect">
            <a:avLst/>
          </a:prstGeom>
          <a:noFill/>
        </p:spPr>
        <p:txBody>
          <a:bodyPr wrap="square" lIns="36576" rIns="36576" tIns="36576" bIns="36576" anchor="ctr"/>
          <a:lstStyle/>
          <a:p>
            <a:pPr algn="ctr">
              <a:spcBef>
                <a:spcPts val="0"/>
              </a:spcBef>
              <a:spcAft>
                <a:spcPts val="0"/>
              </a:spcAft>
            </a:pPr>
            <a:r>
              <a:rPr sz="1400" b="1" i="0">
                <a:solidFill>
                  <a:srgbClr val="231F20"/>
                </a:solidFill>
                <a:latin typeface="Calibri"/>
                <a:ea typeface="Calibri"/>
                <a:cs typeface="Calibri"/>
              </a:rPr>
              <a:t>12:00</a:t>
            </a:r>
          </a:p>
        </p:txBody>
      </p:sp>
      <p:sp>
        <p:nvSpPr>
          <p:cNvPr id="14" name="body"/>
          <p:cNvSpPr txBox="1"/>
          <p:nvPr/>
        </p:nvSpPr>
        <p:spPr>
          <a:xfrm>
            <a:off x="1691640" y="3026664"/>
            <a:ext cx="9784080" cy="512064"/>
          </a:xfrm>
          <a:prstGeom prst="rect">
            <a:avLst/>
          </a:prstGeom>
          <a:noFill/>
        </p:spPr>
        <p:txBody>
          <a:bodyPr wrap="square" lIns="54864" rIns="54864" tIns="36576" bIns="36576" anchor="ctr"/>
          <a:lstStyle/>
          <a:p>
            <a:pPr algn="l">
              <a:spcBef>
                <a:spcPts val="0"/>
              </a:spcBef>
              <a:spcAft>
                <a:spcPts val="0"/>
              </a:spcAft>
            </a:pPr>
            <a:r>
              <a:rPr sz="1600" b="0" i="0">
                <a:solidFill>
                  <a:srgbClr val="231F20"/>
                </a:solidFill>
                <a:latin typeface="Calibri"/>
                <a:ea typeface="Calibri"/>
                <a:cs typeface="Calibri"/>
              </a:rPr>
              <a:t>One second delivery is finished on the page, including the live clicks.</a:t>
            </a:r>
          </a:p>
        </p:txBody>
      </p:sp>
      <p:sp>
        <p:nvSpPr>
          <p:cNvPr id="15" name="Rectangle 14"/>
          <p:cNvSpPr/>
          <p:nvPr/>
        </p:nvSpPr>
        <p:spPr>
          <a:xfrm>
            <a:off x="502920" y="3648456"/>
            <a:ext cx="1051560" cy="51206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genda"/>
          <p:cNvSpPr txBox="1"/>
          <p:nvPr/>
        </p:nvSpPr>
        <p:spPr>
          <a:xfrm>
            <a:off x="502920" y="3648456"/>
            <a:ext cx="1051560" cy="512064"/>
          </a:xfrm>
          <a:prstGeom prst="rect">
            <a:avLst/>
          </a:prstGeom>
          <a:noFill/>
        </p:spPr>
        <p:txBody>
          <a:bodyPr wrap="square" lIns="36576" rIns="36576" tIns="36576" bIns="36576" anchor="ctr"/>
          <a:lstStyle/>
          <a:p>
            <a:pPr algn="ctr">
              <a:spcBef>
                <a:spcPts val="0"/>
              </a:spcBef>
              <a:spcAft>
                <a:spcPts val="0"/>
              </a:spcAft>
            </a:pPr>
            <a:r>
              <a:rPr sz="1400" b="1" i="0">
                <a:solidFill>
                  <a:srgbClr val="231F20"/>
                </a:solidFill>
                <a:latin typeface="Calibri"/>
                <a:ea typeface="Calibri"/>
                <a:cs typeface="Calibri"/>
              </a:rPr>
              <a:t>24:00</a:t>
            </a:r>
          </a:p>
        </p:txBody>
      </p:sp>
      <p:sp>
        <p:nvSpPr>
          <p:cNvPr id="17" name="body"/>
          <p:cNvSpPr txBox="1"/>
          <p:nvPr/>
        </p:nvSpPr>
        <p:spPr>
          <a:xfrm>
            <a:off x="1691640" y="3648456"/>
            <a:ext cx="9784080" cy="512064"/>
          </a:xfrm>
          <a:prstGeom prst="rect">
            <a:avLst/>
          </a:prstGeom>
          <a:noFill/>
        </p:spPr>
        <p:txBody>
          <a:bodyPr wrap="square" lIns="54864" rIns="54864" tIns="36576" bIns="36576" anchor="ctr"/>
          <a:lstStyle/>
          <a:p>
            <a:pPr algn="l">
              <a:spcBef>
                <a:spcPts val="0"/>
              </a:spcBef>
              <a:spcAft>
                <a:spcPts val="0"/>
              </a:spcAft>
            </a:pPr>
            <a:r>
              <a:rPr sz="1600" b="0" i="0">
                <a:solidFill>
                  <a:srgbClr val="231F20"/>
                </a:solidFill>
                <a:latin typeface="Calibri"/>
                <a:ea typeface="Calibri"/>
                <a:cs typeface="Calibri"/>
              </a:rPr>
              <a:t>The same five cases open on Application B, which shows the rule path.</a:t>
            </a:r>
          </a:p>
        </p:txBody>
      </p:sp>
      <p:sp>
        <p:nvSpPr>
          <p:cNvPr id="18" name="Rectangle 17"/>
          <p:cNvSpPr/>
          <p:nvPr/>
        </p:nvSpPr>
        <p:spPr>
          <a:xfrm>
            <a:off x="502920" y="4270248"/>
            <a:ext cx="1051560" cy="51206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genda"/>
          <p:cNvSpPr txBox="1"/>
          <p:nvPr/>
        </p:nvSpPr>
        <p:spPr>
          <a:xfrm>
            <a:off x="502920" y="4270248"/>
            <a:ext cx="1051560" cy="512064"/>
          </a:xfrm>
          <a:prstGeom prst="rect">
            <a:avLst/>
          </a:prstGeom>
          <a:noFill/>
        </p:spPr>
        <p:txBody>
          <a:bodyPr wrap="square" lIns="36576" rIns="36576" tIns="36576" bIns="36576" anchor="ctr"/>
          <a:lstStyle/>
          <a:p>
            <a:pPr algn="ctr">
              <a:spcBef>
                <a:spcPts val="0"/>
              </a:spcBef>
              <a:spcAft>
                <a:spcPts val="0"/>
              </a:spcAft>
            </a:pPr>
            <a:r>
              <a:rPr sz="1400" b="1" i="0">
                <a:solidFill>
                  <a:srgbClr val="231F20"/>
                </a:solidFill>
                <a:latin typeface="Calibri"/>
                <a:ea typeface="Calibri"/>
                <a:cs typeface="Calibri"/>
              </a:rPr>
              <a:t>31:00</a:t>
            </a:r>
          </a:p>
        </p:txBody>
      </p:sp>
      <p:sp>
        <p:nvSpPr>
          <p:cNvPr id="20" name="body"/>
          <p:cNvSpPr txBox="1"/>
          <p:nvPr/>
        </p:nvSpPr>
        <p:spPr>
          <a:xfrm>
            <a:off x="1691640" y="4270248"/>
            <a:ext cx="9784080" cy="512064"/>
          </a:xfrm>
          <a:prstGeom prst="rect">
            <a:avLst/>
          </a:prstGeom>
          <a:noFill/>
        </p:spPr>
        <p:txBody>
          <a:bodyPr wrap="square" lIns="54864" rIns="54864" tIns="36576" bIns="36576" anchor="ctr"/>
          <a:lstStyle/>
          <a:p>
            <a:pPr algn="l">
              <a:spcBef>
                <a:spcPts val="0"/>
              </a:spcBef>
              <a:spcAft>
                <a:spcPts val="0"/>
              </a:spcAft>
            </a:pPr>
            <a:r>
              <a:rPr sz="1600" b="0" i="0">
                <a:solidFill>
                  <a:srgbClr val="231F20"/>
                </a:solidFill>
                <a:latin typeface="Calibri"/>
                <a:ea typeface="Calibri"/>
                <a:cs typeface="Calibri"/>
              </a:rPr>
              <a:t>The frozen counts stay the same. Each number keeps its honesty label.</a:t>
            </a:r>
          </a:p>
        </p:txBody>
      </p:sp>
      <p:sp>
        <p:nvSpPr>
          <p:cNvPr id="21" name="Rectangle 20"/>
          <p:cNvSpPr/>
          <p:nvPr/>
        </p:nvSpPr>
        <p:spPr>
          <a:xfrm>
            <a:off x="502920" y="4892040"/>
            <a:ext cx="1051560" cy="51206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genda"/>
          <p:cNvSpPr txBox="1"/>
          <p:nvPr/>
        </p:nvSpPr>
        <p:spPr>
          <a:xfrm>
            <a:off x="502920" y="4892040"/>
            <a:ext cx="1051560" cy="512064"/>
          </a:xfrm>
          <a:prstGeom prst="rect">
            <a:avLst/>
          </a:prstGeom>
          <a:noFill/>
        </p:spPr>
        <p:txBody>
          <a:bodyPr wrap="square" lIns="36576" rIns="36576" tIns="36576" bIns="36576" anchor="ctr"/>
          <a:lstStyle/>
          <a:p>
            <a:pPr algn="ctr">
              <a:spcBef>
                <a:spcPts val="0"/>
              </a:spcBef>
              <a:spcAft>
                <a:spcPts val="0"/>
              </a:spcAft>
            </a:pPr>
            <a:r>
              <a:rPr sz="1400" b="1" i="0">
                <a:solidFill>
                  <a:srgbClr val="231F20"/>
                </a:solidFill>
                <a:latin typeface="Calibri"/>
                <a:ea typeface="Calibri"/>
                <a:cs typeface="Calibri"/>
              </a:rPr>
              <a:t>35:00</a:t>
            </a:r>
          </a:p>
        </p:txBody>
      </p:sp>
      <p:sp>
        <p:nvSpPr>
          <p:cNvPr id="23" name="body"/>
          <p:cNvSpPr txBox="1"/>
          <p:nvPr/>
        </p:nvSpPr>
        <p:spPr>
          <a:xfrm>
            <a:off x="1691640" y="4892040"/>
            <a:ext cx="9784080" cy="512064"/>
          </a:xfrm>
          <a:prstGeom prst="rect">
            <a:avLst/>
          </a:prstGeom>
          <a:noFill/>
        </p:spPr>
        <p:txBody>
          <a:bodyPr wrap="square" lIns="54864" rIns="54864" tIns="36576" bIns="36576" anchor="ctr"/>
          <a:lstStyle/>
          <a:p>
            <a:pPr algn="l">
              <a:spcBef>
                <a:spcPts val="0"/>
              </a:spcBef>
              <a:spcAft>
                <a:spcPts val="0"/>
              </a:spcAft>
            </a:pPr>
            <a:r>
              <a:rPr sz="1600" b="0" i="0">
                <a:solidFill>
                  <a:srgbClr val="231F20"/>
                </a:solidFill>
                <a:latin typeface="Calibri"/>
                <a:ea typeface="Calibri"/>
                <a:cs typeface="Calibri"/>
              </a:rPr>
              <a:t>A blocked note and a restarted process left the case as it was.</a:t>
            </a:r>
          </a:p>
        </p:txBody>
      </p:sp>
      <p:sp>
        <p:nvSpPr>
          <p:cNvPr id="24" name="Rectangle 23"/>
          <p:cNvSpPr/>
          <p:nvPr/>
        </p:nvSpPr>
        <p:spPr>
          <a:xfrm>
            <a:off x="502920" y="5513832"/>
            <a:ext cx="1051560" cy="51206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genda"/>
          <p:cNvSpPr txBox="1"/>
          <p:nvPr/>
        </p:nvSpPr>
        <p:spPr>
          <a:xfrm>
            <a:off x="502920" y="5513832"/>
            <a:ext cx="1051560" cy="512064"/>
          </a:xfrm>
          <a:prstGeom prst="rect">
            <a:avLst/>
          </a:prstGeom>
          <a:noFill/>
        </p:spPr>
        <p:txBody>
          <a:bodyPr wrap="square" lIns="36576" rIns="36576" tIns="36576" bIns="36576" anchor="ctr"/>
          <a:lstStyle/>
          <a:p>
            <a:pPr algn="ctr">
              <a:spcBef>
                <a:spcPts val="0"/>
              </a:spcBef>
              <a:spcAft>
                <a:spcPts val="0"/>
              </a:spcAft>
            </a:pPr>
            <a:r>
              <a:rPr sz="1400" b="1" i="0">
                <a:solidFill>
                  <a:srgbClr val="231F20"/>
                </a:solidFill>
                <a:latin typeface="Calibri"/>
                <a:ea typeface="Calibri"/>
                <a:cs typeface="Calibri"/>
              </a:rPr>
              <a:t>38:00</a:t>
            </a:r>
          </a:p>
        </p:txBody>
      </p:sp>
      <p:sp>
        <p:nvSpPr>
          <p:cNvPr id="26" name="body"/>
          <p:cNvSpPr txBox="1"/>
          <p:nvPr/>
        </p:nvSpPr>
        <p:spPr>
          <a:xfrm>
            <a:off x="1691640" y="5513832"/>
            <a:ext cx="9784080" cy="512064"/>
          </a:xfrm>
          <a:prstGeom prst="rect">
            <a:avLst/>
          </a:prstGeom>
          <a:noFill/>
        </p:spPr>
        <p:txBody>
          <a:bodyPr wrap="square" lIns="54864" rIns="54864" tIns="36576" bIns="36576" anchor="ctr"/>
          <a:lstStyle/>
          <a:p>
            <a:pPr algn="l">
              <a:spcBef>
                <a:spcPts val="0"/>
              </a:spcBef>
              <a:spcAft>
                <a:spcPts val="0"/>
              </a:spcAft>
            </a:pPr>
            <a:r>
              <a:rPr sz="1600" b="0" i="0">
                <a:solidFill>
                  <a:srgbClr val="231F20"/>
                </a:solidFill>
                <a:latin typeface="Calibri"/>
                <a:ea typeface="Calibri"/>
                <a:cs typeface="Calibri"/>
              </a:rPr>
              <a:t>Five measured lessons close the walk. Questions follow at 40:00.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9" name="Connector 8"/>
          <p:cNvCxnSpPr/>
          <p:nvPr/>
        </p:nvCxnSpPr>
        <p:spPr>
          <a:xfrm>
            <a:off x="502920" y="3831335"/>
            <a:ext cx="30175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520439" y="3831335"/>
            <a:ext cx="8138161"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2920" y="4306823"/>
            <a:ext cx="30175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520439" y="4306823"/>
            <a:ext cx="8138161"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02920" y="4782312"/>
            <a:ext cx="30175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520439" y="4782312"/>
            <a:ext cx="8138161"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02920" y="5257800"/>
            <a:ext cx="30175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520439" y="5257800"/>
            <a:ext cx="8138161"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02920" y="5733288"/>
            <a:ext cx="30175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520439" y="5733288"/>
            <a:ext cx="8138161"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02920" y="6208775"/>
            <a:ext cx="30175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520439" y="6208775"/>
            <a:ext cx="8138161"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3</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The records for one exception do not agree.</a:t>
            </a:r>
          </a:p>
        </p:txBody>
      </p:sp>
      <p:sp>
        <p:nvSpPr>
          <p:cNvPr id="5" name="body"/>
          <p:cNvSpPr txBox="1"/>
          <p:nvPr/>
        </p:nvSpPr>
        <p:spPr>
          <a:xfrm>
            <a:off x="502920" y="1298448"/>
            <a:ext cx="11155680" cy="155448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Fabpulse Group handles fab-lot exceptions and equipment exceptions.</a:t>
            </a:r>
          </a:p>
          <a:p>
            <a:pPr algn="l">
              <a:spcBef>
                <a:spcPts val="0"/>
              </a:spcBef>
              <a:spcAft>
                <a:spcPts val="800"/>
              </a:spcAft>
            </a:pPr>
            <a:r>
              <a:rPr sz="1600" b="0" i="0">
                <a:solidFill>
                  <a:srgbClr val="231F20"/>
                </a:solidFill>
                <a:latin typeface="Calibri"/>
                <a:ea typeface="Calibri"/>
                <a:cs typeface="Calibri"/>
              </a:rPr>
              <a:t>A partner feed, a process record, a policy, a case workflow, an archived document, and a local rule can each give a different answer for the same case.</a:t>
            </a:r>
          </a:p>
          <a:p>
            <a:pPr algn="l">
              <a:spcBef>
                <a:spcPts val="0"/>
              </a:spcBef>
              <a:spcAft>
                <a:spcPts val="800"/>
              </a:spcAft>
            </a:pPr>
            <a:r>
              <a:rPr sz="1600" b="0" i="0">
                <a:solidFill>
                  <a:srgbClr val="231F20"/>
                </a:solidFill>
                <a:latin typeface="Calibri"/>
                <a:ea typeface="Calibri"/>
                <a:cs typeface="Calibri"/>
              </a:rPr>
              <a:t>The reviewer then has to decide which record to trust before the case can close.</a:t>
            </a:r>
          </a:p>
        </p:txBody>
      </p:sp>
      <p:sp>
        <p:nvSpPr>
          <p:cNvPr id="6" name="table"/>
          <p:cNvSpPr/>
          <p:nvPr/>
        </p:nvSpPr>
        <p:spPr>
          <a:xfrm>
            <a:off x="502920" y="2971800"/>
            <a:ext cx="301752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Record</a:t>
            </a:r>
          </a:p>
        </p:txBody>
      </p:sp>
      <p:sp>
        <p:nvSpPr>
          <p:cNvPr id="7" name="table"/>
          <p:cNvSpPr/>
          <p:nvPr/>
        </p:nvSpPr>
        <p:spPr>
          <a:xfrm>
            <a:off x="3520439" y="2971800"/>
            <a:ext cx="813816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What it tells the reviewer</a:t>
            </a:r>
          </a:p>
        </p:txBody>
      </p:sp>
      <p:sp>
        <p:nvSpPr>
          <p:cNvPr id="8" name="table"/>
          <p:cNvSpPr/>
          <p:nvPr/>
        </p:nvSpPr>
        <p:spPr>
          <a:xfrm>
            <a:off x="502920" y="3355848"/>
            <a:ext cx="30175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Partner feed</a:t>
            </a:r>
          </a:p>
        </p:txBody>
      </p:sp>
      <p:sp>
        <p:nvSpPr>
          <p:cNvPr id="10" name="table"/>
          <p:cNvSpPr/>
          <p:nvPr/>
        </p:nvSpPr>
        <p:spPr>
          <a:xfrm>
            <a:off x="3520439" y="3355848"/>
            <a:ext cx="813816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The external message that arrived</a:t>
            </a:r>
          </a:p>
        </p:txBody>
      </p:sp>
      <p:sp>
        <p:nvSpPr>
          <p:cNvPr id="12" name="table"/>
          <p:cNvSpPr/>
          <p:nvPr/>
        </p:nvSpPr>
        <p:spPr>
          <a:xfrm>
            <a:off x="502920" y="3831335"/>
            <a:ext cx="301752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Process record</a:t>
            </a:r>
          </a:p>
        </p:txBody>
      </p:sp>
      <p:sp>
        <p:nvSpPr>
          <p:cNvPr id="14" name="table"/>
          <p:cNvSpPr/>
          <p:nvPr/>
        </p:nvSpPr>
        <p:spPr>
          <a:xfrm>
            <a:off x="3520439" y="3831335"/>
            <a:ext cx="813816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The recipe the tool actually ran</a:t>
            </a:r>
          </a:p>
        </p:txBody>
      </p:sp>
      <p:sp>
        <p:nvSpPr>
          <p:cNvPr id="16" name="table"/>
          <p:cNvSpPr/>
          <p:nvPr/>
        </p:nvSpPr>
        <p:spPr>
          <a:xfrm>
            <a:off x="502920" y="4306824"/>
            <a:ext cx="30175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Policy version</a:t>
            </a:r>
          </a:p>
        </p:txBody>
      </p:sp>
      <p:sp>
        <p:nvSpPr>
          <p:cNvPr id="18" name="table"/>
          <p:cNvSpPr/>
          <p:nvPr/>
        </p:nvSpPr>
        <p:spPr>
          <a:xfrm>
            <a:off x="3520439" y="4306824"/>
            <a:ext cx="813816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Which rule is in force on that date</a:t>
            </a:r>
          </a:p>
        </p:txBody>
      </p:sp>
      <p:sp>
        <p:nvSpPr>
          <p:cNvPr id="20" name="table"/>
          <p:cNvSpPr/>
          <p:nvPr/>
        </p:nvSpPr>
        <p:spPr>
          <a:xfrm>
            <a:off x="502920" y="4782312"/>
            <a:ext cx="301752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Case workflow</a:t>
            </a:r>
          </a:p>
        </p:txBody>
      </p:sp>
      <p:sp>
        <p:nvSpPr>
          <p:cNvPr id="22" name="table"/>
          <p:cNvSpPr/>
          <p:nvPr/>
        </p:nvSpPr>
        <p:spPr>
          <a:xfrm>
            <a:off x="3520439" y="4782312"/>
            <a:ext cx="813816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Whether the case is open, in review, or closed</a:t>
            </a:r>
          </a:p>
        </p:txBody>
      </p:sp>
      <p:sp>
        <p:nvSpPr>
          <p:cNvPr id="24" name="table"/>
          <p:cNvSpPr/>
          <p:nvPr/>
        </p:nvSpPr>
        <p:spPr>
          <a:xfrm>
            <a:off x="502920" y="5257800"/>
            <a:ext cx="30175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Archived document</a:t>
            </a:r>
          </a:p>
        </p:txBody>
      </p:sp>
      <p:sp>
        <p:nvSpPr>
          <p:cNvPr id="26" name="table"/>
          <p:cNvSpPr/>
          <p:nvPr/>
        </p:nvSpPr>
        <p:spPr>
          <a:xfrm>
            <a:off x="3520439" y="5257800"/>
            <a:ext cx="813816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The statement stored for that case</a:t>
            </a:r>
          </a:p>
        </p:txBody>
      </p:sp>
      <p:sp>
        <p:nvSpPr>
          <p:cNvPr id="28" name="table"/>
          <p:cNvSpPr/>
          <p:nvPr/>
        </p:nvSpPr>
        <p:spPr>
          <a:xfrm>
            <a:off x="502920" y="5733288"/>
            <a:ext cx="301752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Local rule</a:t>
            </a:r>
          </a:p>
        </p:txBody>
      </p:sp>
      <p:sp>
        <p:nvSpPr>
          <p:cNvPr id="30" name="table"/>
          <p:cNvSpPr/>
          <p:nvPr/>
        </p:nvSpPr>
        <p:spPr>
          <a:xfrm>
            <a:off x="3520439" y="5733288"/>
            <a:ext cx="813816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The program that site uses to decide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4</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A disagreed case costs the shift time and a clear owner.</a:t>
            </a:r>
          </a:p>
        </p:txBody>
      </p:sp>
      <p:sp>
        <p:nvSpPr>
          <p:cNvPr id="5" name="body"/>
          <p:cNvSpPr txBox="1"/>
          <p:nvPr/>
        </p:nvSpPr>
        <p:spPr>
          <a:xfrm>
            <a:off x="502920" y="1298448"/>
            <a:ext cx="11155680" cy="169164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Operators spend extra time reconciling the same case by hand.</a:t>
            </a:r>
          </a:p>
          <a:p>
            <a:pPr algn="l">
              <a:spcBef>
                <a:spcPts val="0"/>
              </a:spcBef>
              <a:spcAft>
                <a:spcPts val="800"/>
              </a:spcAft>
            </a:pPr>
            <a:r>
              <a:rPr sz="1600" b="0" i="0">
                <a:solidFill>
                  <a:srgbClr val="231F20"/>
                </a:solidFill>
                <a:latin typeface="Calibri"/>
                <a:ea typeface="Calibri"/>
                <a:cs typeface="Calibri"/>
              </a:rPr>
              <a:t>Two teams can report a different open count for the same week.</a:t>
            </a:r>
          </a:p>
          <a:p>
            <a:pPr algn="l">
              <a:spcBef>
                <a:spcPts val="0"/>
              </a:spcBef>
              <a:spcAft>
                <a:spcPts val="800"/>
              </a:spcAft>
            </a:pPr>
            <a:r>
              <a:rPr sz="1600" b="0" i="0">
                <a:solidFill>
                  <a:srgbClr val="231F20"/>
                </a:solidFill>
                <a:latin typeface="Calibri"/>
                <a:ea typeface="Calibri"/>
                <a:cs typeface="Calibri"/>
              </a:rPr>
              <a:t>A disputed outage can sit with no follow-up owner.</a:t>
            </a:r>
          </a:p>
          <a:p>
            <a:pPr algn="l">
              <a:spcBef>
                <a:spcPts val="0"/>
              </a:spcBef>
              <a:spcAft>
                <a:spcPts val="800"/>
              </a:spcAft>
            </a:pPr>
            <a:r>
              <a:rPr sz="1600" b="0" i="0">
                <a:solidFill>
                  <a:srgbClr val="231F20"/>
                </a:solidFill>
                <a:latin typeface="Calibri"/>
                <a:ea typeface="Calibri"/>
                <a:cs typeface="Calibri"/>
              </a:rPr>
              <a:t>This defence states no dollar cost. Dollars for that delay stay Unknown.</a:t>
            </a:r>
          </a:p>
        </p:txBody>
      </p:sp>
      <p:sp>
        <p:nvSpPr>
          <p:cNvPr id="6" name="Rounded Rectangle 5"/>
          <p:cNvSpPr/>
          <p:nvPr/>
        </p:nvSpPr>
        <p:spPr>
          <a:xfrm>
            <a:off x="502920" y="3154680"/>
            <a:ext cx="11183111" cy="24688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1208" y="3319272"/>
            <a:ext cx="64008" cy="213969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example"/>
          <p:cNvSpPr txBox="1"/>
          <p:nvPr/>
        </p:nvSpPr>
        <p:spPr>
          <a:xfrm>
            <a:off x="758952" y="3383280"/>
            <a:ext cx="10725911" cy="2011680"/>
          </a:xfrm>
          <a:prstGeom prst="rect">
            <a:avLst/>
          </a:prstGeom>
          <a:noFill/>
        </p:spPr>
        <p:txBody>
          <a:bodyPr wrap="square" lIns="54864" rIns="54864" tIns="36576" bIns="36576" anchor="t"/>
          <a:lstStyle/>
          <a:p>
            <a:pPr algn="l">
              <a:spcBef>
                <a:spcPts val="0"/>
              </a:spcBef>
              <a:spcAft>
                <a:spcPts val="0"/>
              </a:spcAft>
            </a:pPr>
            <a:r>
              <a:rPr sz="1600" b="1" i="0">
                <a:solidFill>
                  <a:srgbClr val="231F20"/>
                </a:solidFill>
                <a:latin typeface="Calibri"/>
                <a:ea typeface="Calibri"/>
                <a:cs typeface="Calibri"/>
              </a:rPr>
              <a:t>Worked example. Incident INC-2025-014.</a:t>
            </a:r>
          </a:p>
          <a:p>
            <a:pPr algn="l">
              <a:spcBef>
                <a:spcPts val="0"/>
              </a:spcBef>
              <a:spcAft>
                <a:spcPts val="0"/>
              </a:spcAft>
            </a:pPr>
            <a:r>
              <a:rPr sz="1600" b="0" i="0">
                <a:solidFill>
                  <a:srgbClr val="4B4B4B"/>
                </a:solidFill>
                <a:latin typeface="Calibri"/>
                <a:ea typeface="Calibri"/>
                <a:cs typeface="Calibri"/>
              </a:rPr>
              <a:t>On 2025-11-18 a partner feed was delayed. The queue was retried twice. Staff used a spreadsheet at 04:00 UTC.</a:t>
            </a:r>
          </a:p>
          <a:p>
            <a:pPr algn="l">
              <a:spcBef>
                <a:spcPts val="0"/>
              </a:spcBef>
              <a:spcAft>
                <a:spcPts val="0"/>
              </a:spcAft>
            </a:pPr>
            <a:r>
              <a:rPr sz="1600" b="0" i="0">
                <a:solidFill>
                  <a:srgbClr val="231F20"/>
                </a:solidFill>
                <a:latin typeface="Calibri"/>
                <a:ea typeface="Calibri"/>
                <a:cs typeface="Calibri"/>
              </a:rPr>
              <a:t>The owner field on this incident is empty. That empty field is REAL. This walk does not type a name into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10" name="Connector 9"/>
          <p:cNvCxnSpPr/>
          <p:nvPr/>
        </p:nvCxnSpPr>
        <p:spPr>
          <a:xfrm>
            <a:off x="502920" y="2770632"/>
            <a:ext cx="32004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703320" y="2770632"/>
            <a:ext cx="50292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732520" y="2770632"/>
            <a:ext cx="20116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02920" y="3191256"/>
            <a:ext cx="32004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703320" y="3191256"/>
            <a:ext cx="50292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732520" y="3191256"/>
            <a:ext cx="20116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02920" y="3611879"/>
            <a:ext cx="32004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03320" y="3611879"/>
            <a:ext cx="50292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732520" y="3611879"/>
            <a:ext cx="20116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02920" y="4032504"/>
            <a:ext cx="32004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703320" y="4032504"/>
            <a:ext cx="50292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732520" y="4032504"/>
            <a:ext cx="20116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02920" y="4453128"/>
            <a:ext cx="32004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703320" y="4453128"/>
            <a:ext cx="50292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732520" y="4453128"/>
            <a:ext cx="20116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02920" y="4873752"/>
            <a:ext cx="32004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703320" y="4873752"/>
            <a:ext cx="50292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732520" y="4873752"/>
            <a:ext cx="20116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02920" y="5294376"/>
            <a:ext cx="32004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703320" y="5294376"/>
            <a:ext cx="50292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732520" y="5294376"/>
            <a:ext cx="20116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02920" y="5715000"/>
            <a:ext cx="32004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703320" y="5715000"/>
            <a:ext cx="50292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732520" y="5715000"/>
            <a:ext cx="20116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5</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Eight defects are counted from the packaged data.</a:t>
            </a:r>
          </a:p>
        </p:txBody>
      </p:sp>
      <p:sp>
        <p:nvSpPr>
          <p:cNvPr id="5" name="body"/>
          <p:cNvSpPr txBox="1"/>
          <p:nvPr/>
        </p:nvSpPr>
        <p:spPr>
          <a:xfrm>
            <a:off x="502920" y="1280160"/>
            <a:ext cx="11155680" cy="64008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Each count in this table is REAL. It was counted from the packaged files. It is not a goal invented for this defence.</a:t>
            </a:r>
          </a:p>
        </p:txBody>
      </p:sp>
      <p:sp>
        <p:nvSpPr>
          <p:cNvPr id="6" name="table"/>
          <p:cNvSpPr/>
          <p:nvPr/>
        </p:nvSpPr>
        <p:spPr>
          <a:xfrm>
            <a:off x="502920" y="1965960"/>
            <a:ext cx="320040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Defect</a:t>
            </a:r>
          </a:p>
        </p:txBody>
      </p:sp>
      <p:sp>
        <p:nvSpPr>
          <p:cNvPr id="7" name="table"/>
          <p:cNvSpPr/>
          <p:nvPr/>
        </p:nvSpPr>
        <p:spPr>
          <a:xfrm>
            <a:off x="3703320" y="1965960"/>
            <a:ext cx="502920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Count</a:t>
            </a:r>
          </a:p>
        </p:txBody>
      </p:sp>
      <p:sp>
        <p:nvSpPr>
          <p:cNvPr id="8" name="table"/>
          <p:cNvSpPr/>
          <p:nvPr/>
        </p:nvSpPr>
        <p:spPr>
          <a:xfrm>
            <a:off x="8732520" y="1965960"/>
            <a:ext cx="201168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Honesty</a:t>
            </a:r>
          </a:p>
        </p:txBody>
      </p:sp>
      <p:sp>
        <p:nvSpPr>
          <p:cNvPr id="9" name="table"/>
          <p:cNvSpPr/>
          <p:nvPr/>
        </p:nvSpPr>
        <p:spPr>
          <a:xfrm>
            <a:off x="502920" y="2350008"/>
            <a:ext cx="32004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Recipe mismatch</a:t>
            </a:r>
          </a:p>
        </p:txBody>
      </p:sp>
      <p:sp>
        <p:nvSpPr>
          <p:cNvPr id="11" name="table"/>
          <p:cNvSpPr/>
          <p:nvPr/>
        </p:nvSpPr>
        <p:spPr>
          <a:xfrm>
            <a:off x="3703320" y="2350008"/>
            <a:ext cx="50292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91 of 125 steps</a:t>
            </a:r>
          </a:p>
        </p:txBody>
      </p:sp>
      <p:sp>
        <p:nvSpPr>
          <p:cNvPr id="13" name="table"/>
          <p:cNvSpPr/>
          <p:nvPr/>
        </p:nvSpPr>
        <p:spPr>
          <a:xfrm>
            <a:off x="8732520" y="2350008"/>
            <a:ext cx="20116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15" name="table"/>
          <p:cNvSpPr/>
          <p:nvPr/>
        </p:nvSpPr>
        <p:spPr>
          <a:xfrm>
            <a:off x="502920" y="2770632"/>
            <a:ext cx="320040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Replay feeds</a:t>
            </a:r>
          </a:p>
        </p:txBody>
      </p:sp>
      <p:sp>
        <p:nvSpPr>
          <p:cNvPr id="17" name="table"/>
          <p:cNvSpPr/>
          <p:nvPr/>
        </p:nvSpPr>
        <p:spPr>
          <a:xfrm>
            <a:off x="3703320" y="2770632"/>
            <a:ext cx="502920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67 REPLAY rows</a:t>
            </a:r>
          </a:p>
        </p:txBody>
      </p:sp>
      <p:sp>
        <p:nvSpPr>
          <p:cNvPr id="19" name="table"/>
          <p:cNvSpPr/>
          <p:nvPr/>
        </p:nvSpPr>
        <p:spPr>
          <a:xfrm>
            <a:off x="8732520" y="2770632"/>
            <a:ext cx="201168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21" name="table"/>
          <p:cNvSpPr/>
          <p:nvPr/>
        </p:nvSpPr>
        <p:spPr>
          <a:xfrm>
            <a:off x="502920" y="3191256"/>
            <a:ext cx="32004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Mixed clocks</a:t>
            </a:r>
          </a:p>
        </p:txBody>
      </p:sp>
      <p:sp>
        <p:nvSpPr>
          <p:cNvPr id="23" name="table"/>
          <p:cNvSpPr/>
          <p:nvPr/>
        </p:nvSpPr>
        <p:spPr>
          <a:xfrm>
            <a:off x="3703320" y="3191256"/>
            <a:ext cx="50292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11,985 of 12,500 events</a:t>
            </a:r>
          </a:p>
        </p:txBody>
      </p:sp>
      <p:sp>
        <p:nvSpPr>
          <p:cNvPr id="25" name="table"/>
          <p:cNvSpPr/>
          <p:nvPr/>
        </p:nvSpPr>
        <p:spPr>
          <a:xfrm>
            <a:off x="8732520" y="3191256"/>
            <a:ext cx="20116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27" name="table"/>
          <p:cNvSpPr/>
          <p:nvPr/>
        </p:nvSpPr>
        <p:spPr>
          <a:xfrm>
            <a:off x="502920" y="3611880"/>
            <a:ext cx="320040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Four rule programs</a:t>
            </a:r>
          </a:p>
        </p:txBody>
      </p:sp>
      <p:sp>
        <p:nvSpPr>
          <p:cNvPr id="29" name="table"/>
          <p:cNvSpPr/>
          <p:nvPr/>
        </p:nvSpPr>
        <p:spPr>
          <a:xfrm>
            <a:off x="3703320" y="3611880"/>
            <a:ext cx="502920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2,090 REVIEW objects</a:t>
            </a:r>
          </a:p>
        </p:txBody>
      </p:sp>
      <p:sp>
        <p:nvSpPr>
          <p:cNvPr id="31" name="table"/>
          <p:cNvSpPr/>
          <p:nvPr/>
        </p:nvSpPr>
        <p:spPr>
          <a:xfrm>
            <a:off x="8732520" y="3611880"/>
            <a:ext cx="201168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33" name="table"/>
          <p:cNvSpPr/>
          <p:nvPr/>
        </p:nvSpPr>
        <p:spPr>
          <a:xfrm>
            <a:off x="502920" y="4032504"/>
            <a:ext cx="32004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Open and closed</a:t>
            </a:r>
          </a:p>
        </p:txBody>
      </p:sp>
      <p:sp>
        <p:nvSpPr>
          <p:cNvPr id="35" name="table"/>
          <p:cNvSpPr/>
          <p:nvPr/>
        </p:nvSpPr>
        <p:spPr>
          <a:xfrm>
            <a:off x="3703320" y="4032504"/>
            <a:ext cx="50292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89 of 125 cases still open</a:t>
            </a:r>
          </a:p>
        </p:txBody>
      </p:sp>
      <p:sp>
        <p:nvSpPr>
          <p:cNvPr id="37" name="table"/>
          <p:cNvSpPr/>
          <p:nvPr/>
        </p:nvSpPr>
        <p:spPr>
          <a:xfrm>
            <a:off x="8732520" y="4032504"/>
            <a:ext cx="20116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39" name="table"/>
          <p:cNvSpPr/>
          <p:nvPr/>
        </p:nvSpPr>
        <p:spPr>
          <a:xfrm>
            <a:off x="502920" y="4453128"/>
            <a:ext cx="320040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Overlapping policies</a:t>
            </a:r>
          </a:p>
        </p:txBody>
      </p:sp>
      <p:sp>
        <p:nvSpPr>
          <p:cNvPr id="41" name="table"/>
          <p:cNvSpPr/>
          <p:nvPr/>
        </p:nvSpPr>
        <p:spPr>
          <a:xfrm>
            <a:off x="3703320" y="4453128"/>
            <a:ext cx="502920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34 active rows</a:t>
            </a:r>
          </a:p>
        </p:txBody>
      </p:sp>
      <p:sp>
        <p:nvSpPr>
          <p:cNvPr id="43" name="table"/>
          <p:cNvSpPr/>
          <p:nvPr/>
        </p:nvSpPr>
        <p:spPr>
          <a:xfrm>
            <a:off x="8732520" y="4453128"/>
            <a:ext cx="201168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45" name="table"/>
          <p:cNvSpPr/>
          <p:nvPr/>
        </p:nvSpPr>
        <p:spPr>
          <a:xfrm>
            <a:off x="502920" y="4873752"/>
            <a:ext cx="32004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Untrusted notes</a:t>
            </a:r>
          </a:p>
        </p:txBody>
      </p:sp>
      <p:sp>
        <p:nvSpPr>
          <p:cNvPr id="47" name="table"/>
          <p:cNvSpPr/>
          <p:nvPr/>
        </p:nvSpPr>
        <p:spPr>
          <a:xfrm>
            <a:off x="3703320" y="4873752"/>
            <a:ext cx="50292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86 partner feeds</a:t>
            </a:r>
          </a:p>
        </p:txBody>
      </p:sp>
      <p:sp>
        <p:nvSpPr>
          <p:cNvPr id="49" name="table"/>
          <p:cNvSpPr/>
          <p:nvPr/>
        </p:nvSpPr>
        <p:spPr>
          <a:xfrm>
            <a:off x="8732520" y="4873752"/>
            <a:ext cx="20116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51" name="table"/>
          <p:cNvSpPr/>
          <p:nvPr/>
        </p:nvSpPr>
        <p:spPr>
          <a:xfrm>
            <a:off x="502920" y="5294376"/>
            <a:ext cx="320040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Missing owners</a:t>
            </a:r>
          </a:p>
        </p:txBody>
      </p:sp>
      <p:sp>
        <p:nvSpPr>
          <p:cNvPr id="53" name="table"/>
          <p:cNvSpPr/>
          <p:nvPr/>
        </p:nvSpPr>
        <p:spPr>
          <a:xfrm>
            <a:off x="3703320" y="5294376"/>
            <a:ext cx="502920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695 unassigned tasks</a:t>
            </a:r>
          </a:p>
        </p:txBody>
      </p:sp>
      <p:sp>
        <p:nvSpPr>
          <p:cNvPr id="55" name="table"/>
          <p:cNvSpPr/>
          <p:nvPr/>
        </p:nvSpPr>
        <p:spPr>
          <a:xfrm>
            <a:off x="8732520" y="5294376"/>
            <a:ext cx="201168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57" name="caption"/>
          <p:cNvSpPr txBox="1"/>
          <p:nvPr/>
        </p:nvSpPr>
        <p:spPr>
          <a:xfrm>
            <a:off x="502920" y="5852160"/>
            <a:ext cx="11155680" cy="502920"/>
          </a:xfrm>
          <a:prstGeom prst="rect">
            <a:avLst/>
          </a:prstGeom>
          <a:noFill/>
        </p:spPr>
        <p:txBody>
          <a:bodyPr wrap="square" lIns="0" rIns="73152" tIns="18288" bIns="0"/>
          <a:lstStyle/>
          <a:p>
            <a:pPr algn="l">
              <a:spcBef>
                <a:spcPts val="0"/>
              </a:spcBef>
              <a:spcAft>
                <a:spcPts val="800"/>
              </a:spcAft>
            </a:pPr>
            <a:r>
              <a:rPr sz="1400" b="0" i="0">
                <a:solidFill>
                  <a:srgbClr val="231F20"/>
                </a:solidFill>
                <a:latin typeface="Calibri"/>
                <a:ea typeface="Calibri"/>
                <a:cs typeface="Calibri"/>
              </a:rPr>
              <a:t>Exception cycle time is Unknown. Aged backlog is Unknown. The file has no start time, no end time, and no age in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10" name="Connector 9"/>
          <p:cNvCxnSpPr/>
          <p:nvPr/>
        </p:nvCxnSpPr>
        <p:spPr>
          <a:xfrm>
            <a:off x="502920" y="3383280"/>
            <a:ext cx="3657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160520" y="3383280"/>
            <a:ext cx="3657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818120" y="3383280"/>
            <a:ext cx="29260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02920" y="3913632"/>
            <a:ext cx="3657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160520" y="3913632"/>
            <a:ext cx="3657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818120" y="3913632"/>
            <a:ext cx="29260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02920" y="4443984"/>
            <a:ext cx="3657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160520" y="4443984"/>
            <a:ext cx="3657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18120" y="4443984"/>
            <a:ext cx="29260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02920" y="4974336"/>
            <a:ext cx="3657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160520" y="4974336"/>
            <a:ext cx="3657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818120" y="4974336"/>
            <a:ext cx="29260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02920" y="5504688"/>
            <a:ext cx="3657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160520" y="5504688"/>
            <a:ext cx="3657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818120" y="5504688"/>
            <a:ext cx="29260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02920" y="6035040"/>
            <a:ext cx="3657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160520" y="6035040"/>
            <a:ext cx="3657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818120" y="6035040"/>
            <a:ext cx="29260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6</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Four frozen fields are REAL. Two are simulated.</a:t>
            </a:r>
          </a:p>
        </p:txBody>
      </p:sp>
      <p:sp>
        <p:nvSpPr>
          <p:cNvPr id="5" name="body"/>
          <p:cNvSpPr txBox="1"/>
          <p:nvPr/>
        </p:nvSpPr>
        <p:spPr>
          <a:xfrm>
            <a:off x="502920" y="1280160"/>
            <a:ext cx="11155680" cy="105156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These six fields are the baseline. After the build they are the same numbers.</a:t>
            </a:r>
          </a:p>
          <a:p>
            <a:pPr algn="l">
              <a:spcBef>
                <a:spcPts val="0"/>
              </a:spcBef>
              <a:spcAft>
                <a:spcPts val="800"/>
              </a:spcAft>
            </a:pPr>
            <a:r>
              <a:rPr sz="1600" b="0" i="0">
                <a:solidFill>
                  <a:srgbClr val="231F20"/>
                </a:solidFill>
                <a:latin typeface="Calibri"/>
                <a:ea typeface="Calibri"/>
                <a:cs typeface="Calibri"/>
              </a:rPr>
              <a:t>A REAL count was read from the packaged cases. A SIMULATED figure is a model on synthetic data. It is not cash, and it is not recovered labor.</a:t>
            </a:r>
          </a:p>
        </p:txBody>
      </p:sp>
      <p:sp>
        <p:nvSpPr>
          <p:cNvPr id="6" name="table"/>
          <p:cNvSpPr/>
          <p:nvPr/>
        </p:nvSpPr>
        <p:spPr>
          <a:xfrm>
            <a:off x="502920" y="2468880"/>
            <a:ext cx="365760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Field</a:t>
            </a:r>
          </a:p>
        </p:txBody>
      </p:sp>
      <p:sp>
        <p:nvSpPr>
          <p:cNvPr id="7" name="table"/>
          <p:cNvSpPr/>
          <p:nvPr/>
        </p:nvSpPr>
        <p:spPr>
          <a:xfrm>
            <a:off x="4160520" y="2468880"/>
            <a:ext cx="365760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Value</a:t>
            </a:r>
          </a:p>
        </p:txBody>
      </p:sp>
      <p:sp>
        <p:nvSpPr>
          <p:cNvPr id="8" name="table"/>
          <p:cNvSpPr/>
          <p:nvPr/>
        </p:nvSpPr>
        <p:spPr>
          <a:xfrm>
            <a:off x="7818120" y="2468880"/>
            <a:ext cx="292608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Honesty</a:t>
            </a:r>
          </a:p>
        </p:txBody>
      </p:sp>
      <p:sp>
        <p:nvSpPr>
          <p:cNvPr id="9" name="table"/>
          <p:cNvSpPr/>
          <p:nvPr/>
        </p:nvSpPr>
        <p:spPr>
          <a:xfrm>
            <a:off x="502920" y="2852928"/>
            <a:ext cx="365760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Records</a:t>
            </a:r>
          </a:p>
        </p:txBody>
      </p:sp>
      <p:sp>
        <p:nvSpPr>
          <p:cNvPr id="11" name="table"/>
          <p:cNvSpPr/>
          <p:nvPr/>
        </p:nvSpPr>
        <p:spPr>
          <a:xfrm>
            <a:off x="4160520" y="2852928"/>
            <a:ext cx="365760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125</a:t>
            </a:r>
          </a:p>
        </p:txBody>
      </p:sp>
      <p:sp>
        <p:nvSpPr>
          <p:cNvPr id="13" name="table"/>
          <p:cNvSpPr/>
          <p:nvPr/>
        </p:nvSpPr>
        <p:spPr>
          <a:xfrm>
            <a:off x="7818120" y="2852928"/>
            <a:ext cx="292608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15" name="table"/>
          <p:cNvSpPr/>
          <p:nvPr/>
        </p:nvSpPr>
        <p:spPr>
          <a:xfrm>
            <a:off x="502920" y="3383280"/>
            <a:ext cx="3657600" cy="5303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Open cases</a:t>
            </a:r>
          </a:p>
        </p:txBody>
      </p:sp>
      <p:sp>
        <p:nvSpPr>
          <p:cNvPr id="17" name="table"/>
          <p:cNvSpPr/>
          <p:nvPr/>
        </p:nvSpPr>
        <p:spPr>
          <a:xfrm>
            <a:off x="4160520" y="3383280"/>
            <a:ext cx="3657600" cy="5303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89</a:t>
            </a:r>
          </a:p>
        </p:txBody>
      </p:sp>
      <p:sp>
        <p:nvSpPr>
          <p:cNvPr id="19" name="table"/>
          <p:cNvSpPr/>
          <p:nvPr/>
        </p:nvSpPr>
        <p:spPr>
          <a:xfrm>
            <a:off x="7818120" y="3383280"/>
            <a:ext cx="2926080" cy="5303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21" name="table"/>
          <p:cNvSpPr/>
          <p:nvPr/>
        </p:nvSpPr>
        <p:spPr>
          <a:xfrm>
            <a:off x="502920" y="3913632"/>
            <a:ext cx="365760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Urgent cases</a:t>
            </a:r>
          </a:p>
        </p:txBody>
      </p:sp>
      <p:sp>
        <p:nvSpPr>
          <p:cNvPr id="23" name="table"/>
          <p:cNvSpPr/>
          <p:nvPr/>
        </p:nvSpPr>
        <p:spPr>
          <a:xfrm>
            <a:off x="4160520" y="3913632"/>
            <a:ext cx="365760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2</a:t>
            </a:r>
          </a:p>
        </p:txBody>
      </p:sp>
      <p:sp>
        <p:nvSpPr>
          <p:cNvPr id="25" name="table"/>
          <p:cNvSpPr/>
          <p:nvPr/>
        </p:nvSpPr>
        <p:spPr>
          <a:xfrm>
            <a:off x="7818120" y="3913632"/>
            <a:ext cx="292608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27" name="table"/>
          <p:cNvSpPr/>
          <p:nvPr/>
        </p:nvSpPr>
        <p:spPr>
          <a:xfrm>
            <a:off x="502920" y="4443983"/>
            <a:ext cx="3657600" cy="5303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Sites</a:t>
            </a:r>
          </a:p>
        </p:txBody>
      </p:sp>
      <p:sp>
        <p:nvSpPr>
          <p:cNvPr id="29" name="table"/>
          <p:cNvSpPr/>
          <p:nvPr/>
        </p:nvSpPr>
        <p:spPr>
          <a:xfrm>
            <a:off x="4160520" y="4443983"/>
            <a:ext cx="3657600" cy="5303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6</a:t>
            </a:r>
          </a:p>
        </p:txBody>
      </p:sp>
      <p:sp>
        <p:nvSpPr>
          <p:cNvPr id="31" name="table"/>
          <p:cNvSpPr/>
          <p:nvPr/>
        </p:nvSpPr>
        <p:spPr>
          <a:xfrm>
            <a:off x="7818120" y="4443983"/>
            <a:ext cx="2926080" cy="5303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33" name="table"/>
          <p:cNvSpPr/>
          <p:nvPr/>
        </p:nvSpPr>
        <p:spPr>
          <a:xfrm>
            <a:off x="502920" y="4974336"/>
            <a:ext cx="365760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Mean amount</a:t>
            </a:r>
          </a:p>
        </p:txBody>
      </p:sp>
      <p:sp>
        <p:nvSpPr>
          <p:cNvPr id="35" name="table"/>
          <p:cNvSpPr/>
          <p:nvPr/>
        </p:nvSpPr>
        <p:spPr>
          <a:xfrm>
            <a:off x="4160520" y="4974336"/>
            <a:ext cx="365760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4982.61</a:t>
            </a:r>
          </a:p>
        </p:txBody>
      </p:sp>
      <p:sp>
        <p:nvSpPr>
          <p:cNvPr id="37" name="table"/>
          <p:cNvSpPr/>
          <p:nvPr/>
        </p:nvSpPr>
        <p:spPr>
          <a:xfrm>
            <a:off x="7818120" y="4974336"/>
            <a:ext cx="292608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SIMULATED</a:t>
            </a:r>
          </a:p>
        </p:txBody>
      </p:sp>
      <p:sp>
        <p:nvSpPr>
          <p:cNvPr id="39" name="table"/>
          <p:cNvSpPr/>
          <p:nvPr/>
        </p:nvSpPr>
        <p:spPr>
          <a:xfrm>
            <a:off x="502920" y="5504688"/>
            <a:ext cx="3657600" cy="5303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Hours per case</a:t>
            </a:r>
          </a:p>
        </p:txBody>
      </p:sp>
      <p:sp>
        <p:nvSpPr>
          <p:cNvPr id="41" name="table"/>
          <p:cNvSpPr/>
          <p:nvPr/>
        </p:nvSpPr>
        <p:spPr>
          <a:xfrm>
            <a:off x="4160520" y="5504688"/>
            <a:ext cx="3657600" cy="5303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0.603</a:t>
            </a:r>
          </a:p>
        </p:txBody>
      </p:sp>
      <p:sp>
        <p:nvSpPr>
          <p:cNvPr id="43" name="table"/>
          <p:cNvSpPr/>
          <p:nvPr/>
        </p:nvSpPr>
        <p:spPr>
          <a:xfrm>
            <a:off x="7818120" y="5504688"/>
            <a:ext cx="2926080" cy="5303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SIMULATED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7</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Two applications run the same review and stay apart.</a:t>
            </a:r>
          </a:p>
        </p:txBody>
      </p:sp>
      <p:sp>
        <p:nvSpPr>
          <p:cNvPr id="5" name="body"/>
          <p:cNvSpPr txBox="1"/>
          <p:nvPr/>
        </p:nvSpPr>
        <p:spPr>
          <a:xfrm>
            <a:off x="502920" y="1280160"/>
            <a:ext cx="11155680" cy="64008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A reviewer can open either application and see the same kind of page. The two servers do not call each other.</a:t>
            </a:r>
          </a:p>
        </p:txBody>
      </p:sp>
      <p:sp>
        <p:nvSpPr>
          <p:cNvPr id="6" name="Rounded Rectangle 5"/>
          <p:cNvSpPr/>
          <p:nvPr/>
        </p:nvSpPr>
        <p:spPr>
          <a:xfrm>
            <a:off x="502920" y="2011680"/>
            <a:ext cx="3617976" cy="23317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1208" y="2176272"/>
            <a:ext cx="64008" cy="200253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0"/>
          <p:cNvSpPr txBox="1"/>
          <p:nvPr/>
        </p:nvSpPr>
        <p:spPr>
          <a:xfrm>
            <a:off x="722376" y="2240280"/>
            <a:ext cx="3233928" cy="1828800"/>
          </a:xfrm>
          <a:prstGeom prst="rect">
            <a:avLst/>
          </a:prstGeom>
          <a:noFill/>
        </p:spPr>
        <p:txBody>
          <a:bodyPr wrap="square" lIns="54864" rIns="54864" tIns="36576" bIns="36576" anchor="t"/>
          <a:lstStyle/>
          <a:p>
            <a:pPr algn="l">
              <a:spcBef>
                <a:spcPts val="0"/>
              </a:spcBef>
              <a:spcAft>
                <a:spcPts val="0"/>
              </a:spcAft>
            </a:pPr>
            <a:r>
              <a:rPr sz="1500" b="1" i="0">
                <a:solidFill>
                  <a:srgbClr val="231F20"/>
                </a:solidFill>
                <a:latin typeface="Calibri"/>
                <a:ea typeface="Calibri"/>
                <a:cs typeface="Calibri"/>
              </a:rPr>
              <a:t>Application A</a:t>
            </a:r>
          </a:p>
          <a:p>
            <a:pPr algn="l">
              <a:spcBef>
                <a:spcPts val="0"/>
              </a:spcBef>
              <a:spcAft>
                <a:spcPts val="0"/>
              </a:spcAft>
            </a:pPr>
            <a:r>
              <a:rPr sz="1600" b="0" i="0">
                <a:solidFill>
                  <a:srgbClr val="4B4B4B"/>
                </a:solidFill>
                <a:latin typeface="Calibri"/>
                <a:ea typeface="Calibri"/>
                <a:cs typeface="Calibri"/>
              </a:rPr>
              <a:t>This is the rebuilt program. The reviewer opens it on port 8100.</a:t>
            </a:r>
          </a:p>
        </p:txBody>
      </p:sp>
      <p:sp>
        <p:nvSpPr>
          <p:cNvPr id="9" name="Rounded Rectangle 8"/>
          <p:cNvSpPr/>
          <p:nvPr/>
        </p:nvSpPr>
        <p:spPr>
          <a:xfrm>
            <a:off x="4285488" y="2011680"/>
            <a:ext cx="3617976" cy="23317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03775" y="2176272"/>
            <a:ext cx="64008" cy="200253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1"/>
          <p:cNvSpPr txBox="1"/>
          <p:nvPr/>
        </p:nvSpPr>
        <p:spPr>
          <a:xfrm>
            <a:off x="4504944" y="2240280"/>
            <a:ext cx="3233928" cy="1828800"/>
          </a:xfrm>
          <a:prstGeom prst="rect">
            <a:avLst/>
          </a:prstGeom>
          <a:noFill/>
        </p:spPr>
        <p:txBody>
          <a:bodyPr wrap="square" lIns="54864" rIns="54864" tIns="36576" bIns="36576" anchor="t"/>
          <a:lstStyle/>
          <a:p>
            <a:pPr algn="l">
              <a:spcBef>
                <a:spcPts val="0"/>
              </a:spcBef>
              <a:spcAft>
                <a:spcPts val="0"/>
              </a:spcAft>
            </a:pPr>
            <a:r>
              <a:rPr sz="1500" b="1" i="0">
                <a:solidFill>
                  <a:srgbClr val="231F20"/>
                </a:solidFill>
                <a:latin typeface="Calibri"/>
                <a:ea typeface="Calibri"/>
                <a:cs typeface="Calibri"/>
              </a:rPr>
              <a:t>Application B</a:t>
            </a:r>
          </a:p>
          <a:p>
            <a:pPr algn="l">
              <a:spcBef>
                <a:spcPts val="0"/>
              </a:spcBef>
              <a:spcAft>
                <a:spcPts val="0"/>
              </a:spcAft>
            </a:pPr>
            <a:r>
              <a:rPr sz="1600" b="0" i="0">
                <a:solidFill>
                  <a:srgbClr val="4B4B4B"/>
                </a:solidFill>
                <a:latin typeface="Calibri"/>
                <a:ea typeface="Calibri"/>
                <a:cs typeface="Calibri"/>
              </a:rPr>
              <a:t>This application reads the Context Lake. The reviewer opens it on port 8110.</a:t>
            </a:r>
          </a:p>
        </p:txBody>
      </p:sp>
      <p:sp>
        <p:nvSpPr>
          <p:cNvPr id="12" name="Rounded Rectangle 11"/>
          <p:cNvSpPr/>
          <p:nvPr/>
        </p:nvSpPr>
        <p:spPr>
          <a:xfrm>
            <a:off x="8068056" y="2011680"/>
            <a:ext cx="3617976" cy="23317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86344" y="2176272"/>
            <a:ext cx="64008" cy="2002536"/>
          </a:xfrm>
          <a:prstGeom prst="rect">
            <a:avLst/>
          </a:prstGeom>
          <a:solidFill>
            <a:srgbClr val="7200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rd:2"/>
          <p:cNvSpPr txBox="1"/>
          <p:nvPr/>
        </p:nvSpPr>
        <p:spPr>
          <a:xfrm>
            <a:off x="8287512" y="2240280"/>
            <a:ext cx="3233928" cy="1828800"/>
          </a:xfrm>
          <a:prstGeom prst="rect">
            <a:avLst/>
          </a:prstGeom>
          <a:noFill/>
        </p:spPr>
        <p:txBody>
          <a:bodyPr wrap="square" lIns="54864" rIns="54864" tIns="36576" bIns="36576" anchor="t"/>
          <a:lstStyle/>
          <a:p>
            <a:pPr algn="l">
              <a:spcBef>
                <a:spcPts val="0"/>
              </a:spcBef>
              <a:spcAft>
                <a:spcPts val="0"/>
              </a:spcAft>
            </a:pPr>
            <a:r>
              <a:rPr sz="1500" b="1" i="0">
                <a:solidFill>
                  <a:srgbClr val="231F20"/>
                </a:solidFill>
                <a:latin typeface="Calibri"/>
                <a:ea typeface="Calibri"/>
                <a:cs typeface="Calibri"/>
              </a:rPr>
              <a:t>The boundary</a:t>
            </a:r>
          </a:p>
          <a:p>
            <a:pPr algn="l">
              <a:spcBef>
                <a:spcPts val="0"/>
              </a:spcBef>
              <a:spcAft>
                <a:spcPts val="0"/>
              </a:spcAft>
            </a:pPr>
            <a:r>
              <a:rPr sz="1600" b="0" i="0">
                <a:solidFill>
                  <a:srgbClr val="4B4B4B"/>
                </a:solidFill>
                <a:latin typeface="Calibri"/>
                <a:ea typeface="Calibri"/>
                <a:cs typeface="Calibri"/>
              </a:rPr>
              <a:t>The browser can read both. The servers do not call each other.</a:t>
            </a:r>
          </a:p>
        </p:txBody>
      </p:sp>
      <p:sp>
        <p:nvSpPr>
          <p:cNvPr id="15" name="body"/>
          <p:cNvSpPr txBox="1"/>
          <p:nvPr/>
        </p:nvSpPr>
        <p:spPr>
          <a:xfrm>
            <a:off x="502920" y="4526280"/>
            <a:ext cx="11155680" cy="128016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The lake version is 1.0.0. It holds 148 items, 180 edges, and 267 term rows. That count is REAL.</a:t>
            </a:r>
          </a:p>
          <a:p>
            <a:pPr algn="l">
              <a:spcBef>
                <a:spcPts val="0"/>
              </a:spcBef>
              <a:spcAft>
                <a:spcPts val="800"/>
              </a:spcAft>
            </a:pPr>
            <a:r>
              <a:rPr sz="1600" b="0" i="0">
                <a:solidFill>
                  <a:srgbClr val="231F20"/>
                </a:solidFill>
                <a:latin typeface="Calibri"/>
                <a:ea typeface="Calibri"/>
                <a:cs typeface="Calibri"/>
              </a:rPr>
              <a:t>Replay mode is on. Saved answers play back from files. This walk does not call a live model over the network.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8</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The model drafts a sentence. The code records the decision.</a:t>
            </a:r>
          </a:p>
        </p:txBody>
      </p:sp>
      <p:sp>
        <p:nvSpPr>
          <p:cNvPr id="5" name="body"/>
          <p:cNvSpPr txBox="1"/>
          <p:nvPr/>
        </p:nvSpPr>
        <p:spPr>
          <a:xfrm>
            <a:off x="502920" y="1280160"/>
            <a:ext cx="11155680" cy="77724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A cited explanation needs a draft in words. Ranking, rules, reconciliation, and de-duplication already have a determined result, so those jobs stay in code.</a:t>
            </a:r>
          </a:p>
        </p:txBody>
      </p:sp>
      <p:sp>
        <p:nvSpPr>
          <p:cNvPr id="6" name="Rounded Rectangle 5"/>
          <p:cNvSpPr/>
          <p:nvPr/>
        </p:nvSpPr>
        <p:spPr>
          <a:xfrm>
            <a:off x="502920" y="2194560"/>
            <a:ext cx="5509259" cy="288036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1208" y="2359152"/>
            <a:ext cx="64008" cy="255117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76771" y="2194560"/>
            <a:ext cx="5509259" cy="288036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5059" y="2359152"/>
            <a:ext cx="64008" cy="255117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code"/>
          <p:cNvSpPr txBox="1"/>
          <p:nvPr/>
        </p:nvSpPr>
        <p:spPr>
          <a:xfrm>
            <a:off x="722376" y="2423160"/>
            <a:ext cx="5097779" cy="2468880"/>
          </a:xfrm>
          <a:prstGeom prst="rect">
            <a:avLst/>
          </a:prstGeom>
          <a:noFill/>
        </p:spPr>
        <p:txBody>
          <a:bodyPr wrap="square" lIns="54864" rIns="54864" tIns="36576" bIns="36576" anchor="t"/>
          <a:lstStyle/>
          <a:p>
            <a:pPr algn="l">
              <a:spcBef>
                <a:spcPts val="0"/>
              </a:spcBef>
              <a:spcAft>
                <a:spcPts val="0"/>
              </a:spcAft>
            </a:pPr>
            <a:r>
              <a:rPr sz="1500" b="1" i="0">
                <a:solidFill>
                  <a:srgbClr val="231F20"/>
                </a:solidFill>
                <a:latin typeface="Calibri"/>
                <a:ea typeface="Calibri"/>
                <a:cs typeface="Calibri"/>
              </a:rPr>
              <a:t>Stays in code</a:t>
            </a:r>
          </a:p>
          <a:p>
            <a:pPr algn="l">
              <a:spcBef>
                <a:spcPts val="0"/>
              </a:spcBef>
              <a:spcAft>
                <a:spcPts val="0"/>
              </a:spcAft>
            </a:pPr>
            <a:r>
              <a:rPr sz="1600" b="0" i="0">
                <a:solidFill>
                  <a:srgbClr val="4B4B4B"/>
                </a:solidFill>
                <a:latin typeface="Calibri"/>
                <a:ea typeface="Calibri"/>
                <a:cs typeface="Calibri"/>
              </a:rPr>
              <a:t>Ranking, rules, reconciliation, and de-duplication run in code. A person in roles RT-01 to RT-06 records every write.</a:t>
            </a:r>
          </a:p>
        </p:txBody>
      </p:sp>
      <p:sp>
        <p:nvSpPr>
          <p:cNvPr id="11" name="card:model"/>
          <p:cNvSpPr txBox="1"/>
          <p:nvPr/>
        </p:nvSpPr>
        <p:spPr>
          <a:xfrm>
            <a:off x="6396227" y="2423160"/>
            <a:ext cx="5097779" cy="2468880"/>
          </a:xfrm>
          <a:prstGeom prst="rect">
            <a:avLst/>
          </a:prstGeom>
          <a:noFill/>
        </p:spPr>
        <p:txBody>
          <a:bodyPr wrap="square" lIns="54864" rIns="54864" tIns="36576" bIns="36576" anchor="t"/>
          <a:lstStyle/>
          <a:p>
            <a:pPr algn="l">
              <a:spcBef>
                <a:spcPts val="0"/>
              </a:spcBef>
              <a:spcAft>
                <a:spcPts val="0"/>
              </a:spcAft>
            </a:pPr>
            <a:r>
              <a:rPr sz="1500" b="1" i="0">
                <a:solidFill>
                  <a:srgbClr val="231F20"/>
                </a:solidFill>
                <a:latin typeface="Calibri"/>
                <a:ea typeface="Calibri"/>
                <a:cs typeface="Calibri"/>
              </a:rPr>
              <a:t>Drafted by the model</a:t>
            </a:r>
          </a:p>
          <a:p>
            <a:pPr algn="l">
              <a:spcBef>
                <a:spcPts val="0"/>
              </a:spcBef>
              <a:spcAft>
                <a:spcPts val="0"/>
              </a:spcAft>
            </a:pPr>
            <a:r>
              <a:rPr sz="1600" b="0" i="0">
                <a:solidFill>
                  <a:srgbClr val="4B4B4B"/>
                </a:solidFill>
                <a:latin typeface="Calibri"/>
                <a:ea typeface="Calibri"/>
                <a:cs typeface="Calibri"/>
              </a:rPr>
              <a:t>The model drafts a cited explanation, a query answer, or a plan. It has no write tool. It does not write a hold, a case status, or a feed status.</a:t>
            </a:r>
          </a:p>
        </p:txBody>
      </p:sp>
      <p:sp>
        <p:nvSpPr>
          <p:cNvPr id="12" name="body"/>
          <p:cNvSpPr txBox="1"/>
          <p:nvPr/>
        </p:nvSpPr>
        <p:spPr>
          <a:xfrm>
            <a:off x="502920" y="5257800"/>
            <a:ext cx="11155680" cy="73152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If the saved explanation fails, the business result can still change. The page shows both sentences. They stay separate.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9</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Hold prediction scored the same as the majority guess.</a:t>
            </a:r>
          </a:p>
        </p:txBody>
      </p:sp>
      <p:sp>
        <p:nvSpPr>
          <p:cNvPr id="5" name="body"/>
          <p:cNvSpPr txBox="1"/>
          <p:nvPr/>
        </p:nvSpPr>
        <p:spPr>
          <a:xfrm>
            <a:off x="502920" y="1325880"/>
            <a:ext cx="11155680" cy="210312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The question was whether a model should predict which lot to hold.</a:t>
            </a:r>
          </a:p>
          <a:p>
            <a:pPr algn="l">
              <a:spcBef>
                <a:spcPts val="0"/>
              </a:spcBef>
              <a:spcAft>
                <a:spcPts val="800"/>
              </a:spcAft>
            </a:pPr>
            <a:r>
              <a:rPr sz="1600" b="0" i="0">
                <a:solidFill>
                  <a:srgbClr val="231F20"/>
                </a:solidFill>
                <a:latin typeface="Calibri"/>
                <a:ea typeface="Calibri"/>
                <a:cs typeface="Calibri"/>
              </a:rPr>
              <a:t>The packaged set has 125 lots. 8 lots were held. 117 lots were not held. Those counts are REAL.</a:t>
            </a:r>
          </a:p>
          <a:p>
            <a:pPr algn="l">
              <a:spcBef>
                <a:spcPts val="0"/>
              </a:spcBef>
              <a:spcAft>
                <a:spcPts val="800"/>
              </a:spcAft>
            </a:pPr>
            <a:r>
              <a:rPr sz="1600" b="0" i="0">
                <a:solidFill>
                  <a:srgbClr val="231F20"/>
                </a:solidFill>
                <a:latin typeface="Calibri"/>
                <a:ea typeface="Calibri"/>
                <a:cs typeface="Calibri"/>
              </a:rPr>
              <a:t>A majority guess scores 117 of 125. Leave-one-out scoring also returned 117 of 125. The prediction was rejected.</a:t>
            </a:r>
          </a:p>
          <a:p>
            <a:pPr algn="l">
              <a:spcBef>
                <a:spcPts val="0"/>
              </a:spcBef>
              <a:spcAft>
                <a:spcPts val="800"/>
              </a:spcAft>
            </a:pPr>
            <a:r>
              <a:rPr sz="1600" b="0" i="0">
                <a:solidFill>
                  <a:srgbClr val="231F20"/>
                </a:solidFill>
                <a:latin typeface="Calibri"/>
                <a:ea typeface="Calibri"/>
                <a:cs typeface="Calibri"/>
              </a:rPr>
              <a:t>No production hold scorer is in this build. The hold decision stays with a person in role RT-03.</a:t>
            </a:r>
          </a:p>
        </p:txBody>
      </p:sp>
      <p:sp>
        <p:nvSpPr>
          <p:cNvPr id="6" name="Rounded Rectangle 5"/>
          <p:cNvSpPr/>
          <p:nvPr/>
        </p:nvSpPr>
        <p:spPr>
          <a:xfrm>
            <a:off x="502920" y="3657600"/>
            <a:ext cx="3617976" cy="196596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1208" y="3822191"/>
            <a:ext cx="64008" cy="163677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0"/>
          <p:cNvSpPr txBox="1"/>
          <p:nvPr/>
        </p:nvSpPr>
        <p:spPr>
          <a:xfrm>
            <a:off x="704088" y="3931920"/>
            <a:ext cx="3252216" cy="1371600"/>
          </a:xfrm>
          <a:prstGeom prst="rect">
            <a:avLst/>
          </a:prstGeom>
          <a:noFill/>
        </p:spPr>
        <p:txBody>
          <a:bodyPr wrap="square" lIns="54864" rIns="54864" tIns="36576" bIns="36576" anchor="t"/>
          <a:lstStyle/>
          <a:p>
            <a:pPr algn="l">
              <a:spcBef>
                <a:spcPts val="0"/>
              </a:spcBef>
              <a:spcAft>
                <a:spcPts val="0"/>
              </a:spcAft>
            </a:pPr>
            <a:r>
              <a:rPr sz="1800" b="1" i="0">
                <a:solidFill>
                  <a:srgbClr val="231F20"/>
                </a:solidFill>
                <a:latin typeface="Calibri"/>
                <a:ea typeface="Calibri"/>
                <a:cs typeface="Calibri"/>
              </a:rPr>
              <a:t>125 lots</a:t>
            </a:r>
          </a:p>
          <a:p>
            <a:pPr algn="l">
              <a:spcBef>
                <a:spcPts val="0"/>
              </a:spcBef>
              <a:spcAft>
                <a:spcPts val="0"/>
              </a:spcAft>
            </a:pPr>
            <a:r>
              <a:rPr sz="1500" b="0" i="0">
                <a:solidFill>
                  <a:srgbClr val="4B4B4B"/>
                </a:solidFill>
                <a:latin typeface="Calibri"/>
                <a:ea typeface="Calibri"/>
                <a:cs typeface="Calibri"/>
              </a:rPr>
              <a:t>8 held. 117 not held. REAL.</a:t>
            </a:r>
          </a:p>
        </p:txBody>
      </p:sp>
      <p:sp>
        <p:nvSpPr>
          <p:cNvPr id="9" name="Rounded Rectangle 8"/>
          <p:cNvSpPr/>
          <p:nvPr/>
        </p:nvSpPr>
        <p:spPr>
          <a:xfrm>
            <a:off x="4285488" y="3657600"/>
            <a:ext cx="3617976" cy="196596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03775" y="3822191"/>
            <a:ext cx="64008" cy="163677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1"/>
          <p:cNvSpPr txBox="1"/>
          <p:nvPr/>
        </p:nvSpPr>
        <p:spPr>
          <a:xfrm>
            <a:off x="4486656" y="3931920"/>
            <a:ext cx="3252216" cy="1371600"/>
          </a:xfrm>
          <a:prstGeom prst="rect">
            <a:avLst/>
          </a:prstGeom>
          <a:noFill/>
        </p:spPr>
        <p:txBody>
          <a:bodyPr wrap="square" lIns="54864" rIns="54864" tIns="36576" bIns="36576" anchor="t"/>
          <a:lstStyle/>
          <a:p>
            <a:pPr algn="l">
              <a:spcBef>
                <a:spcPts val="0"/>
              </a:spcBef>
              <a:spcAft>
                <a:spcPts val="0"/>
              </a:spcAft>
            </a:pPr>
            <a:r>
              <a:rPr sz="1800" b="1" i="0">
                <a:solidFill>
                  <a:srgbClr val="231F20"/>
                </a:solidFill>
                <a:latin typeface="Calibri"/>
                <a:ea typeface="Calibri"/>
                <a:cs typeface="Calibri"/>
              </a:rPr>
              <a:t>117 of 125</a:t>
            </a:r>
          </a:p>
          <a:p>
            <a:pPr algn="l">
              <a:spcBef>
                <a:spcPts val="0"/>
              </a:spcBef>
              <a:spcAft>
                <a:spcPts val="0"/>
              </a:spcAft>
            </a:pPr>
            <a:r>
              <a:rPr sz="1500" b="0" i="0">
                <a:solidFill>
                  <a:srgbClr val="4B4B4B"/>
                </a:solidFill>
                <a:latin typeface="Calibri"/>
                <a:ea typeface="Calibri"/>
                <a:cs typeface="Calibri"/>
              </a:rPr>
              <a:t>Majority guess and leave-one-out. REAL.</a:t>
            </a:r>
          </a:p>
        </p:txBody>
      </p:sp>
      <p:sp>
        <p:nvSpPr>
          <p:cNvPr id="12" name="Rounded Rectangle 11"/>
          <p:cNvSpPr/>
          <p:nvPr/>
        </p:nvSpPr>
        <p:spPr>
          <a:xfrm>
            <a:off x="8068056" y="3657600"/>
            <a:ext cx="3617976" cy="196596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86344" y="3822191"/>
            <a:ext cx="64008" cy="1636776"/>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rd:2"/>
          <p:cNvSpPr txBox="1"/>
          <p:nvPr/>
        </p:nvSpPr>
        <p:spPr>
          <a:xfrm>
            <a:off x="8269224" y="3931920"/>
            <a:ext cx="3252216" cy="1371600"/>
          </a:xfrm>
          <a:prstGeom prst="rect">
            <a:avLst/>
          </a:prstGeom>
          <a:noFill/>
        </p:spPr>
        <p:txBody>
          <a:bodyPr wrap="square" lIns="54864" rIns="54864" tIns="36576" bIns="36576" anchor="t"/>
          <a:lstStyle/>
          <a:p>
            <a:pPr algn="l">
              <a:spcBef>
                <a:spcPts val="0"/>
              </a:spcBef>
              <a:spcAft>
                <a:spcPts val="0"/>
              </a:spcAft>
            </a:pPr>
            <a:r>
              <a:rPr sz="1800" b="1" i="0">
                <a:solidFill>
                  <a:srgbClr val="231F20"/>
                </a:solidFill>
                <a:latin typeface="Calibri"/>
                <a:ea typeface="Calibri"/>
                <a:cs typeface="Calibri"/>
              </a:rPr>
              <a:t>Rejected</a:t>
            </a:r>
          </a:p>
          <a:p>
            <a:pPr algn="l">
              <a:spcBef>
                <a:spcPts val="0"/>
              </a:spcBef>
              <a:spcAft>
                <a:spcPts val="0"/>
              </a:spcAft>
            </a:pPr>
            <a:r>
              <a:rPr sz="1500" b="0" i="0">
                <a:solidFill>
                  <a:srgbClr val="4B4B4B"/>
                </a:solidFill>
                <a:latin typeface="Calibri"/>
                <a:ea typeface="Calibri"/>
                <a:cs typeface="Calibri"/>
              </a:rPr>
              <a:t>The model did not beat the simple count.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10</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One second delivery is already on this shift.</a:t>
            </a:r>
          </a:p>
        </p:txBody>
      </p:sp>
      <p:sp>
        <p:nvSpPr>
          <p:cNvPr id="5" name="body"/>
          <p:cNvSpPr txBox="1"/>
          <p:nvPr/>
        </p:nvSpPr>
        <p:spPr>
          <a:xfrm>
            <a:off x="502920" y="1298448"/>
            <a:ext cx="11155680" cy="96012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Partner feed REPLAY-000000000 is a second delivery of reference C00001646.</a:t>
            </a:r>
          </a:p>
          <a:p>
            <a:pPr algn="l">
              <a:spcBef>
                <a:spcPts val="0"/>
              </a:spcBef>
              <a:spcAft>
                <a:spcPts val="800"/>
              </a:spcAft>
            </a:pPr>
            <a:r>
              <a:rPr sz="1600" b="0" i="0">
                <a:solidFill>
                  <a:srgbClr val="231F20"/>
                </a:solidFill>
                <a:latin typeface="Calibri"/>
                <a:ea typeface="Calibri"/>
                <a:cs typeface="Calibri"/>
              </a:rPr>
              <a:t>The first ingest time is 2022-04-25 at 19:09. The second ingest time is 2022-04-25 at 20:09.</a:t>
            </a:r>
          </a:p>
        </p:txBody>
      </p:sp>
      <p:sp>
        <p:nvSpPr>
          <p:cNvPr id="6" name="Rounded Rectangle 5"/>
          <p:cNvSpPr/>
          <p:nvPr/>
        </p:nvSpPr>
        <p:spPr>
          <a:xfrm>
            <a:off x="502920" y="2377440"/>
            <a:ext cx="5509259" cy="320040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1208" y="2542032"/>
            <a:ext cx="64008" cy="287121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76771" y="2377440"/>
            <a:ext cx="5509259" cy="320040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5059" y="2542032"/>
            <a:ext cx="64008" cy="287121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stay"/>
          <p:cNvSpPr txBox="1"/>
          <p:nvPr/>
        </p:nvSpPr>
        <p:spPr>
          <a:xfrm>
            <a:off x="722376" y="2651760"/>
            <a:ext cx="5097779" cy="2560320"/>
          </a:xfrm>
          <a:prstGeom prst="rect">
            <a:avLst/>
          </a:prstGeom>
          <a:noFill/>
        </p:spPr>
        <p:txBody>
          <a:bodyPr wrap="square" lIns="54864" rIns="54864" tIns="36576" bIns="36576" anchor="t"/>
          <a:lstStyle/>
          <a:p>
            <a:pPr algn="l">
              <a:spcBef>
                <a:spcPts val="0"/>
              </a:spcBef>
              <a:spcAft>
                <a:spcPts val="0"/>
              </a:spcAft>
            </a:pPr>
            <a:r>
              <a:rPr sz="1500" b="1" i="0">
                <a:solidFill>
                  <a:srgbClr val="231F20"/>
                </a:solidFill>
                <a:latin typeface="Calibri"/>
                <a:ea typeface="Calibri"/>
                <a:cs typeface="Calibri"/>
              </a:rPr>
              <a:t>If the duplicate stays</a:t>
            </a:r>
          </a:p>
          <a:p>
            <a:pPr algn="l">
              <a:spcBef>
                <a:spcPts val="0"/>
              </a:spcBef>
              <a:spcAft>
                <a:spcPts val="0"/>
              </a:spcAft>
            </a:pPr>
            <a:r>
              <a:rPr sz="1600" b="0" i="0">
                <a:solidFill>
                  <a:srgbClr val="4B4B4B"/>
                </a:solidFill>
                <a:latin typeface="Calibri"/>
                <a:ea typeface="Calibri"/>
                <a:cs typeface="Calibri"/>
              </a:rPr>
              <a:t>The same feed is counted twice on the work queue. The reviewer is looking at one arrival that came in again.</a:t>
            </a:r>
          </a:p>
        </p:txBody>
      </p:sp>
      <p:sp>
        <p:nvSpPr>
          <p:cNvPr id="11" name="card:drop"/>
          <p:cNvSpPr txBox="1"/>
          <p:nvPr/>
        </p:nvSpPr>
        <p:spPr>
          <a:xfrm>
            <a:off x="6396227" y="2651760"/>
            <a:ext cx="5097779" cy="2560320"/>
          </a:xfrm>
          <a:prstGeom prst="rect">
            <a:avLst/>
          </a:prstGeom>
          <a:noFill/>
        </p:spPr>
        <p:txBody>
          <a:bodyPr wrap="square" lIns="54864" rIns="54864" tIns="36576" bIns="36576" anchor="t"/>
          <a:lstStyle/>
          <a:p>
            <a:pPr algn="l">
              <a:spcBef>
                <a:spcPts val="0"/>
              </a:spcBef>
              <a:spcAft>
                <a:spcPts val="0"/>
              </a:spcAft>
            </a:pPr>
            <a:r>
              <a:rPr sz="1500" b="1" i="0">
                <a:solidFill>
                  <a:srgbClr val="231F20"/>
                </a:solidFill>
                <a:latin typeface="Calibri"/>
                <a:ea typeface="Calibri"/>
                <a:cs typeface="Calibri"/>
              </a:rPr>
              <a:t>If the wrong copy is dropped</a:t>
            </a:r>
          </a:p>
          <a:p>
            <a:pPr algn="l">
              <a:spcBef>
                <a:spcPts val="0"/>
              </a:spcBef>
              <a:spcAft>
                <a:spcPts val="0"/>
              </a:spcAft>
            </a:pPr>
            <a:r>
              <a:rPr sz="1600" b="0" i="0">
                <a:solidFill>
                  <a:srgbClr val="4B4B4B"/>
                </a:solidFill>
                <a:latin typeface="Calibri"/>
                <a:ea typeface="Calibri"/>
                <a:cs typeface="Calibri"/>
              </a:rPr>
              <a:t>A true delivery leaves the queue. The page therefore names the role that is allowed to drop it before the click.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11</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One page shows the case, the button, and the result.</a:t>
            </a:r>
          </a:p>
        </p:txBody>
      </p:sp>
      <p:sp>
        <p:nvSpPr>
          <p:cNvPr id="5" name="body"/>
          <p:cNvSpPr txBox="1"/>
          <p:nvPr/>
        </p:nvSpPr>
        <p:spPr>
          <a:xfrm>
            <a:off x="502920" y="1261872"/>
            <a:ext cx="11155680" cy="77724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The reviewer reads the situation, then the evidence, then the red button, then the result. The red button on this case is Review this delivery. The reviewer finishes that click on this page.</a:t>
            </a:r>
          </a:p>
        </p:txBody>
      </p:sp>
      <p:sp>
        <p:nvSpPr>
          <p:cNvPr id="6" name="console-frame"/>
          <p:cNvSpPr/>
          <p:nvPr/>
        </p:nvSpPr>
        <p:spPr>
          <a:xfrm>
            <a:off x="502920" y="2103120"/>
            <a:ext cx="11109960" cy="3977639"/>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212848"/>
            <a:ext cx="10808208" cy="3520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nsole-edge"/>
          <p:cNvSpPr/>
          <p:nvPr/>
        </p:nvSpPr>
        <p:spPr>
          <a:xfrm>
            <a:off x="658368" y="2212848"/>
            <a:ext cx="109728" cy="3520440"/>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 y="2212848"/>
            <a:ext cx="1069848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onsole"/>
          <p:cNvSpPr txBox="1"/>
          <p:nvPr/>
        </p:nvSpPr>
        <p:spPr>
          <a:xfrm>
            <a:off x="877824" y="2231136"/>
            <a:ext cx="5669280" cy="402336"/>
          </a:xfrm>
          <a:prstGeom prst="rect">
            <a:avLst/>
          </a:prstGeom>
          <a:noFill/>
        </p:spPr>
        <p:txBody>
          <a:bodyPr wrap="square" lIns="0" rIns="0" tIns="36576" bIns="36576" anchor="ctr"/>
          <a:lstStyle/>
          <a:p>
            <a:pPr algn="l">
              <a:spcBef>
                <a:spcPts val="0"/>
              </a:spcBef>
              <a:spcAft>
                <a:spcPts val="0"/>
              </a:spcAft>
            </a:pPr>
            <a:r>
              <a:rPr sz="1400" b="0" i="0">
                <a:solidFill>
                  <a:srgbClr val="231F20"/>
                </a:solidFill>
                <a:latin typeface="Calibri"/>
                <a:ea typeface="Calibri"/>
                <a:cs typeface="Calibri"/>
              </a:rPr>
              <a:t>Application A     Port 8100     RT-01</a:t>
            </a:r>
          </a:p>
        </p:txBody>
      </p:sp>
      <p:sp>
        <p:nvSpPr>
          <p:cNvPr id="11" name="pill-label"/>
          <p:cNvSpPr/>
          <p:nvPr/>
        </p:nvSpPr>
        <p:spPr>
          <a:xfrm>
            <a:off x="5705856" y="2286000"/>
            <a:ext cx="822960" cy="274320"/>
          </a:xfrm>
          <a:prstGeom prst="rect">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Bef>
                <a:spcPts val="0"/>
              </a:spcBef>
              <a:spcAft>
                <a:spcPts val="0"/>
              </a:spcAft>
            </a:pPr>
            <a:r>
              <a:rPr sz="900" b="1" i="0">
                <a:solidFill>
                  <a:srgbClr val="ED1C24"/>
                </a:solidFill>
                <a:latin typeface="Calibri"/>
                <a:ea typeface="Calibri"/>
                <a:cs typeface="Calibri"/>
              </a:rPr>
              <a:t>replay</a:t>
            </a:r>
          </a:p>
        </p:txBody>
      </p:sp>
      <p:sp>
        <p:nvSpPr>
          <p:cNvPr id="12" name="Rectangle 11"/>
          <p:cNvSpPr/>
          <p:nvPr/>
        </p:nvSpPr>
        <p:spPr>
          <a:xfrm>
            <a:off x="768096" y="2651760"/>
            <a:ext cx="173736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8096" y="2651760"/>
            <a:ext cx="1737360" cy="3657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onsole"/>
          <p:cNvSpPr txBox="1"/>
          <p:nvPr/>
        </p:nvSpPr>
        <p:spPr>
          <a:xfrm>
            <a:off x="841247" y="2651760"/>
            <a:ext cx="1554480" cy="384048"/>
          </a:xfrm>
          <a:prstGeom prst="rect">
            <a:avLst/>
          </a:prstGeom>
          <a:noFill/>
        </p:spPr>
        <p:txBody>
          <a:bodyPr wrap="square" lIns="18288" rIns="18288" tIns="36576" bIns="36576" anchor="t"/>
          <a:lstStyle/>
          <a:p>
            <a:pPr algn="l">
              <a:spcBef>
                <a:spcPts val="0"/>
              </a:spcBef>
              <a:spcAft>
                <a:spcPts val="0"/>
              </a:spcAft>
            </a:pPr>
            <a:r>
              <a:rPr sz="1300" b="1" i="0">
                <a:solidFill>
                  <a:srgbClr val="231F20"/>
                </a:solidFill>
                <a:latin typeface="Calibri"/>
                <a:ea typeface="Calibri"/>
                <a:cs typeface="Calibri"/>
              </a:rPr>
              <a:t>Replay</a:t>
            </a:r>
          </a:p>
          <a:p>
            <a:pPr algn="l">
              <a:spcBef>
                <a:spcPts val="0"/>
              </a:spcBef>
              <a:spcAft>
                <a:spcPts val="0"/>
              </a:spcAft>
            </a:pPr>
            <a:r>
              <a:rPr sz="1100" b="0" i="0">
                <a:solidFill>
                  <a:srgbClr val="666666"/>
                </a:solidFill>
                <a:latin typeface="Calibri"/>
                <a:ea typeface="Calibri"/>
                <a:cs typeface="Calibri"/>
              </a:rPr>
              <a:t>C00001646</a:t>
            </a:r>
          </a:p>
        </p:txBody>
      </p:sp>
      <p:sp>
        <p:nvSpPr>
          <p:cNvPr id="15" name="Rectangle 14"/>
          <p:cNvSpPr/>
          <p:nvPr/>
        </p:nvSpPr>
        <p:spPr>
          <a:xfrm>
            <a:off x="768096" y="3035808"/>
            <a:ext cx="10698480" cy="2697479"/>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onsole"/>
          <p:cNvSpPr txBox="1"/>
          <p:nvPr/>
        </p:nvSpPr>
        <p:spPr>
          <a:xfrm>
            <a:off x="932688" y="3090672"/>
            <a:ext cx="6858000" cy="640080"/>
          </a:xfrm>
          <a:prstGeom prst="rect">
            <a:avLst/>
          </a:prstGeom>
          <a:noFill/>
        </p:spPr>
        <p:txBody>
          <a:bodyPr wrap="square" lIns="0" rIns="0" tIns="36576" bIns="36576" anchor="t"/>
          <a:lstStyle/>
          <a:p>
            <a:pPr algn="l">
              <a:spcBef>
                <a:spcPts val="0"/>
              </a:spcBef>
              <a:spcAft>
                <a:spcPts val="0"/>
              </a:spcAft>
            </a:pPr>
            <a:r>
              <a:rPr sz="1300" b="0" i="0">
                <a:solidFill>
                  <a:srgbClr val="231F20"/>
                </a:solidFill>
                <a:latin typeface="Calibri"/>
                <a:ea typeface="Calibri"/>
                <a:cs typeface="Calibri"/>
              </a:rPr>
              <a:t>Situation. Partner feed REPLAY-000000000 is a second delivery of C00001646.</a:t>
            </a:r>
          </a:p>
          <a:p>
            <a:pPr algn="l">
              <a:spcBef>
                <a:spcPts val="0"/>
              </a:spcBef>
              <a:spcAft>
                <a:spcPts val="0"/>
              </a:spcAft>
            </a:pPr>
            <a:r>
              <a:rPr sz="1300" b="0" i="0">
                <a:solidFill>
                  <a:srgbClr val="231F20"/>
                </a:solidFill>
                <a:latin typeface="Calibri"/>
                <a:ea typeface="Calibri"/>
                <a:cs typeface="Calibri"/>
              </a:rPr>
              <a:t>Evidence. Ref C00001646. This delivery is not on the queue yet.</a:t>
            </a:r>
          </a:p>
        </p:txBody>
      </p:sp>
      <p:sp>
        <p:nvSpPr>
          <p:cNvPr id="17" name="console"/>
          <p:cNvSpPr/>
          <p:nvPr/>
        </p:nvSpPr>
        <p:spPr>
          <a:xfrm>
            <a:off x="932688" y="3813048"/>
            <a:ext cx="2560320" cy="365760"/>
          </a:xfrm>
          <a:prstGeom prst="roundRect">
            <a:avLst>
              <a:gd name="adj" fmla="val 8000"/>
            </a:avLst>
          </a:prstGeom>
          <a:solidFill>
            <a:srgbClr val="ED1C24"/>
          </a:solidFill>
          <a:ln w="9525">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Bef>
                <a:spcPts val="0"/>
              </a:spcBef>
              <a:spcAft>
                <a:spcPts val="0"/>
              </a:spcAft>
            </a:pPr>
            <a:r>
              <a:rPr sz="1400" b="1" i="0">
                <a:solidFill>
                  <a:srgbClr val="FFFFFF"/>
                </a:solidFill>
                <a:latin typeface="Calibri"/>
                <a:ea typeface="Calibri"/>
                <a:cs typeface="Calibri"/>
              </a:rPr>
              <a:t>Review this delivery</a:t>
            </a:r>
          </a:p>
        </p:txBody>
      </p:sp>
      <p:sp>
        <p:nvSpPr>
          <p:cNvPr id="18" name="Rectangle 17"/>
          <p:cNvSpPr/>
          <p:nvPr/>
        </p:nvSpPr>
        <p:spPr>
          <a:xfrm>
            <a:off x="932688" y="4297679"/>
            <a:ext cx="10332720" cy="347472"/>
          </a:xfrm>
          <a:prstGeom prst="rect">
            <a:avLst/>
          </a:prstGeom>
          <a:solidFill>
            <a:srgbClr val="FCF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32688" y="4297679"/>
            <a:ext cx="73152" cy="347472"/>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onsole"/>
          <p:cNvSpPr txBox="1"/>
          <p:nvPr/>
        </p:nvSpPr>
        <p:spPr>
          <a:xfrm>
            <a:off x="1078992" y="4297679"/>
            <a:ext cx="7315200" cy="347472"/>
          </a:xfrm>
          <a:prstGeom prst="rect">
            <a:avLst/>
          </a:prstGeom>
          <a:noFill/>
        </p:spPr>
        <p:txBody>
          <a:bodyPr wrap="square" lIns="0" rIns="0" tIns="36576" bIns="36576" anchor="ctr"/>
          <a:lstStyle/>
          <a:p>
            <a:pPr algn="l">
              <a:spcBef>
                <a:spcPts val="0"/>
              </a:spcBef>
              <a:spcAft>
                <a:spcPts val="0"/>
              </a:spcAft>
            </a:pPr>
            <a:r>
              <a:rPr sz="1400" b="0" i="0">
                <a:solidFill>
                  <a:srgbClr val="231F20"/>
                </a:solidFill>
                <a:latin typeface="Calibri"/>
                <a:ea typeface="Calibri"/>
                <a:cs typeface="Calibri"/>
              </a:rPr>
              <a:t>Result. Ready. No click has been made yet.</a:t>
            </a:r>
          </a:p>
        </p:txBody>
      </p:sp>
      <p:sp>
        <p:nvSpPr>
          <p:cNvPr id="21" name="caption"/>
          <p:cNvSpPr txBox="1"/>
          <p:nvPr/>
        </p:nvSpPr>
        <p:spPr>
          <a:xfrm>
            <a:off x="658368" y="5779008"/>
            <a:ext cx="5029200" cy="256032"/>
          </a:xfrm>
          <a:prstGeom prst="rect">
            <a:avLst/>
          </a:prstGeom>
          <a:noFill/>
        </p:spPr>
        <p:txBody>
          <a:bodyPr wrap="square" lIns="0" rIns="0" tIns="36576" bIns="36576" anchor="t"/>
          <a:lstStyle/>
          <a:p>
            <a:pPr algn="l">
              <a:spcBef>
                <a:spcPts val="0"/>
              </a:spcBef>
              <a:spcAft>
                <a:spcPts val="0"/>
              </a:spcAft>
            </a:pPr>
            <a:r>
              <a:rPr sz="1200" b="0" i="0">
                <a:solidFill>
                  <a:srgbClr val="666666"/>
                </a:solidFill>
                <a:latin typeface="Calibri"/>
                <a:ea typeface="Calibri"/>
                <a:cs typeface="Calibri"/>
              </a:rPr>
              <a:t>Structure of the console.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12</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The click moves the queue from 196 to 197.</a:t>
            </a:r>
          </a:p>
        </p:txBody>
      </p:sp>
      <p:sp>
        <p:nvSpPr>
          <p:cNvPr id="5" name="body"/>
          <p:cNvSpPr txBox="1"/>
          <p:nvPr/>
        </p:nvSpPr>
        <p:spPr>
          <a:xfrm>
            <a:off x="502920" y="1261872"/>
            <a:ext cx="11155680" cy="114300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Before the click, this delivery is not on the queue and the work-queue count is 196. After Review this delivery, the row says the delivery is on the work queue and the count is 197.</a:t>
            </a:r>
          </a:p>
          <a:p>
            <a:pPr algn="l">
              <a:spcBef>
                <a:spcPts val="0"/>
              </a:spcBef>
              <a:spcAft>
                <a:spcPts val="800"/>
              </a:spcAft>
            </a:pPr>
            <a:r>
              <a:rPr sz="1600" b="0" i="0">
                <a:solidFill>
                  <a:srgbClr val="231F20"/>
                </a:solidFill>
                <a:latin typeface="Calibri"/>
                <a:ea typeface="Calibri"/>
                <a:cs typeface="Calibri"/>
              </a:rPr>
              <a:t>The packaged store still has 67 replay rows. The session added the delivery. The packaged files were not rewritten. Both 67 figures are REAL.</a:t>
            </a:r>
          </a:p>
        </p:txBody>
      </p:sp>
      <p:sp>
        <p:nvSpPr>
          <p:cNvPr id="6" name="Rounded Rectangle 5"/>
          <p:cNvSpPr/>
          <p:nvPr/>
        </p:nvSpPr>
        <p:spPr>
          <a:xfrm>
            <a:off x="502920" y="2514600"/>
            <a:ext cx="5509259" cy="288036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1208" y="2679192"/>
            <a:ext cx="64008" cy="255117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0"/>
          <p:cNvSpPr txBox="1"/>
          <p:nvPr/>
        </p:nvSpPr>
        <p:spPr>
          <a:xfrm>
            <a:off x="704088" y="2624328"/>
            <a:ext cx="5143499" cy="329184"/>
          </a:xfrm>
          <a:prstGeom prst="rect">
            <a:avLst/>
          </a:prstGeom>
          <a:noFill/>
        </p:spPr>
        <p:txBody>
          <a:bodyPr wrap="square" lIns="0" rIns="0" tIns="36576" bIns="36576" anchor="t"/>
          <a:lstStyle/>
          <a:p>
            <a:pPr algn="l">
              <a:spcBef>
                <a:spcPts val="0"/>
              </a:spcBef>
              <a:spcAft>
                <a:spcPts val="0"/>
              </a:spcAft>
            </a:pPr>
            <a:r>
              <a:rPr sz="1400" b="1" i="0">
                <a:solidFill>
                  <a:srgbClr val="666666"/>
                </a:solidFill>
                <a:latin typeface="Calibri"/>
                <a:ea typeface="Calibri"/>
                <a:cs typeface="Calibri"/>
              </a:rPr>
              <a:t>Before the click</a:t>
            </a:r>
          </a:p>
        </p:txBody>
      </p:sp>
      <p:sp>
        <p:nvSpPr>
          <p:cNvPr id="9" name="Rectangle 8"/>
          <p:cNvSpPr/>
          <p:nvPr/>
        </p:nvSpPr>
        <p:spPr>
          <a:xfrm>
            <a:off x="704088" y="3017520"/>
            <a:ext cx="5106923" cy="566928"/>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0"/>
          <p:cNvSpPr txBox="1"/>
          <p:nvPr/>
        </p:nvSpPr>
        <p:spPr>
          <a:xfrm>
            <a:off x="832104" y="3017520"/>
            <a:ext cx="2778633" cy="566928"/>
          </a:xfrm>
          <a:prstGeom prst="rect">
            <a:avLst/>
          </a:prstGeom>
          <a:noFill/>
        </p:spPr>
        <p:txBody>
          <a:bodyPr wrap="square" lIns="36576" rIns="36576" tIns="36576" bIns="36576" anchor="ctr"/>
          <a:lstStyle/>
          <a:p>
            <a:pPr algn="l">
              <a:spcBef>
                <a:spcPts val="0"/>
              </a:spcBef>
              <a:spcAft>
                <a:spcPts val="0"/>
              </a:spcAft>
            </a:pPr>
            <a:r>
              <a:rPr sz="1400" b="1" i="0">
                <a:solidFill>
                  <a:srgbClr val="231F20"/>
                </a:solidFill>
                <a:latin typeface="Calibri"/>
                <a:ea typeface="Calibri"/>
                <a:cs typeface="Calibri"/>
              </a:rPr>
              <a:t>This delivery</a:t>
            </a:r>
          </a:p>
        </p:txBody>
      </p:sp>
      <p:sp>
        <p:nvSpPr>
          <p:cNvPr id="11" name="card:0"/>
          <p:cNvSpPr txBox="1"/>
          <p:nvPr/>
        </p:nvSpPr>
        <p:spPr>
          <a:xfrm>
            <a:off x="3459175" y="3017520"/>
            <a:ext cx="2273426" cy="566928"/>
          </a:xfrm>
          <a:prstGeom prst="rect">
            <a:avLst/>
          </a:prstGeom>
          <a:noFill/>
        </p:spPr>
        <p:txBody>
          <a:bodyPr wrap="square" lIns="36576" rIns="36576" tIns="36576" bIns="36576" anchor="ctr"/>
          <a:lstStyle/>
          <a:p>
            <a:pPr algn="l">
              <a:spcBef>
                <a:spcPts val="0"/>
              </a:spcBef>
              <a:spcAft>
                <a:spcPts val="0"/>
              </a:spcAft>
            </a:pPr>
            <a:r>
              <a:rPr sz="1400" b="0" i="0">
                <a:solidFill>
                  <a:srgbClr val="231F20"/>
                </a:solidFill>
                <a:latin typeface="Calibri"/>
                <a:ea typeface="Calibri"/>
                <a:cs typeface="Calibri"/>
              </a:rPr>
              <a:t>not on the queue</a:t>
            </a:r>
          </a:p>
        </p:txBody>
      </p:sp>
      <p:sp>
        <p:nvSpPr>
          <p:cNvPr id="12" name="Rectangle 11"/>
          <p:cNvSpPr/>
          <p:nvPr/>
        </p:nvSpPr>
        <p:spPr>
          <a:xfrm>
            <a:off x="704088" y="3675887"/>
            <a:ext cx="5106923" cy="566928"/>
          </a:xfrm>
          <a:prstGeom prst="rect">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ard:0"/>
          <p:cNvSpPr txBox="1"/>
          <p:nvPr/>
        </p:nvSpPr>
        <p:spPr>
          <a:xfrm>
            <a:off x="832104" y="3675887"/>
            <a:ext cx="2778633" cy="566928"/>
          </a:xfrm>
          <a:prstGeom prst="rect">
            <a:avLst/>
          </a:prstGeom>
          <a:noFill/>
        </p:spPr>
        <p:txBody>
          <a:bodyPr wrap="square" lIns="36576" rIns="36576" tIns="36576" bIns="36576" anchor="ctr"/>
          <a:lstStyle/>
          <a:p>
            <a:pPr algn="l">
              <a:spcBef>
                <a:spcPts val="0"/>
              </a:spcBef>
              <a:spcAft>
                <a:spcPts val="0"/>
              </a:spcAft>
            </a:pPr>
            <a:r>
              <a:rPr sz="1400" b="1" i="0">
                <a:solidFill>
                  <a:srgbClr val="231F20"/>
                </a:solidFill>
                <a:latin typeface="Calibri"/>
                <a:ea typeface="Calibri"/>
                <a:cs typeface="Calibri"/>
              </a:rPr>
              <a:t>Work-queue count</a:t>
            </a:r>
          </a:p>
        </p:txBody>
      </p:sp>
      <p:sp>
        <p:nvSpPr>
          <p:cNvPr id="14" name="card:0"/>
          <p:cNvSpPr txBox="1"/>
          <p:nvPr/>
        </p:nvSpPr>
        <p:spPr>
          <a:xfrm>
            <a:off x="3459175" y="3675887"/>
            <a:ext cx="2273426" cy="566928"/>
          </a:xfrm>
          <a:prstGeom prst="rect">
            <a:avLst/>
          </a:prstGeom>
          <a:noFill/>
        </p:spPr>
        <p:txBody>
          <a:bodyPr wrap="square" lIns="36576" rIns="36576" tIns="36576" bIns="36576" anchor="ctr"/>
          <a:lstStyle/>
          <a:p>
            <a:pPr algn="l">
              <a:spcBef>
                <a:spcPts val="0"/>
              </a:spcBef>
              <a:spcAft>
                <a:spcPts val="0"/>
              </a:spcAft>
            </a:pPr>
            <a:r>
              <a:rPr sz="1400" b="0" i="0">
                <a:solidFill>
                  <a:srgbClr val="231F20"/>
                </a:solidFill>
                <a:latin typeface="Calibri"/>
                <a:ea typeface="Calibri"/>
                <a:cs typeface="Calibri"/>
              </a:rPr>
              <a:t>196</a:t>
            </a:r>
          </a:p>
        </p:txBody>
      </p:sp>
      <p:sp>
        <p:nvSpPr>
          <p:cNvPr id="15" name="Rectangle 14"/>
          <p:cNvSpPr/>
          <p:nvPr/>
        </p:nvSpPr>
        <p:spPr>
          <a:xfrm>
            <a:off x="704088" y="4334256"/>
            <a:ext cx="5106923" cy="566928"/>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0"/>
          <p:cNvSpPr txBox="1"/>
          <p:nvPr/>
        </p:nvSpPr>
        <p:spPr>
          <a:xfrm>
            <a:off x="832104" y="4334256"/>
            <a:ext cx="2778633" cy="566928"/>
          </a:xfrm>
          <a:prstGeom prst="rect">
            <a:avLst/>
          </a:prstGeom>
          <a:noFill/>
        </p:spPr>
        <p:txBody>
          <a:bodyPr wrap="square" lIns="36576" rIns="36576" tIns="36576" bIns="36576" anchor="ctr"/>
          <a:lstStyle/>
          <a:p>
            <a:pPr algn="l">
              <a:spcBef>
                <a:spcPts val="0"/>
              </a:spcBef>
              <a:spcAft>
                <a:spcPts val="0"/>
              </a:spcAft>
            </a:pPr>
            <a:r>
              <a:rPr sz="1400" b="1" i="0">
                <a:solidFill>
                  <a:srgbClr val="231F20"/>
                </a:solidFill>
                <a:latin typeface="Calibri"/>
                <a:ea typeface="Calibri"/>
                <a:cs typeface="Calibri"/>
              </a:rPr>
              <a:t>Packaged replay rows</a:t>
            </a:r>
          </a:p>
        </p:txBody>
      </p:sp>
      <p:sp>
        <p:nvSpPr>
          <p:cNvPr id="17" name="card:0"/>
          <p:cNvSpPr txBox="1"/>
          <p:nvPr/>
        </p:nvSpPr>
        <p:spPr>
          <a:xfrm>
            <a:off x="3459175" y="4334256"/>
            <a:ext cx="2273426" cy="566928"/>
          </a:xfrm>
          <a:prstGeom prst="rect">
            <a:avLst/>
          </a:prstGeom>
          <a:noFill/>
        </p:spPr>
        <p:txBody>
          <a:bodyPr wrap="square" lIns="36576" rIns="36576" tIns="36576" bIns="36576" anchor="ctr"/>
          <a:lstStyle/>
          <a:p>
            <a:pPr algn="l">
              <a:spcBef>
                <a:spcPts val="0"/>
              </a:spcBef>
              <a:spcAft>
                <a:spcPts val="0"/>
              </a:spcAft>
            </a:pPr>
            <a:r>
              <a:rPr sz="1400" b="0" i="0">
                <a:solidFill>
                  <a:srgbClr val="231F20"/>
                </a:solidFill>
                <a:latin typeface="Calibri"/>
                <a:ea typeface="Calibri"/>
                <a:cs typeface="Calibri"/>
              </a:rPr>
              <a:t>67</a:t>
            </a:r>
          </a:p>
        </p:txBody>
      </p:sp>
      <p:sp>
        <p:nvSpPr>
          <p:cNvPr id="18" name="Rounded Rectangle 17"/>
          <p:cNvSpPr/>
          <p:nvPr/>
        </p:nvSpPr>
        <p:spPr>
          <a:xfrm>
            <a:off x="6176771" y="2514600"/>
            <a:ext cx="5509259" cy="288036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5059" y="2679192"/>
            <a:ext cx="64008" cy="255117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ard:1"/>
          <p:cNvSpPr txBox="1"/>
          <p:nvPr/>
        </p:nvSpPr>
        <p:spPr>
          <a:xfrm>
            <a:off x="6377939" y="2624328"/>
            <a:ext cx="5143499" cy="329184"/>
          </a:xfrm>
          <a:prstGeom prst="rect">
            <a:avLst/>
          </a:prstGeom>
          <a:noFill/>
        </p:spPr>
        <p:txBody>
          <a:bodyPr wrap="square" lIns="0" rIns="0" tIns="36576" bIns="36576" anchor="t"/>
          <a:lstStyle/>
          <a:p>
            <a:pPr algn="l">
              <a:spcBef>
                <a:spcPts val="0"/>
              </a:spcBef>
              <a:spcAft>
                <a:spcPts val="0"/>
              </a:spcAft>
            </a:pPr>
            <a:r>
              <a:rPr sz="1400" b="1" i="0">
                <a:solidFill>
                  <a:srgbClr val="666666"/>
                </a:solidFill>
                <a:latin typeface="Calibri"/>
                <a:ea typeface="Calibri"/>
                <a:cs typeface="Calibri"/>
              </a:rPr>
              <a:t>After Review this delivery</a:t>
            </a:r>
          </a:p>
        </p:txBody>
      </p:sp>
      <p:sp>
        <p:nvSpPr>
          <p:cNvPr id="21" name="Rectangle 20"/>
          <p:cNvSpPr/>
          <p:nvPr/>
        </p:nvSpPr>
        <p:spPr>
          <a:xfrm>
            <a:off x="6377939" y="3017520"/>
            <a:ext cx="5106923" cy="566928"/>
          </a:xfrm>
          <a:prstGeom prst="rect">
            <a:avLst/>
          </a:prstGeom>
          <a:solidFill>
            <a:srgbClr val="FCF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77939" y="3017520"/>
            <a:ext cx="73152" cy="566928"/>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txBox="1"/>
          <p:nvPr/>
        </p:nvSpPr>
        <p:spPr>
          <a:xfrm>
            <a:off x="6505955" y="3017520"/>
            <a:ext cx="2778633" cy="566928"/>
          </a:xfrm>
          <a:prstGeom prst="rect">
            <a:avLst/>
          </a:prstGeom>
          <a:noFill/>
        </p:spPr>
        <p:txBody>
          <a:bodyPr wrap="square" lIns="36576" rIns="36576" tIns="36576" bIns="36576" anchor="ctr"/>
          <a:lstStyle/>
          <a:p>
            <a:pPr algn="l">
              <a:spcBef>
                <a:spcPts val="0"/>
              </a:spcBef>
              <a:spcAft>
                <a:spcPts val="0"/>
              </a:spcAft>
            </a:pPr>
            <a:r>
              <a:rPr sz="1400" b="1" i="0">
                <a:solidFill>
                  <a:srgbClr val="231F20"/>
                </a:solidFill>
                <a:latin typeface="Calibri"/>
                <a:ea typeface="Calibri"/>
                <a:cs typeface="Calibri"/>
              </a:rPr>
              <a:t>This delivery</a:t>
            </a:r>
          </a:p>
        </p:txBody>
      </p:sp>
      <p:sp>
        <p:nvSpPr>
          <p:cNvPr id="24" name="card:1"/>
          <p:cNvSpPr txBox="1"/>
          <p:nvPr/>
        </p:nvSpPr>
        <p:spPr>
          <a:xfrm>
            <a:off x="9133027" y="3017520"/>
            <a:ext cx="2273426" cy="566928"/>
          </a:xfrm>
          <a:prstGeom prst="rect">
            <a:avLst/>
          </a:prstGeom>
          <a:noFill/>
        </p:spPr>
        <p:txBody>
          <a:bodyPr wrap="square" lIns="36576" rIns="36576" tIns="36576" bIns="36576" anchor="ctr"/>
          <a:lstStyle/>
          <a:p>
            <a:pPr algn="l">
              <a:spcBef>
                <a:spcPts val="0"/>
              </a:spcBef>
              <a:spcAft>
                <a:spcPts val="0"/>
              </a:spcAft>
            </a:pPr>
            <a:r>
              <a:rPr sz="1400" b="0" i="0">
                <a:solidFill>
                  <a:srgbClr val="231F20"/>
                </a:solidFill>
                <a:latin typeface="Calibri"/>
                <a:ea typeface="Calibri"/>
                <a:cs typeface="Calibri"/>
              </a:rPr>
              <a:t>on the work queue</a:t>
            </a:r>
          </a:p>
        </p:txBody>
      </p:sp>
      <p:sp>
        <p:nvSpPr>
          <p:cNvPr id="25" name="Rectangle 24"/>
          <p:cNvSpPr/>
          <p:nvPr/>
        </p:nvSpPr>
        <p:spPr>
          <a:xfrm>
            <a:off x="6377939" y="3675887"/>
            <a:ext cx="5106923" cy="566928"/>
          </a:xfrm>
          <a:prstGeom prst="rect">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ard:1"/>
          <p:cNvSpPr txBox="1"/>
          <p:nvPr/>
        </p:nvSpPr>
        <p:spPr>
          <a:xfrm>
            <a:off x="6505955" y="3675887"/>
            <a:ext cx="2778633" cy="566928"/>
          </a:xfrm>
          <a:prstGeom prst="rect">
            <a:avLst/>
          </a:prstGeom>
          <a:noFill/>
        </p:spPr>
        <p:txBody>
          <a:bodyPr wrap="square" lIns="36576" rIns="36576" tIns="36576" bIns="36576" anchor="ctr"/>
          <a:lstStyle/>
          <a:p>
            <a:pPr algn="l">
              <a:spcBef>
                <a:spcPts val="0"/>
              </a:spcBef>
              <a:spcAft>
                <a:spcPts val="0"/>
              </a:spcAft>
            </a:pPr>
            <a:r>
              <a:rPr sz="1400" b="1" i="0">
                <a:solidFill>
                  <a:srgbClr val="231F20"/>
                </a:solidFill>
                <a:latin typeface="Calibri"/>
                <a:ea typeface="Calibri"/>
                <a:cs typeface="Calibri"/>
              </a:rPr>
              <a:t>Work-queue count</a:t>
            </a:r>
          </a:p>
        </p:txBody>
      </p:sp>
      <p:sp>
        <p:nvSpPr>
          <p:cNvPr id="27" name="card:1"/>
          <p:cNvSpPr txBox="1"/>
          <p:nvPr/>
        </p:nvSpPr>
        <p:spPr>
          <a:xfrm>
            <a:off x="9133027" y="3675887"/>
            <a:ext cx="2273426" cy="566928"/>
          </a:xfrm>
          <a:prstGeom prst="rect">
            <a:avLst/>
          </a:prstGeom>
          <a:noFill/>
        </p:spPr>
        <p:txBody>
          <a:bodyPr wrap="square" lIns="36576" rIns="36576" tIns="36576" bIns="36576" anchor="ctr"/>
          <a:lstStyle/>
          <a:p>
            <a:pPr algn="l">
              <a:spcBef>
                <a:spcPts val="0"/>
              </a:spcBef>
              <a:spcAft>
                <a:spcPts val="0"/>
              </a:spcAft>
            </a:pPr>
            <a:r>
              <a:rPr sz="1400" b="0" i="0">
                <a:solidFill>
                  <a:srgbClr val="231F20"/>
                </a:solidFill>
                <a:latin typeface="Calibri"/>
                <a:ea typeface="Calibri"/>
                <a:cs typeface="Calibri"/>
              </a:rPr>
              <a:t>197</a:t>
            </a:r>
          </a:p>
        </p:txBody>
      </p:sp>
      <p:sp>
        <p:nvSpPr>
          <p:cNvPr id="28" name="Rectangle 27"/>
          <p:cNvSpPr/>
          <p:nvPr/>
        </p:nvSpPr>
        <p:spPr>
          <a:xfrm>
            <a:off x="6377939" y="4334256"/>
            <a:ext cx="5106923" cy="566928"/>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rd:1"/>
          <p:cNvSpPr txBox="1"/>
          <p:nvPr/>
        </p:nvSpPr>
        <p:spPr>
          <a:xfrm>
            <a:off x="6505955" y="4334256"/>
            <a:ext cx="2778633" cy="566928"/>
          </a:xfrm>
          <a:prstGeom prst="rect">
            <a:avLst/>
          </a:prstGeom>
          <a:noFill/>
        </p:spPr>
        <p:txBody>
          <a:bodyPr wrap="square" lIns="36576" rIns="36576" tIns="36576" bIns="36576" anchor="ctr"/>
          <a:lstStyle/>
          <a:p>
            <a:pPr algn="l">
              <a:spcBef>
                <a:spcPts val="0"/>
              </a:spcBef>
              <a:spcAft>
                <a:spcPts val="0"/>
              </a:spcAft>
            </a:pPr>
            <a:r>
              <a:rPr sz="1400" b="1" i="0">
                <a:solidFill>
                  <a:srgbClr val="231F20"/>
                </a:solidFill>
                <a:latin typeface="Calibri"/>
                <a:ea typeface="Calibri"/>
                <a:cs typeface="Calibri"/>
              </a:rPr>
              <a:t>Packaged replay rows</a:t>
            </a:r>
          </a:p>
        </p:txBody>
      </p:sp>
      <p:sp>
        <p:nvSpPr>
          <p:cNvPr id="30" name="card:1"/>
          <p:cNvSpPr txBox="1"/>
          <p:nvPr/>
        </p:nvSpPr>
        <p:spPr>
          <a:xfrm>
            <a:off x="9133027" y="4334256"/>
            <a:ext cx="2273426" cy="566928"/>
          </a:xfrm>
          <a:prstGeom prst="rect">
            <a:avLst/>
          </a:prstGeom>
          <a:noFill/>
        </p:spPr>
        <p:txBody>
          <a:bodyPr wrap="square" lIns="36576" rIns="36576" tIns="36576" bIns="36576" anchor="ctr"/>
          <a:lstStyle/>
          <a:p>
            <a:pPr algn="l">
              <a:spcBef>
                <a:spcPts val="0"/>
              </a:spcBef>
              <a:spcAft>
                <a:spcPts val="0"/>
              </a:spcAft>
            </a:pPr>
            <a:r>
              <a:rPr sz="1400" b="0" i="0">
                <a:solidFill>
                  <a:srgbClr val="231F20"/>
                </a:solidFill>
                <a:latin typeface="Calibri"/>
                <a:ea typeface="Calibri"/>
                <a:cs typeface="Calibri"/>
              </a:rPr>
              <a:t>67</a:t>
            </a:r>
          </a:p>
        </p:txBody>
      </p:sp>
      <p:sp>
        <p:nvSpPr>
          <p:cNvPr id="31" name="body"/>
          <p:cNvSpPr txBox="1"/>
          <p:nvPr/>
        </p:nvSpPr>
        <p:spPr>
          <a:xfrm>
            <a:off x="502920" y="5532120"/>
            <a:ext cx="11155680" cy="640080"/>
          </a:xfrm>
          <a:prstGeom prst="rect">
            <a:avLst/>
          </a:prstGeom>
          <a:noFill/>
        </p:spPr>
        <p:txBody>
          <a:bodyPr wrap="square" lIns="0" rIns="73152" tIns="18288" bIns="0"/>
          <a:lstStyle/>
          <a:p>
            <a:pPr algn="l">
              <a:spcBef>
                <a:spcPts val="0"/>
              </a:spcBef>
              <a:spcAft>
                <a:spcPts val="800"/>
              </a:spcAft>
            </a:pPr>
            <a:r>
              <a:rPr sz="1500" b="0" i="0">
                <a:solidFill>
                  <a:srgbClr val="231F20"/>
                </a:solidFill>
                <a:latin typeface="Calibri"/>
                <a:ea typeface="Calibri"/>
                <a:cs typeface="Calibri"/>
              </a:rPr>
              <a:t>The result line stays on the page. It says the work-queue count is 197 and the packaged replay count is 67.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13</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Only RT-05 can drop the duplicate.</a:t>
            </a:r>
          </a:p>
        </p:txBody>
      </p:sp>
      <p:sp>
        <p:nvSpPr>
          <p:cNvPr id="5" name="body"/>
          <p:cNvSpPr txBox="1"/>
          <p:nvPr/>
        </p:nvSpPr>
        <p:spPr>
          <a:xfrm>
            <a:off x="502920" y="1280160"/>
            <a:ext cx="11155680" cy="73152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The page names that role before the click. A wrong role is part of the demonstration. The evidence row stays put until the allowed role clicks.</a:t>
            </a:r>
          </a:p>
        </p:txBody>
      </p:sp>
      <p:sp>
        <p:nvSpPr>
          <p:cNvPr id="6" name="Rounded Rectangle 5"/>
          <p:cNvSpPr/>
          <p:nvPr/>
        </p:nvSpPr>
        <p:spPr>
          <a:xfrm>
            <a:off x="502920" y="2103120"/>
            <a:ext cx="5509259" cy="356616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1208" y="2267712"/>
            <a:ext cx="64008" cy="323697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76771" y="2103120"/>
            <a:ext cx="5509259" cy="356616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5059" y="2267712"/>
            <a:ext cx="64008" cy="323697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refused"/>
          <p:cNvSpPr txBox="1"/>
          <p:nvPr/>
        </p:nvSpPr>
        <p:spPr>
          <a:xfrm>
            <a:off x="722376" y="2331720"/>
            <a:ext cx="5097779" cy="3108960"/>
          </a:xfrm>
          <a:prstGeom prst="rect">
            <a:avLst/>
          </a:prstGeom>
          <a:noFill/>
        </p:spPr>
        <p:txBody>
          <a:bodyPr wrap="square" lIns="54864" rIns="54864" tIns="36576" bIns="36576" anchor="t"/>
          <a:lstStyle/>
          <a:p>
            <a:pPr algn="l">
              <a:spcBef>
                <a:spcPts val="0"/>
              </a:spcBef>
              <a:spcAft>
                <a:spcPts val="0"/>
              </a:spcAft>
            </a:pPr>
            <a:r>
              <a:rPr sz="1500" b="1" i="0">
                <a:solidFill>
                  <a:srgbClr val="231F20"/>
                </a:solidFill>
                <a:latin typeface="Calibri"/>
                <a:ea typeface="Calibri"/>
                <a:cs typeface="Calibri"/>
              </a:rPr>
              <a:t>What the page says first</a:t>
            </a:r>
          </a:p>
          <a:p>
            <a:pPr algn="l">
              <a:spcBef>
                <a:spcPts val="0"/>
              </a:spcBef>
              <a:spcAft>
                <a:spcPts val="0"/>
              </a:spcAft>
            </a:pPr>
            <a:r>
              <a:rPr sz="1600" b="0" i="0">
                <a:solidFill>
                  <a:srgbClr val="4B4B4B"/>
                </a:solidFill>
                <a:latin typeface="Calibri"/>
                <a:ea typeface="Calibri"/>
                <a:cs typeface="Calibri"/>
              </a:rPr>
              <a:t>Drop is recorded only by RT-05 Operations Analyst.</a:t>
            </a:r>
          </a:p>
          <a:p>
            <a:pPr algn="l">
              <a:spcBef>
                <a:spcPts val="0"/>
              </a:spcBef>
              <a:spcAft>
                <a:spcPts val="0"/>
              </a:spcAft>
            </a:pPr>
            <a:r>
              <a:rPr sz="1600" b="0" i="0">
                <a:solidFill>
                  <a:srgbClr val="231F20"/>
                </a:solidFill>
                <a:latin typeface="Calibri"/>
                <a:ea typeface="Calibri"/>
                <a:cs typeface="Calibri"/>
              </a:rPr>
              <a:t>RT-01 clicks Drop this duplicate. The page says: Refused. Confirm drop waits for RT-05. The current role is RT-01.</a:t>
            </a:r>
          </a:p>
        </p:txBody>
      </p:sp>
      <p:sp>
        <p:nvSpPr>
          <p:cNvPr id="11" name="card:success"/>
          <p:cNvSpPr txBox="1"/>
          <p:nvPr/>
        </p:nvSpPr>
        <p:spPr>
          <a:xfrm>
            <a:off x="6396227" y="2331720"/>
            <a:ext cx="5097779" cy="3108960"/>
          </a:xfrm>
          <a:prstGeom prst="rect">
            <a:avLst/>
          </a:prstGeom>
          <a:noFill/>
        </p:spPr>
        <p:txBody>
          <a:bodyPr wrap="square" lIns="54864" rIns="54864" tIns="36576" bIns="36576" anchor="t"/>
          <a:lstStyle/>
          <a:p>
            <a:pPr algn="l">
              <a:spcBef>
                <a:spcPts val="0"/>
              </a:spcBef>
              <a:spcAft>
                <a:spcPts val="0"/>
              </a:spcAft>
            </a:pPr>
            <a:r>
              <a:rPr sz="1500" b="1" i="0">
                <a:solidFill>
                  <a:srgbClr val="231F20"/>
                </a:solidFill>
                <a:latin typeface="Calibri"/>
                <a:ea typeface="Calibri"/>
                <a:cs typeface="Calibri"/>
              </a:rPr>
              <a:t>What the page says after RT-05 clicks</a:t>
            </a:r>
          </a:p>
          <a:p>
            <a:pPr algn="l">
              <a:spcBef>
                <a:spcPts val="0"/>
              </a:spcBef>
              <a:spcAft>
                <a:spcPts val="0"/>
              </a:spcAft>
            </a:pPr>
            <a:r>
              <a:rPr sz="1600" b="0" i="0">
                <a:solidFill>
                  <a:srgbClr val="4B4B4B"/>
                </a:solidFill>
                <a:latin typeface="Calibri"/>
                <a:ea typeface="Calibri"/>
                <a:cs typeface="Calibri"/>
              </a:rPr>
              <a:t>RT-05 dropped the duplicate. The work-queue count returns to 196. The delivery row reads dropped.</a:t>
            </a:r>
          </a:p>
          <a:p>
            <a:pPr algn="l">
              <a:spcBef>
                <a:spcPts val="0"/>
              </a:spcBef>
              <a:spcAft>
                <a:spcPts val="0"/>
              </a:spcAft>
            </a:pPr>
            <a:r>
              <a:rPr sz="1600" b="0" i="0">
                <a:solidFill>
                  <a:srgbClr val="231F20"/>
                </a:solidFill>
                <a:latin typeface="Calibri"/>
                <a:ea typeface="Calibri"/>
                <a:cs typeface="Calibri"/>
              </a:rPr>
              <a:t>Packaged replay rows stay 67. One person reviews the delivery. Another person drops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14</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Seven moves finish this case on the live page.</a:t>
            </a:r>
          </a:p>
        </p:txBody>
      </p:sp>
      <p:sp>
        <p:nvSpPr>
          <p:cNvPr id="5" name="body"/>
          <p:cNvSpPr txBox="1"/>
          <p:nvPr/>
        </p:nvSpPr>
        <p:spPr>
          <a:xfrm>
            <a:off x="502920" y="1261872"/>
            <a:ext cx="11155680" cy="64008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Leave this slide up. The role picker starts at RT-01. The runtime pill says replay. Open Application A on port 8100 and use the Replay tab.</a:t>
            </a:r>
          </a:p>
        </p:txBody>
      </p:sp>
      <p:sp>
        <p:nvSpPr>
          <p:cNvPr id="6" name="move"/>
          <p:cNvSpPr/>
          <p:nvPr/>
        </p:nvSpPr>
        <p:spPr>
          <a:xfrm>
            <a:off x="502920" y="1965960"/>
            <a:ext cx="365760" cy="365760"/>
          </a:xfrm>
          <a:prstGeom prst="ellipse">
            <a:avLst/>
          </a:prstGeom>
          <a:solidFill>
            <a:srgbClr val="FFFFFF"/>
          </a:solidFill>
          <a:ln w="17780">
            <a:solidFill>
              <a:srgbClr val="ED1C2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Bef>
                <a:spcPts val="0"/>
              </a:spcBef>
              <a:spcAft>
                <a:spcPts val="0"/>
              </a:spcAft>
            </a:pPr>
            <a:r>
              <a:rPr sz="1400" b="1" i="0">
                <a:solidFill>
                  <a:srgbClr val="231F20"/>
                </a:solidFill>
                <a:latin typeface="Calibri"/>
                <a:ea typeface="Calibri"/>
                <a:cs typeface="Calibri"/>
              </a:rPr>
              <a:t>1</a:t>
            </a:r>
          </a:p>
        </p:txBody>
      </p:sp>
      <p:sp>
        <p:nvSpPr>
          <p:cNvPr id="7" name="move"/>
          <p:cNvSpPr txBox="1"/>
          <p:nvPr/>
        </p:nvSpPr>
        <p:spPr>
          <a:xfrm>
            <a:off x="1005840" y="1965960"/>
            <a:ext cx="6217920" cy="365760"/>
          </a:xfrm>
          <a:prstGeom prst="rect">
            <a:avLst/>
          </a:prstGeom>
          <a:noFill/>
        </p:spPr>
        <p:txBody>
          <a:bodyPr wrap="square" lIns="0" rIns="0" tIns="36576" bIns="36576" anchor="ctr"/>
          <a:lstStyle/>
          <a:p>
            <a:pPr algn="l">
              <a:spcBef>
                <a:spcPts val="0"/>
              </a:spcBef>
              <a:spcAft>
                <a:spcPts val="0"/>
              </a:spcAft>
            </a:pPr>
            <a:r>
              <a:rPr sz="1500" b="1" i="0">
                <a:solidFill>
                  <a:srgbClr val="231F20"/>
                </a:solidFill>
                <a:latin typeface="Calibri"/>
                <a:ea typeface="Calibri"/>
                <a:cs typeface="Calibri"/>
              </a:rPr>
              <a:t>Open the Replay tab</a:t>
            </a:r>
          </a:p>
        </p:txBody>
      </p:sp>
      <p:sp>
        <p:nvSpPr>
          <p:cNvPr id="8" name="move"/>
          <p:cNvSpPr txBox="1"/>
          <p:nvPr/>
        </p:nvSpPr>
        <p:spPr>
          <a:xfrm>
            <a:off x="7223760" y="1965960"/>
            <a:ext cx="4297680" cy="365760"/>
          </a:xfrm>
          <a:prstGeom prst="rect">
            <a:avLst/>
          </a:prstGeom>
          <a:noFill/>
        </p:spPr>
        <p:txBody>
          <a:bodyPr wrap="square" lIns="0" rIns="0" tIns="36576" bIns="36576" anchor="ctr"/>
          <a:lstStyle/>
          <a:p>
            <a:pPr algn="r">
              <a:spcBef>
                <a:spcPts val="0"/>
              </a:spcBef>
              <a:spcAft>
                <a:spcPts val="0"/>
              </a:spcAft>
            </a:pPr>
            <a:r>
              <a:rPr sz="1300" b="0" i="0">
                <a:solidFill>
                  <a:srgbClr val="666666"/>
                </a:solidFill>
                <a:latin typeface="Calibri"/>
                <a:ea typeface="Calibri"/>
                <a:cs typeface="Calibri"/>
              </a:rPr>
              <a:t>Point at C00001646</a:t>
            </a:r>
          </a:p>
        </p:txBody>
      </p:sp>
      <p:sp>
        <p:nvSpPr>
          <p:cNvPr id="9" name="move"/>
          <p:cNvSpPr/>
          <p:nvPr/>
        </p:nvSpPr>
        <p:spPr>
          <a:xfrm>
            <a:off x="502920" y="2532888"/>
            <a:ext cx="365760" cy="365760"/>
          </a:xfrm>
          <a:prstGeom prst="ellipse">
            <a:avLst/>
          </a:prstGeom>
          <a:solidFill>
            <a:srgbClr val="FFFFFF"/>
          </a:solidFill>
          <a:ln w="17780">
            <a:solidFill>
              <a:srgbClr val="ED1C2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Bef>
                <a:spcPts val="0"/>
              </a:spcBef>
              <a:spcAft>
                <a:spcPts val="0"/>
              </a:spcAft>
            </a:pPr>
            <a:r>
              <a:rPr sz="1400" b="1" i="0">
                <a:solidFill>
                  <a:srgbClr val="231F20"/>
                </a:solidFill>
                <a:latin typeface="Calibri"/>
                <a:ea typeface="Calibri"/>
                <a:cs typeface="Calibri"/>
              </a:rPr>
              <a:t>2</a:t>
            </a:r>
          </a:p>
        </p:txBody>
      </p:sp>
      <p:sp>
        <p:nvSpPr>
          <p:cNvPr id="10" name="move"/>
          <p:cNvSpPr txBox="1"/>
          <p:nvPr/>
        </p:nvSpPr>
        <p:spPr>
          <a:xfrm>
            <a:off x="1005840" y="2532888"/>
            <a:ext cx="6217920" cy="365760"/>
          </a:xfrm>
          <a:prstGeom prst="rect">
            <a:avLst/>
          </a:prstGeom>
          <a:noFill/>
        </p:spPr>
        <p:txBody>
          <a:bodyPr wrap="square" lIns="0" rIns="0" tIns="36576" bIns="36576" anchor="ctr"/>
          <a:lstStyle/>
          <a:p>
            <a:pPr algn="l">
              <a:spcBef>
                <a:spcPts val="0"/>
              </a:spcBef>
              <a:spcAft>
                <a:spcPts val="0"/>
              </a:spcAft>
            </a:pPr>
            <a:r>
              <a:rPr sz="1500" b="1" i="0">
                <a:solidFill>
                  <a:srgbClr val="231F20"/>
                </a:solidFill>
                <a:latin typeface="Calibri"/>
                <a:ea typeface="Calibri"/>
                <a:cs typeface="Calibri"/>
              </a:rPr>
              <a:t>Read the situation sentence</a:t>
            </a:r>
          </a:p>
        </p:txBody>
      </p:sp>
      <p:sp>
        <p:nvSpPr>
          <p:cNvPr id="11" name="move"/>
          <p:cNvSpPr txBox="1"/>
          <p:nvPr/>
        </p:nvSpPr>
        <p:spPr>
          <a:xfrm>
            <a:off x="7223760" y="2532888"/>
            <a:ext cx="4297680" cy="365760"/>
          </a:xfrm>
          <a:prstGeom prst="rect">
            <a:avLst/>
          </a:prstGeom>
          <a:noFill/>
        </p:spPr>
        <p:txBody>
          <a:bodyPr wrap="square" lIns="0" rIns="0" tIns="36576" bIns="36576" anchor="ctr"/>
          <a:lstStyle/>
          <a:p>
            <a:pPr algn="r">
              <a:spcBef>
                <a:spcPts val="0"/>
              </a:spcBef>
              <a:spcAft>
                <a:spcPts val="0"/>
              </a:spcAft>
            </a:pPr>
            <a:r>
              <a:rPr sz="1300" b="0" i="0">
                <a:solidFill>
                  <a:srgbClr val="666666"/>
                </a:solidFill>
                <a:latin typeface="Calibri"/>
                <a:ea typeface="Calibri"/>
                <a:cs typeface="Calibri"/>
              </a:rPr>
              <a:t>Point at 19:09 and 20:09</a:t>
            </a:r>
          </a:p>
        </p:txBody>
      </p:sp>
      <p:sp>
        <p:nvSpPr>
          <p:cNvPr id="12" name="move"/>
          <p:cNvSpPr/>
          <p:nvPr/>
        </p:nvSpPr>
        <p:spPr>
          <a:xfrm>
            <a:off x="502920" y="3099815"/>
            <a:ext cx="365760" cy="365760"/>
          </a:xfrm>
          <a:prstGeom prst="ellipse">
            <a:avLst/>
          </a:prstGeom>
          <a:solidFill>
            <a:srgbClr val="FFFFFF"/>
          </a:solidFill>
          <a:ln w="17780">
            <a:solidFill>
              <a:srgbClr val="ED1C2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Bef>
                <a:spcPts val="0"/>
              </a:spcBef>
              <a:spcAft>
                <a:spcPts val="0"/>
              </a:spcAft>
            </a:pPr>
            <a:r>
              <a:rPr sz="1400" b="1" i="0">
                <a:solidFill>
                  <a:srgbClr val="231F20"/>
                </a:solidFill>
                <a:latin typeface="Calibri"/>
                <a:ea typeface="Calibri"/>
                <a:cs typeface="Calibri"/>
              </a:rPr>
              <a:t>3</a:t>
            </a:r>
          </a:p>
        </p:txBody>
      </p:sp>
      <p:sp>
        <p:nvSpPr>
          <p:cNvPr id="13" name="move"/>
          <p:cNvSpPr txBox="1"/>
          <p:nvPr/>
        </p:nvSpPr>
        <p:spPr>
          <a:xfrm>
            <a:off x="1005840" y="3099815"/>
            <a:ext cx="6217920" cy="365760"/>
          </a:xfrm>
          <a:prstGeom prst="rect">
            <a:avLst/>
          </a:prstGeom>
          <a:noFill/>
        </p:spPr>
        <p:txBody>
          <a:bodyPr wrap="square" lIns="0" rIns="0" tIns="36576" bIns="36576" anchor="ctr"/>
          <a:lstStyle/>
          <a:p>
            <a:pPr algn="l">
              <a:spcBef>
                <a:spcPts val="0"/>
              </a:spcBef>
              <a:spcAft>
                <a:spcPts val="0"/>
              </a:spcAft>
            </a:pPr>
            <a:r>
              <a:rPr sz="1500" b="1" i="0">
                <a:solidFill>
                  <a:srgbClr val="231F20"/>
                </a:solidFill>
                <a:latin typeface="Calibri"/>
                <a:ea typeface="Calibri"/>
                <a:cs typeface="Calibri"/>
              </a:rPr>
              <a:t>Click Review this delivery</a:t>
            </a:r>
          </a:p>
        </p:txBody>
      </p:sp>
      <p:sp>
        <p:nvSpPr>
          <p:cNvPr id="14" name="move"/>
          <p:cNvSpPr txBox="1"/>
          <p:nvPr/>
        </p:nvSpPr>
        <p:spPr>
          <a:xfrm>
            <a:off x="7223760" y="3099815"/>
            <a:ext cx="4297680" cy="365760"/>
          </a:xfrm>
          <a:prstGeom prst="rect">
            <a:avLst/>
          </a:prstGeom>
          <a:noFill/>
        </p:spPr>
        <p:txBody>
          <a:bodyPr wrap="square" lIns="0" rIns="0" tIns="36576" bIns="36576" anchor="ctr"/>
          <a:lstStyle/>
          <a:p>
            <a:pPr algn="r">
              <a:spcBef>
                <a:spcPts val="0"/>
              </a:spcBef>
              <a:spcAft>
                <a:spcPts val="0"/>
              </a:spcAft>
            </a:pPr>
            <a:r>
              <a:rPr sz="1300" b="0" i="0">
                <a:solidFill>
                  <a:srgbClr val="666666"/>
                </a:solidFill>
                <a:latin typeface="Calibri"/>
                <a:ea typeface="Calibri"/>
                <a:cs typeface="Calibri"/>
              </a:rPr>
              <a:t>Point at count 197 and packaged 67</a:t>
            </a:r>
          </a:p>
        </p:txBody>
      </p:sp>
      <p:sp>
        <p:nvSpPr>
          <p:cNvPr id="15" name="move"/>
          <p:cNvSpPr/>
          <p:nvPr/>
        </p:nvSpPr>
        <p:spPr>
          <a:xfrm>
            <a:off x="502920" y="3666744"/>
            <a:ext cx="365760" cy="365760"/>
          </a:xfrm>
          <a:prstGeom prst="ellipse">
            <a:avLst/>
          </a:prstGeom>
          <a:solidFill>
            <a:srgbClr val="FFFFFF"/>
          </a:solidFill>
          <a:ln w="17780">
            <a:solidFill>
              <a:srgbClr val="ED1C2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Bef>
                <a:spcPts val="0"/>
              </a:spcBef>
              <a:spcAft>
                <a:spcPts val="0"/>
              </a:spcAft>
            </a:pPr>
            <a:r>
              <a:rPr sz="1400" b="1" i="0">
                <a:solidFill>
                  <a:srgbClr val="231F20"/>
                </a:solidFill>
                <a:latin typeface="Calibri"/>
                <a:ea typeface="Calibri"/>
                <a:cs typeface="Calibri"/>
              </a:rPr>
              <a:t>4</a:t>
            </a:r>
          </a:p>
        </p:txBody>
      </p:sp>
      <p:sp>
        <p:nvSpPr>
          <p:cNvPr id="16" name="move"/>
          <p:cNvSpPr txBox="1"/>
          <p:nvPr/>
        </p:nvSpPr>
        <p:spPr>
          <a:xfrm>
            <a:off x="1005840" y="3666744"/>
            <a:ext cx="6217920" cy="365760"/>
          </a:xfrm>
          <a:prstGeom prst="rect">
            <a:avLst/>
          </a:prstGeom>
          <a:noFill/>
        </p:spPr>
        <p:txBody>
          <a:bodyPr wrap="square" lIns="0" rIns="0" tIns="36576" bIns="36576" anchor="ctr"/>
          <a:lstStyle/>
          <a:p>
            <a:pPr algn="l">
              <a:spcBef>
                <a:spcPts val="0"/>
              </a:spcBef>
              <a:spcAft>
                <a:spcPts val="0"/>
              </a:spcAft>
            </a:pPr>
            <a:r>
              <a:rPr sz="1500" b="1" i="0">
                <a:solidFill>
                  <a:srgbClr val="231F20"/>
                </a:solidFill>
                <a:latin typeface="Calibri"/>
                <a:ea typeface="Calibri"/>
                <a:cs typeface="Calibri"/>
              </a:rPr>
              <a:t>Click Drop this duplicate as RT-01</a:t>
            </a:r>
          </a:p>
        </p:txBody>
      </p:sp>
      <p:sp>
        <p:nvSpPr>
          <p:cNvPr id="17" name="move"/>
          <p:cNvSpPr txBox="1"/>
          <p:nvPr/>
        </p:nvSpPr>
        <p:spPr>
          <a:xfrm>
            <a:off x="7223760" y="3666744"/>
            <a:ext cx="4297680" cy="365760"/>
          </a:xfrm>
          <a:prstGeom prst="rect">
            <a:avLst/>
          </a:prstGeom>
          <a:noFill/>
        </p:spPr>
        <p:txBody>
          <a:bodyPr wrap="square" lIns="0" rIns="0" tIns="36576" bIns="36576" anchor="ctr"/>
          <a:lstStyle/>
          <a:p>
            <a:pPr algn="r">
              <a:spcBef>
                <a:spcPts val="0"/>
              </a:spcBef>
              <a:spcAft>
                <a:spcPts val="0"/>
              </a:spcAft>
            </a:pPr>
            <a:r>
              <a:rPr sz="1300" b="0" i="0">
                <a:solidFill>
                  <a:srgbClr val="666666"/>
                </a:solidFill>
                <a:latin typeface="Calibri"/>
                <a:ea typeface="Calibri"/>
                <a:cs typeface="Calibri"/>
              </a:rPr>
              <a:t>Point at the sentence that starts with Refused</a:t>
            </a:r>
          </a:p>
        </p:txBody>
      </p:sp>
      <p:sp>
        <p:nvSpPr>
          <p:cNvPr id="18" name="move"/>
          <p:cNvSpPr/>
          <p:nvPr/>
        </p:nvSpPr>
        <p:spPr>
          <a:xfrm>
            <a:off x="502920" y="4233672"/>
            <a:ext cx="365760" cy="365760"/>
          </a:xfrm>
          <a:prstGeom prst="ellipse">
            <a:avLst/>
          </a:prstGeom>
          <a:solidFill>
            <a:srgbClr val="FFFFFF"/>
          </a:solidFill>
          <a:ln w="17780">
            <a:solidFill>
              <a:srgbClr val="ED1C2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Bef>
                <a:spcPts val="0"/>
              </a:spcBef>
              <a:spcAft>
                <a:spcPts val="0"/>
              </a:spcAft>
            </a:pPr>
            <a:r>
              <a:rPr sz="1400" b="1" i="0">
                <a:solidFill>
                  <a:srgbClr val="231F20"/>
                </a:solidFill>
                <a:latin typeface="Calibri"/>
                <a:ea typeface="Calibri"/>
                <a:cs typeface="Calibri"/>
              </a:rPr>
              <a:t>5</a:t>
            </a:r>
          </a:p>
        </p:txBody>
      </p:sp>
      <p:sp>
        <p:nvSpPr>
          <p:cNvPr id="19" name="move"/>
          <p:cNvSpPr txBox="1"/>
          <p:nvPr/>
        </p:nvSpPr>
        <p:spPr>
          <a:xfrm>
            <a:off x="1005840" y="4233672"/>
            <a:ext cx="6217920" cy="365760"/>
          </a:xfrm>
          <a:prstGeom prst="rect">
            <a:avLst/>
          </a:prstGeom>
          <a:noFill/>
        </p:spPr>
        <p:txBody>
          <a:bodyPr wrap="square" lIns="0" rIns="0" tIns="36576" bIns="36576" anchor="ctr"/>
          <a:lstStyle/>
          <a:p>
            <a:pPr algn="l">
              <a:spcBef>
                <a:spcPts val="0"/>
              </a:spcBef>
              <a:spcAft>
                <a:spcPts val="0"/>
              </a:spcAft>
            </a:pPr>
            <a:r>
              <a:rPr sz="1500" b="1" i="0">
                <a:solidFill>
                  <a:srgbClr val="231F20"/>
                </a:solidFill>
                <a:latin typeface="Calibri"/>
                <a:ea typeface="Calibri"/>
                <a:cs typeface="Calibri"/>
              </a:rPr>
              <a:t>Switch the role picker to RT-05</a:t>
            </a:r>
          </a:p>
        </p:txBody>
      </p:sp>
      <p:sp>
        <p:nvSpPr>
          <p:cNvPr id="20" name="move"/>
          <p:cNvSpPr txBox="1"/>
          <p:nvPr/>
        </p:nvSpPr>
        <p:spPr>
          <a:xfrm>
            <a:off x="7223760" y="4233672"/>
            <a:ext cx="4297680" cy="365760"/>
          </a:xfrm>
          <a:prstGeom prst="rect">
            <a:avLst/>
          </a:prstGeom>
          <a:noFill/>
        </p:spPr>
        <p:txBody>
          <a:bodyPr wrap="square" lIns="0" rIns="0" tIns="36576" bIns="36576" anchor="ctr"/>
          <a:lstStyle/>
          <a:p>
            <a:pPr algn="r">
              <a:spcBef>
                <a:spcPts val="0"/>
              </a:spcBef>
              <a:spcAft>
                <a:spcPts val="0"/>
              </a:spcAft>
            </a:pPr>
            <a:r>
              <a:rPr sz="1300" b="0" i="0">
                <a:solidFill>
                  <a:srgbClr val="666666"/>
                </a:solidFill>
                <a:latin typeface="Calibri"/>
                <a:ea typeface="Calibri"/>
                <a:cs typeface="Calibri"/>
              </a:rPr>
              <a:t>Point at the role picker</a:t>
            </a:r>
          </a:p>
        </p:txBody>
      </p:sp>
      <p:sp>
        <p:nvSpPr>
          <p:cNvPr id="21" name="move"/>
          <p:cNvSpPr/>
          <p:nvPr/>
        </p:nvSpPr>
        <p:spPr>
          <a:xfrm>
            <a:off x="502920" y="4800600"/>
            <a:ext cx="365760" cy="365760"/>
          </a:xfrm>
          <a:prstGeom prst="ellipse">
            <a:avLst/>
          </a:prstGeom>
          <a:solidFill>
            <a:srgbClr val="FFFFFF"/>
          </a:solidFill>
          <a:ln w="17780">
            <a:solidFill>
              <a:srgbClr val="ED1C2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Bef>
                <a:spcPts val="0"/>
              </a:spcBef>
              <a:spcAft>
                <a:spcPts val="0"/>
              </a:spcAft>
            </a:pPr>
            <a:r>
              <a:rPr sz="1400" b="1" i="0">
                <a:solidFill>
                  <a:srgbClr val="231F20"/>
                </a:solidFill>
                <a:latin typeface="Calibri"/>
                <a:ea typeface="Calibri"/>
                <a:cs typeface="Calibri"/>
              </a:rPr>
              <a:t>6</a:t>
            </a:r>
          </a:p>
        </p:txBody>
      </p:sp>
      <p:sp>
        <p:nvSpPr>
          <p:cNvPr id="22" name="move"/>
          <p:cNvSpPr txBox="1"/>
          <p:nvPr/>
        </p:nvSpPr>
        <p:spPr>
          <a:xfrm>
            <a:off x="1005840" y="4800600"/>
            <a:ext cx="6217920" cy="365760"/>
          </a:xfrm>
          <a:prstGeom prst="rect">
            <a:avLst/>
          </a:prstGeom>
          <a:noFill/>
        </p:spPr>
        <p:txBody>
          <a:bodyPr wrap="square" lIns="0" rIns="0" tIns="36576" bIns="36576" anchor="ctr"/>
          <a:lstStyle/>
          <a:p>
            <a:pPr algn="l">
              <a:spcBef>
                <a:spcPts val="0"/>
              </a:spcBef>
              <a:spcAft>
                <a:spcPts val="0"/>
              </a:spcAft>
            </a:pPr>
            <a:r>
              <a:rPr sz="1500" b="1" i="0">
                <a:solidFill>
                  <a:srgbClr val="231F20"/>
                </a:solidFill>
                <a:latin typeface="Calibri"/>
                <a:ea typeface="Calibri"/>
                <a:cs typeface="Calibri"/>
              </a:rPr>
              <a:t>Click Drop this duplicate again</a:t>
            </a:r>
          </a:p>
        </p:txBody>
      </p:sp>
      <p:sp>
        <p:nvSpPr>
          <p:cNvPr id="23" name="move"/>
          <p:cNvSpPr txBox="1"/>
          <p:nvPr/>
        </p:nvSpPr>
        <p:spPr>
          <a:xfrm>
            <a:off x="7223760" y="4800600"/>
            <a:ext cx="4297680" cy="365760"/>
          </a:xfrm>
          <a:prstGeom prst="rect">
            <a:avLst/>
          </a:prstGeom>
          <a:noFill/>
        </p:spPr>
        <p:txBody>
          <a:bodyPr wrap="square" lIns="0" rIns="0" tIns="36576" bIns="36576" anchor="ctr"/>
          <a:lstStyle/>
          <a:p>
            <a:pPr algn="r">
              <a:spcBef>
                <a:spcPts val="0"/>
              </a:spcBef>
              <a:spcAft>
                <a:spcPts val="0"/>
              </a:spcAft>
            </a:pPr>
            <a:r>
              <a:rPr sz="1300" b="0" i="0">
                <a:solidFill>
                  <a:srgbClr val="666666"/>
                </a:solidFill>
                <a:latin typeface="Calibri"/>
                <a:ea typeface="Calibri"/>
                <a:cs typeface="Calibri"/>
              </a:rPr>
              <a:t>Point at dropped, count 196, and 67</a:t>
            </a:r>
          </a:p>
        </p:txBody>
      </p:sp>
      <p:sp>
        <p:nvSpPr>
          <p:cNvPr id="24" name="move"/>
          <p:cNvSpPr/>
          <p:nvPr/>
        </p:nvSpPr>
        <p:spPr>
          <a:xfrm>
            <a:off x="502920" y="5367527"/>
            <a:ext cx="365760" cy="365760"/>
          </a:xfrm>
          <a:prstGeom prst="ellipse">
            <a:avLst/>
          </a:prstGeom>
          <a:solidFill>
            <a:srgbClr val="FFFFFF"/>
          </a:solidFill>
          <a:ln w="17780">
            <a:solidFill>
              <a:srgbClr val="ED1C2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Bef>
                <a:spcPts val="0"/>
              </a:spcBef>
              <a:spcAft>
                <a:spcPts val="0"/>
              </a:spcAft>
            </a:pPr>
            <a:r>
              <a:rPr sz="1400" b="1" i="0">
                <a:solidFill>
                  <a:srgbClr val="231F20"/>
                </a:solidFill>
                <a:latin typeface="Calibri"/>
                <a:ea typeface="Calibri"/>
                <a:cs typeface="Calibri"/>
              </a:rPr>
              <a:t>7</a:t>
            </a:r>
          </a:p>
        </p:txBody>
      </p:sp>
      <p:sp>
        <p:nvSpPr>
          <p:cNvPr id="25" name="move"/>
          <p:cNvSpPr txBox="1"/>
          <p:nvPr/>
        </p:nvSpPr>
        <p:spPr>
          <a:xfrm>
            <a:off x="1005840" y="5367527"/>
            <a:ext cx="6217920" cy="365760"/>
          </a:xfrm>
          <a:prstGeom prst="rect">
            <a:avLst/>
          </a:prstGeom>
          <a:noFill/>
        </p:spPr>
        <p:txBody>
          <a:bodyPr wrap="square" lIns="0" rIns="0" tIns="36576" bIns="36576" anchor="ctr"/>
          <a:lstStyle/>
          <a:p>
            <a:pPr algn="l">
              <a:spcBef>
                <a:spcPts val="0"/>
              </a:spcBef>
              <a:spcAft>
                <a:spcPts val="0"/>
              </a:spcAft>
            </a:pPr>
            <a:r>
              <a:rPr sz="1500" b="1" i="0">
                <a:solidFill>
                  <a:srgbClr val="231F20"/>
                </a:solidFill>
                <a:latin typeface="Calibri"/>
                <a:ea typeface="Calibri"/>
                <a:cs typeface="Calibri"/>
              </a:rPr>
              <a:t>Open the Recipe tab</a:t>
            </a:r>
          </a:p>
        </p:txBody>
      </p:sp>
      <p:sp>
        <p:nvSpPr>
          <p:cNvPr id="26" name="move"/>
          <p:cNvSpPr txBox="1"/>
          <p:nvPr/>
        </p:nvSpPr>
        <p:spPr>
          <a:xfrm>
            <a:off x="7223760" y="5367527"/>
            <a:ext cx="4297680" cy="365760"/>
          </a:xfrm>
          <a:prstGeom prst="rect">
            <a:avLst/>
          </a:prstGeom>
          <a:noFill/>
        </p:spPr>
        <p:txBody>
          <a:bodyPr wrap="square" lIns="0" rIns="0" tIns="36576" bIns="36576" anchor="ctr"/>
          <a:lstStyle/>
          <a:p>
            <a:pPr algn="r">
              <a:spcBef>
                <a:spcPts val="0"/>
              </a:spcBef>
              <a:spcAft>
                <a:spcPts val="0"/>
              </a:spcAft>
            </a:pPr>
            <a:r>
              <a:rPr sz="1300" b="0" i="0">
                <a:solidFill>
                  <a:srgbClr val="666666"/>
                </a:solidFill>
                <a:latin typeface="Calibri"/>
                <a:ea typeface="Calibri"/>
                <a:cs typeface="Calibri"/>
              </a:rPr>
              <a:t>Point at Ready on a clean result 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11" name="Connector 10"/>
          <p:cNvCxnSpPr/>
          <p:nvPr/>
        </p:nvCxnSpPr>
        <p:spPr>
          <a:xfrm>
            <a:off x="502920" y="3099815"/>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788920" y="3099815"/>
            <a:ext cx="25603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349240" y="3099815"/>
            <a:ext cx="47548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104120" y="3099815"/>
            <a:ext cx="1371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02920" y="3758183"/>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788920" y="3758183"/>
            <a:ext cx="25603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349240" y="3758183"/>
            <a:ext cx="47548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104120" y="3758183"/>
            <a:ext cx="1371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02920" y="4416551"/>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788920" y="4416551"/>
            <a:ext cx="25603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349240" y="4416551"/>
            <a:ext cx="47548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104120" y="4416551"/>
            <a:ext cx="1371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02920" y="5074920"/>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788920" y="5074920"/>
            <a:ext cx="25603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349240" y="5074920"/>
            <a:ext cx="47548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104120" y="5074920"/>
            <a:ext cx="1371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02920" y="5733288"/>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788920" y="5733288"/>
            <a:ext cx="25603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349240" y="5733288"/>
            <a:ext cx="47548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0104120" y="5733288"/>
            <a:ext cx="1371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15</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The same five cases are open on both applications.</a:t>
            </a:r>
          </a:p>
        </p:txBody>
      </p:sp>
      <p:sp>
        <p:nvSpPr>
          <p:cNvPr id="5" name="body"/>
          <p:cNvSpPr txBox="1"/>
          <p:nvPr/>
        </p:nvSpPr>
        <p:spPr>
          <a:xfrm>
            <a:off x="502920" y="1261872"/>
            <a:ext cx="11155680" cy="68580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Application A and Application B show these five objects. Each row is REAL. The page shows the fact in the last column. It does not invent a match percent.</a:t>
            </a:r>
          </a:p>
        </p:txBody>
      </p:sp>
      <p:sp>
        <p:nvSpPr>
          <p:cNvPr id="6" name="table"/>
          <p:cNvSpPr/>
          <p:nvPr/>
        </p:nvSpPr>
        <p:spPr>
          <a:xfrm>
            <a:off x="502920" y="2057400"/>
            <a:ext cx="228600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Case</a:t>
            </a:r>
          </a:p>
        </p:txBody>
      </p:sp>
      <p:sp>
        <p:nvSpPr>
          <p:cNvPr id="7" name="table"/>
          <p:cNvSpPr/>
          <p:nvPr/>
        </p:nvSpPr>
        <p:spPr>
          <a:xfrm>
            <a:off x="2788920" y="2057400"/>
            <a:ext cx="256032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Object</a:t>
            </a:r>
          </a:p>
        </p:txBody>
      </p:sp>
      <p:sp>
        <p:nvSpPr>
          <p:cNvPr id="8" name="table"/>
          <p:cNvSpPr/>
          <p:nvPr/>
        </p:nvSpPr>
        <p:spPr>
          <a:xfrm>
            <a:off x="5349240" y="2057400"/>
            <a:ext cx="475488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What the page shows</a:t>
            </a:r>
          </a:p>
        </p:txBody>
      </p:sp>
      <p:sp>
        <p:nvSpPr>
          <p:cNvPr id="9" name="table"/>
          <p:cNvSpPr/>
          <p:nvPr/>
        </p:nvSpPr>
        <p:spPr>
          <a:xfrm>
            <a:off x="10104120" y="2057400"/>
            <a:ext cx="137160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Honesty</a:t>
            </a:r>
          </a:p>
        </p:txBody>
      </p:sp>
      <p:sp>
        <p:nvSpPr>
          <p:cNvPr id="10" name="table"/>
          <p:cNvSpPr/>
          <p:nvPr/>
        </p:nvSpPr>
        <p:spPr>
          <a:xfrm>
            <a:off x="502920" y="2441448"/>
            <a:ext cx="22860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Second delivery</a:t>
            </a:r>
          </a:p>
        </p:txBody>
      </p:sp>
      <p:sp>
        <p:nvSpPr>
          <p:cNvPr id="12" name="table"/>
          <p:cNvSpPr/>
          <p:nvPr/>
        </p:nvSpPr>
        <p:spPr>
          <a:xfrm>
            <a:off x="2788920" y="2441448"/>
            <a:ext cx="256032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REPLAY-000000000</a:t>
            </a:r>
          </a:p>
        </p:txBody>
      </p:sp>
      <p:sp>
        <p:nvSpPr>
          <p:cNvPr id="14" name="table"/>
          <p:cNvSpPr/>
          <p:nvPr/>
        </p:nvSpPr>
        <p:spPr>
          <a:xfrm>
            <a:off x="5349240" y="2441448"/>
            <a:ext cx="475488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Drop waits for RT-05</a:t>
            </a:r>
          </a:p>
        </p:txBody>
      </p:sp>
      <p:sp>
        <p:nvSpPr>
          <p:cNvPr id="16" name="table"/>
          <p:cNvSpPr/>
          <p:nvPr/>
        </p:nvSpPr>
        <p:spPr>
          <a:xfrm>
            <a:off x="10104120" y="2441448"/>
            <a:ext cx="13716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18" name="table"/>
          <p:cNvSpPr/>
          <p:nvPr/>
        </p:nvSpPr>
        <p:spPr>
          <a:xfrm>
            <a:off x="502920" y="3099815"/>
            <a:ext cx="228600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Recipe mismatch</a:t>
            </a:r>
          </a:p>
        </p:txBody>
      </p:sp>
      <p:sp>
        <p:nvSpPr>
          <p:cNvPr id="20" name="table"/>
          <p:cNvSpPr/>
          <p:nvPr/>
        </p:nvSpPr>
        <p:spPr>
          <a:xfrm>
            <a:off x="2788920" y="3099815"/>
            <a:ext cx="256032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PS000000016</a:t>
            </a:r>
          </a:p>
        </p:txBody>
      </p:sp>
      <p:sp>
        <p:nvSpPr>
          <p:cNvPr id="22" name="table"/>
          <p:cNvSpPr/>
          <p:nvPr/>
        </p:nvSpPr>
        <p:spPr>
          <a:xfrm>
            <a:off x="5349240" y="3099815"/>
            <a:ext cx="475488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Dispatch is R02. The tool is R01.</a:t>
            </a:r>
          </a:p>
        </p:txBody>
      </p:sp>
      <p:sp>
        <p:nvSpPr>
          <p:cNvPr id="24" name="table"/>
          <p:cNvSpPr/>
          <p:nvPr/>
        </p:nvSpPr>
        <p:spPr>
          <a:xfrm>
            <a:off x="10104120" y="3099815"/>
            <a:ext cx="137160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26" name="table"/>
          <p:cNvSpPr/>
          <p:nvPr/>
        </p:nvSpPr>
        <p:spPr>
          <a:xfrm>
            <a:off x="502920" y="3758183"/>
            <a:ext cx="22860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Two clocks</a:t>
            </a:r>
          </a:p>
        </p:txBody>
      </p:sp>
      <p:sp>
        <p:nvSpPr>
          <p:cNvPr id="28" name="table"/>
          <p:cNvSpPr/>
          <p:nvPr/>
        </p:nvSpPr>
        <p:spPr>
          <a:xfrm>
            <a:off x="2788920" y="3758183"/>
            <a:ext cx="256032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E-00000000</a:t>
            </a:r>
          </a:p>
        </p:txBody>
      </p:sp>
      <p:sp>
        <p:nvSpPr>
          <p:cNvPr id="30" name="table"/>
          <p:cNvSpPr/>
          <p:nvPr/>
        </p:nvSpPr>
        <p:spPr>
          <a:xfrm>
            <a:off x="5349240" y="3758183"/>
            <a:ext cx="475488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Event 2020-12-30. Arrival 2021-01-01.</a:t>
            </a:r>
          </a:p>
        </p:txBody>
      </p:sp>
      <p:sp>
        <p:nvSpPr>
          <p:cNvPr id="32" name="table"/>
          <p:cNvSpPr/>
          <p:nvPr/>
        </p:nvSpPr>
        <p:spPr>
          <a:xfrm>
            <a:off x="10104120" y="3758183"/>
            <a:ext cx="13716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34" name="table"/>
          <p:cNvSpPr/>
          <p:nvPr/>
        </p:nvSpPr>
        <p:spPr>
          <a:xfrm>
            <a:off x="502920" y="4416552"/>
            <a:ext cx="228600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Policies</a:t>
            </a:r>
          </a:p>
        </p:txBody>
      </p:sp>
      <p:sp>
        <p:nvSpPr>
          <p:cNvPr id="36" name="table"/>
          <p:cNvSpPr/>
          <p:nvPr/>
        </p:nvSpPr>
        <p:spPr>
          <a:xfrm>
            <a:off x="2788920" y="4416552"/>
            <a:ext cx="256032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FAB-00000002</a:t>
            </a:r>
          </a:p>
        </p:txBody>
      </p:sp>
      <p:sp>
        <p:nvSpPr>
          <p:cNvPr id="38" name="table"/>
          <p:cNvSpPr/>
          <p:nvPr/>
        </p:nvSpPr>
        <p:spPr>
          <a:xfrm>
            <a:off x="5349240" y="4416552"/>
            <a:ext cx="475488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Four policies are in force on 2024-06-01.</a:t>
            </a:r>
          </a:p>
        </p:txBody>
      </p:sp>
      <p:sp>
        <p:nvSpPr>
          <p:cNvPr id="40" name="table"/>
          <p:cNvSpPr/>
          <p:nvPr/>
        </p:nvSpPr>
        <p:spPr>
          <a:xfrm>
            <a:off x="10104120" y="4416552"/>
            <a:ext cx="137160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42" name="table"/>
          <p:cNvSpPr/>
          <p:nvPr/>
        </p:nvSpPr>
        <p:spPr>
          <a:xfrm>
            <a:off x="502920" y="5074920"/>
            <a:ext cx="22860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Missing owner</a:t>
            </a:r>
          </a:p>
        </p:txBody>
      </p:sp>
      <p:sp>
        <p:nvSpPr>
          <p:cNvPr id="44" name="table"/>
          <p:cNvSpPr/>
          <p:nvPr/>
        </p:nvSpPr>
        <p:spPr>
          <a:xfrm>
            <a:off x="2788920" y="5074920"/>
            <a:ext cx="256032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INC-2025-014</a:t>
            </a:r>
          </a:p>
        </p:txBody>
      </p:sp>
      <p:sp>
        <p:nvSpPr>
          <p:cNvPr id="46" name="table"/>
          <p:cNvSpPr/>
          <p:nvPr/>
        </p:nvSpPr>
        <p:spPr>
          <a:xfrm>
            <a:off x="5349240" y="5074920"/>
            <a:ext cx="475488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The owner field is empty.</a:t>
            </a:r>
          </a:p>
        </p:txBody>
      </p:sp>
      <p:sp>
        <p:nvSpPr>
          <p:cNvPr id="48" name="table"/>
          <p:cNvSpPr/>
          <p:nvPr/>
        </p:nvSpPr>
        <p:spPr>
          <a:xfrm>
            <a:off x="10104120" y="5074920"/>
            <a:ext cx="13716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9" name="Connector 8"/>
          <p:cNvCxnSpPr/>
          <p:nvPr/>
        </p:nvCxnSpPr>
        <p:spPr>
          <a:xfrm>
            <a:off x="502920" y="4599432"/>
            <a:ext cx="12801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783080" y="4599432"/>
            <a:ext cx="98755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2920" y="5020056"/>
            <a:ext cx="12801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783080" y="5020056"/>
            <a:ext cx="98755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02920" y="5440680"/>
            <a:ext cx="12801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783080" y="5440680"/>
            <a:ext cx="98755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02920" y="5861304"/>
            <a:ext cx="12801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783080" y="5861304"/>
            <a:ext cx="98755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02920" y="6281928"/>
            <a:ext cx="12801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783080" y="6281928"/>
            <a:ext cx="98755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16</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Only Application B shows where the recipe rule came from.</a:t>
            </a:r>
          </a:p>
        </p:txBody>
      </p:sp>
      <p:sp>
        <p:nvSpPr>
          <p:cNvPr id="5" name="body"/>
          <p:cNvSpPr txBox="1"/>
          <p:nvPr/>
        </p:nvSpPr>
        <p:spPr>
          <a:xfrm>
            <a:off x="502920" y="1325880"/>
            <a:ext cx="11155680" cy="228600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Application A has no lineage route. Its Rule trace tab tells the reviewer to open Application B.</a:t>
            </a:r>
          </a:p>
          <a:p>
            <a:pPr algn="l">
              <a:spcBef>
                <a:spcPts val="0"/>
              </a:spcBef>
              <a:spcAft>
                <a:spcPts val="800"/>
              </a:spcAft>
            </a:pPr>
            <a:r>
              <a:rPr sz="1600" b="0" i="0">
                <a:solidFill>
                  <a:srgbClr val="231F20"/>
                </a:solidFill>
                <a:latin typeface="Calibri"/>
                <a:ea typeface="Calibri"/>
                <a:cs typeface="Calibri"/>
              </a:rPr>
              <a:t>Application B lists five existing steps: a historical decision, earlier code, a specification, a test, and the transformed implementation.</a:t>
            </a:r>
          </a:p>
          <a:p>
            <a:pPr algn="l">
              <a:spcBef>
                <a:spcPts val="0"/>
              </a:spcBef>
              <a:spcAft>
                <a:spcPts val="800"/>
              </a:spcAft>
            </a:pPr>
            <a:r>
              <a:rPr sz="1600" b="0" i="0">
                <a:solidFill>
                  <a:srgbClr val="231F20"/>
                </a:solidFill>
                <a:latin typeface="Calibri"/>
                <a:ea typeface="Calibri"/>
                <a:cs typeface="Calibri"/>
              </a:rPr>
              <a:t>One cited sentence holds 18600 for the 2023 EMEA recipe-release limit. That figure is REAL. It is a limit inside the rule sentence. It is not a cash benefit of this project.</a:t>
            </a:r>
          </a:p>
          <a:p>
            <a:pPr algn="l">
              <a:spcBef>
                <a:spcPts val="0"/>
              </a:spcBef>
              <a:spcAft>
                <a:spcPts val="800"/>
              </a:spcAft>
            </a:pPr>
            <a:r>
              <a:rPr sz="1600" b="0" i="0">
                <a:solidFill>
                  <a:srgbClr val="231F20"/>
                </a:solidFill>
                <a:latin typeface="Calibri"/>
                <a:ea typeface="Calibri"/>
                <a:cs typeface="Calibri"/>
              </a:rPr>
              <a:t>The Compare page also states that the 50,000 label is proposed on Application B only.</a:t>
            </a:r>
          </a:p>
        </p:txBody>
      </p:sp>
      <p:sp>
        <p:nvSpPr>
          <p:cNvPr id="6" name="table"/>
          <p:cNvSpPr/>
          <p:nvPr/>
        </p:nvSpPr>
        <p:spPr>
          <a:xfrm>
            <a:off x="502920" y="3794760"/>
            <a:ext cx="128016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Step</a:t>
            </a:r>
          </a:p>
        </p:txBody>
      </p:sp>
      <p:sp>
        <p:nvSpPr>
          <p:cNvPr id="7" name="table"/>
          <p:cNvSpPr/>
          <p:nvPr/>
        </p:nvSpPr>
        <p:spPr>
          <a:xfrm>
            <a:off x="1783080" y="3794760"/>
            <a:ext cx="987552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What Application B lists</a:t>
            </a:r>
          </a:p>
        </p:txBody>
      </p:sp>
      <p:sp>
        <p:nvSpPr>
          <p:cNvPr id="8" name="table"/>
          <p:cNvSpPr/>
          <p:nvPr/>
        </p:nvSpPr>
        <p:spPr>
          <a:xfrm>
            <a:off x="502920" y="4178808"/>
            <a:ext cx="12801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1</a:t>
            </a:r>
          </a:p>
        </p:txBody>
      </p:sp>
      <p:sp>
        <p:nvSpPr>
          <p:cNvPr id="10" name="table"/>
          <p:cNvSpPr/>
          <p:nvPr/>
        </p:nvSpPr>
        <p:spPr>
          <a:xfrm>
            <a:off x="1783080" y="4178808"/>
            <a:ext cx="98755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Historical decision</a:t>
            </a:r>
          </a:p>
        </p:txBody>
      </p:sp>
      <p:sp>
        <p:nvSpPr>
          <p:cNvPr id="12" name="table"/>
          <p:cNvSpPr/>
          <p:nvPr/>
        </p:nvSpPr>
        <p:spPr>
          <a:xfrm>
            <a:off x="502920" y="4599432"/>
            <a:ext cx="128016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2</a:t>
            </a:r>
          </a:p>
        </p:txBody>
      </p:sp>
      <p:sp>
        <p:nvSpPr>
          <p:cNvPr id="14" name="table"/>
          <p:cNvSpPr/>
          <p:nvPr/>
        </p:nvSpPr>
        <p:spPr>
          <a:xfrm>
            <a:off x="1783080" y="4599432"/>
            <a:ext cx="987552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Earlier code</a:t>
            </a:r>
          </a:p>
        </p:txBody>
      </p:sp>
      <p:sp>
        <p:nvSpPr>
          <p:cNvPr id="16" name="table"/>
          <p:cNvSpPr/>
          <p:nvPr/>
        </p:nvSpPr>
        <p:spPr>
          <a:xfrm>
            <a:off x="502920" y="5020056"/>
            <a:ext cx="12801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3</a:t>
            </a:r>
          </a:p>
        </p:txBody>
      </p:sp>
      <p:sp>
        <p:nvSpPr>
          <p:cNvPr id="18" name="table"/>
          <p:cNvSpPr/>
          <p:nvPr/>
        </p:nvSpPr>
        <p:spPr>
          <a:xfrm>
            <a:off x="1783080" y="5020056"/>
            <a:ext cx="98755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Specification</a:t>
            </a:r>
          </a:p>
        </p:txBody>
      </p:sp>
      <p:sp>
        <p:nvSpPr>
          <p:cNvPr id="20" name="table"/>
          <p:cNvSpPr/>
          <p:nvPr/>
        </p:nvSpPr>
        <p:spPr>
          <a:xfrm>
            <a:off x="502920" y="5440680"/>
            <a:ext cx="128016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4</a:t>
            </a:r>
          </a:p>
        </p:txBody>
      </p:sp>
      <p:sp>
        <p:nvSpPr>
          <p:cNvPr id="22" name="table"/>
          <p:cNvSpPr/>
          <p:nvPr/>
        </p:nvSpPr>
        <p:spPr>
          <a:xfrm>
            <a:off x="1783080" y="5440680"/>
            <a:ext cx="987552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Test</a:t>
            </a:r>
          </a:p>
        </p:txBody>
      </p:sp>
      <p:sp>
        <p:nvSpPr>
          <p:cNvPr id="24" name="table"/>
          <p:cNvSpPr/>
          <p:nvPr/>
        </p:nvSpPr>
        <p:spPr>
          <a:xfrm>
            <a:off x="502920" y="5861304"/>
            <a:ext cx="12801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5</a:t>
            </a:r>
          </a:p>
        </p:txBody>
      </p:sp>
      <p:sp>
        <p:nvSpPr>
          <p:cNvPr id="26" name="table"/>
          <p:cNvSpPr/>
          <p:nvPr/>
        </p:nvSpPr>
        <p:spPr>
          <a:xfrm>
            <a:off x="1783080" y="5861304"/>
            <a:ext cx="98755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Transformed implementation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11" name="Connector 10"/>
          <p:cNvCxnSpPr/>
          <p:nvPr/>
        </p:nvCxnSpPr>
        <p:spPr>
          <a:xfrm>
            <a:off x="502920" y="2779776"/>
            <a:ext cx="28346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337560" y="2779776"/>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623560" y="2779776"/>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915400" y="2779776"/>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02920" y="3163824"/>
            <a:ext cx="28346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337560" y="3163824"/>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623560" y="3163824"/>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915400" y="3163824"/>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02920" y="3547872"/>
            <a:ext cx="28346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337560" y="3547872"/>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623560" y="3547872"/>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915400" y="3547872"/>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02920" y="3931920"/>
            <a:ext cx="28346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337560" y="3931920"/>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623560" y="3931920"/>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915400" y="3931920"/>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02920" y="4315968"/>
            <a:ext cx="28346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337560" y="4315968"/>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623560" y="4315968"/>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915400" y="4315968"/>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02920" y="4700016"/>
            <a:ext cx="28346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337560" y="4700016"/>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623560" y="4700016"/>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915400" y="4700016"/>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02920" y="5084064"/>
            <a:ext cx="28346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337560" y="5084064"/>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5623560" y="5084064"/>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915400" y="5084064"/>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502920" y="5468112"/>
            <a:ext cx="28346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337560" y="5468112"/>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623560" y="5468112"/>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8915400" y="5468112"/>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502920" y="5852160"/>
            <a:ext cx="28346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3337560" y="5852160"/>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5623560" y="5852160"/>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8915400" y="5852160"/>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02920" y="6236208"/>
            <a:ext cx="28346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3337560" y="6236208"/>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623560" y="6236208"/>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8915400" y="6236208"/>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17</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The packaged counts stayed on the same numbers.</a:t>
            </a:r>
          </a:p>
        </p:txBody>
      </p:sp>
      <p:sp>
        <p:nvSpPr>
          <p:cNvPr id="5" name="body"/>
          <p:cNvSpPr txBox="1"/>
          <p:nvPr/>
        </p:nvSpPr>
        <p:spPr>
          <a:xfrm>
            <a:off x="502920" y="1261872"/>
            <a:ext cx="11155680" cy="68580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The build did not close the 89 open cases. It made the disagreement visible and the decision traceable. Before and after are the same for these fields.</a:t>
            </a:r>
          </a:p>
        </p:txBody>
      </p:sp>
      <p:sp>
        <p:nvSpPr>
          <p:cNvPr id="6" name="table"/>
          <p:cNvSpPr/>
          <p:nvPr/>
        </p:nvSpPr>
        <p:spPr>
          <a:xfrm>
            <a:off x="502920" y="2011680"/>
            <a:ext cx="283464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Measure</a:t>
            </a:r>
          </a:p>
        </p:txBody>
      </p:sp>
      <p:sp>
        <p:nvSpPr>
          <p:cNvPr id="7" name="table"/>
          <p:cNvSpPr/>
          <p:nvPr/>
        </p:nvSpPr>
        <p:spPr>
          <a:xfrm>
            <a:off x="3337560" y="2011680"/>
            <a:ext cx="228600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Before</a:t>
            </a:r>
          </a:p>
        </p:txBody>
      </p:sp>
      <p:sp>
        <p:nvSpPr>
          <p:cNvPr id="8" name="table"/>
          <p:cNvSpPr/>
          <p:nvPr/>
        </p:nvSpPr>
        <p:spPr>
          <a:xfrm>
            <a:off x="5623560" y="2011680"/>
            <a:ext cx="329184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After</a:t>
            </a:r>
          </a:p>
        </p:txBody>
      </p:sp>
      <p:sp>
        <p:nvSpPr>
          <p:cNvPr id="9" name="table"/>
          <p:cNvSpPr/>
          <p:nvPr/>
        </p:nvSpPr>
        <p:spPr>
          <a:xfrm>
            <a:off x="8915400" y="2011680"/>
            <a:ext cx="219456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Honesty</a:t>
            </a:r>
          </a:p>
        </p:txBody>
      </p:sp>
      <p:sp>
        <p:nvSpPr>
          <p:cNvPr id="10" name="table"/>
          <p:cNvSpPr/>
          <p:nvPr/>
        </p:nvSpPr>
        <p:spPr>
          <a:xfrm>
            <a:off x="502920" y="2395728"/>
            <a:ext cx="28346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Records</a:t>
            </a:r>
          </a:p>
        </p:txBody>
      </p:sp>
      <p:sp>
        <p:nvSpPr>
          <p:cNvPr id="12" name="table"/>
          <p:cNvSpPr/>
          <p:nvPr/>
        </p:nvSpPr>
        <p:spPr>
          <a:xfrm>
            <a:off x="3337560" y="2395728"/>
            <a:ext cx="22860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125</a:t>
            </a:r>
          </a:p>
        </p:txBody>
      </p:sp>
      <p:sp>
        <p:nvSpPr>
          <p:cNvPr id="14" name="table"/>
          <p:cNvSpPr/>
          <p:nvPr/>
        </p:nvSpPr>
        <p:spPr>
          <a:xfrm>
            <a:off x="5623560" y="2395728"/>
            <a:ext cx="32918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125</a:t>
            </a:r>
          </a:p>
        </p:txBody>
      </p:sp>
      <p:sp>
        <p:nvSpPr>
          <p:cNvPr id="16" name="table"/>
          <p:cNvSpPr/>
          <p:nvPr/>
        </p:nvSpPr>
        <p:spPr>
          <a:xfrm>
            <a:off x="8915400" y="2395728"/>
            <a:ext cx="219456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18" name="table"/>
          <p:cNvSpPr/>
          <p:nvPr/>
        </p:nvSpPr>
        <p:spPr>
          <a:xfrm>
            <a:off x="502920" y="2779776"/>
            <a:ext cx="2834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Open cases</a:t>
            </a:r>
          </a:p>
        </p:txBody>
      </p:sp>
      <p:sp>
        <p:nvSpPr>
          <p:cNvPr id="20" name="table"/>
          <p:cNvSpPr/>
          <p:nvPr/>
        </p:nvSpPr>
        <p:spPr>
          <a:xfrm>
            <a:off x="3337560" y="2779776"/>
            <a:ext cx="228600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89</a:t>
            </a:r>
          </a:p>
        </p:txBody>
      </p:sp>
      <p:sp>
        <p:nvSpPr>
          <p:cNvPr id="22" name="table"/>
          <p:cNvSpPr/>
          <p:nvPr/>
        </p:nvSpPr>
        <p:spPr>
          <a:xfrm>
            <a:off x="5623560" y="2779776"/>
            <a:ext cx="32918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89</a:t>
            </a:r>
          </a:p>
        </p:txBody>
      </p:sp>
      <p:sp>
        <p:nvSpPr>
          <p:cNvPr id="24" name="table"/>
          <p:cNvSpPr/>
          <p:nvPr/>
        </p:nvSpPr>
        <p:spPr>
          <a:xfrm>
            <a:off x="8915400" y="2779776"/>
            <a:ext cx="219456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26" name="table"/>
          <p:cNvSpPr/>
          <p:nvPr/>
        </p:nvSpPr>
        <p:spPr>
          <a:xfrm>
            <a:off x="502920" y="3163824"/>
            <a:ext cx="28346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Urgent cases</a:t>
            </a:r>
          </a:p>
        </p:txBody>
      </p:sp>
      <p:sp>
        <p:nvSpPr>
          <p:cNvPr id="28" name="table"/>
          <p:cNvSpPr/>
          <p:nvPr/>
        </p:nvSpPr>
        <p:spPr>
          <a:xfrm>
            <a:off x="3337560" y="3163824"/>
            <a:ext cx="22860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2</a:t>
            </a:r>
          </a:p>
        </p:txBody>
      </p:sp>
      <p:sp>
        <p:nvSpPr>
          <p:cNvPr id="30" name="table"/>
          <p:cNvSpPr/>
          <p:nvPr/>
        </p:nvSpPr>
        <p:spPr>
          <a:xfrm>
            <a:off x="5623560" y="3163824"/>
            <a:ext cx="32918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2</a:t>
            </a:r>
          </a:p>
        </p:txBody>
      </p:sp>
      <p:sp>
        <p:nvSpPr>
          <p:cNvPr id="32" name="table"/>
          <p:cNvSpPr/>
          <p:nvPr/>
        </p:nvSpPr>
        <p:spPr>
          <a:xfrm>
            <a:off x="8915400" y="3163824"/>
            <a:ext cx="219456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34" name="table"/>
          <p:cNvSpPr/>
          <p:nvPr/>
        </p:nvSpPr>
        <p:spPr>
          <a:xfrm>
            <a:off x="502920" y="3547872"/>
            <a:ext cx="2834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Sites</a:t>
            </a:r>
          </a:p>
        </p:txBody>
      </p:sp>
      <p:sp>
        <p:nvSpPr>
          <p:cNvPr id="36" name="table"/>
          <p:cNvSpPr/>
          <p:nvPr/>
        </p:nvSpPr>
        <p:spPr>
          <a:xfrm>
            <a:off x="3337560" y="3547872"/>
            <a:ext cx="228600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6</a:t>
            </a:r>
          </a:p>
        </p:txBody>
      </p:sp>
      <p:sp>
        <p:nvSpPr>
          <p:cNvPr id="38" name="table"/>
          <p:cNvSpPr/>
          <p:nvPr/>
        </p:nvSpPr>
        <p:spPr>
          <a:xfrm>
            <a:off x="5623560" y="3547872"/>
            <a:ext cx="32918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6</a:t>
            </a:r>
          </a:p>
        </p:txBody>
      </p:sp>
      <p:sp>
        <p:nvSpPr>
          <p:cNvPr id="40" name="table"/>
          <p:cNvSpPr/>
          <p:nvPr/>
        </p:nvSpPr>
        <p:spPr>
          <a:xfrm>
            <a:off x="8915400" y="3547872"/>
            <a:ext cx="219456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42" name="table"/>
          <p:cNvSpPr/>
          <p:nvPr/>
        </p:nvSpPr>
        <p:spPr>
          <a:xfrm>
            <a:off x="502920" y="3931920"/>
            <a:ext cx="28346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Mean amount</a:t>
            </a:r>
          </a:p>
        </p:txBody>
      </p:sp>
      <p:sp>
        <p:nvSpPr>
          <p:cNvPr id="44" name="table"/>
          <p:cNvSpPr/>
          <p:nvPr/>
        </p:nvSpPr>
        <p:spPr>
          <a:xfrm>
            <a:off x="3337560" y="3931920"/>
            <a:ext cx="22860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4982.61</a:t>
            </a:r>
          </a:p>
        </p:txBody>
      </p:sp>
      <p:sp>
        <p:nvSpPr>
          <p:cNvPr id="46" name="table"/>
          <p:cNvSpPr/>
          <p:nvPr/>
        </p:nvSpPr>
        <p:spPr>
          <a:xfrm>
            <a:off x="5623560" y="3931920"/>
            <a:ext cx="32918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4982.61</a:t>
            </a:r>
          </a:p>
        </p:txBody>
      </p:sp>
      <p:sp>
        <p:nvSpPr>
          <p:cNvPr id="48" name="table"/>
          <p:cNvSpPr/>
          <p:nvPr/>
        </p:nvSpPr>
        <p:spPr>
          <a:xfrm>
            <a:off x="8915400" y="3931920"/>
            <a:ext cx="219456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SIMULATED</a:t>
            </a:r>
          </a:p>
        </p:txBody>
      </p:sp>
      <p:sp>
        <p:nvSpPr>
          <p:cNvPr id="50" name="table"/>
          <p:cNvSpPr/>
          <p:nvPr/>
        </p:nvSpPr>
        <p:spPr>
          <a:xfrm>
            <a:off x="502920" y="4315968"/>
            <a:ext cx="2834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Hours per case</a:t>
            </a:r>
          </a:p>
        </p:txBody>
      </p:sp>
      <p:sp>
        <p:nvSpPr>
          <p:cNvPr id="52" name="table"/>
          <p:cNvSpPr/>
          <p:nvPr/>
        </p:nvSpPr>
        <p:spPr>
          <a:xfrm>
            <a:off x="3337560" y="4315968"/>
            <a:ext cx="228600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0.603</a:t>
            </a:r>
          </a:p>
        </p:txBody>
      </p:sp>
      <p:sp>
        <p:nvSpPr>
          <p:cNvPr id="54" name="table"/>
          <p:cNvSpPr/>
          <p:nvPr/>
        </p:nvSpPr>
        <p:spPr>
          <a:xfrm>
            <a:off x="5623560" y="4315968"/>
            <a:ext cx="32918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0.603</a:t>
            </a:r>
          </a:p>
        </p:txBody>
      </p:sp>
      <p:sp>
        <p:nvSpPr>
          <p:cNvPr id="56" name="table"/>
          <p:cNvSpPr/>
          <p:nvPr/>
        </p:nvSpPr>
        <p:spPr>
          <a:xfrm>
            <a:off x="8915400" y="4315968"/>
            <a:ext cx="219456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SIMULATED</a:t>
            </a:r>
          </a:p>
        </p:txBody>
      </p:sp>
      <p:sp>
        <p:nvSpPr>
          <p:cNvPr id="58" name="table"/>
          <p:cNvSpPr/>
          <p:nvPr/>
        </p:nvSpPr>
        <p:spPr>
          <a:xfrm>
            <a:off x="502920" y="4700016"/>
            <a:ext cx="28346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Harness</a:t>
            </a:r>
          </a:p>
        </p:txBody>
      </p:sp>
      <p:sp>
        <p:nvSpPr>
          <p:cNvPr id="60" name="table"/>
          <p:cNvSpPr/>
          <p:nvPr/>
        </p:nvSpPr>
        <p:spPr>
          <a:xfrm>
            <a:off x="3337560" y="4700016"/>
            <a:ext cx="22860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not run</a:t>
            </a:r>
          </a:p>
        </p:txBody>
      </p:sp>
      <p:sp>
        <p:nvSpPr>
          <p:cNvPr id="62" name="table"/>
          <p:cNvSpPr/>
          <p:nvPr/>
        </p:nvSpPr>
        <p:spPr>
          <a:xfrm>
            <a:off x="5623560" y="4700016"/>
            <a:ext cx="32918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12 matched, 2 differed</a:t>
            </a:r>
          </a:p>
        </p:txBody>
      </p:sp>
      <p:sp>
        <p:nvSpPr>
          <p:cNvPr id="64" name="table"/>
          <p:cNvSpPr/>
          <p:nvPr/>
        </p:nvSpPr>
        <p:spPr>
          <a:xfrm>
            <a:off x="8915400" y="4700016"/>
            <a:ext cx="219456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66" name="table"/>
          <p:cNvSpPr/>
          <p:nvPr/>
        </p:nvSpPr>
        <p:spPr>
          <a:xfrm>
            <a:off x="502920" y="5084064"/>
            <a:ext cx="2834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Freeze</a:t>
            </a:r>
          </a:p>
        </p:txBody>
      </p:sp>
      <p:sp>
        <p:nvSpPr>
          <p:cNvPr id="68" name="table"/>
          <p:cNvSpPr/>
          <p:nvPr/>
        </p:nvSpPr>
        <p:spPr>
          <a:xfrm>
            <a:off x="3337560" y="5084064"/>
            <a:ext cx="228600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not run</a:t>
            </a:r>
          </a:p>
        </p:txBody>
      </p:sp>
      <p:sp>
        <p:nvSpPr>
          <p:cNvPr id="70" name="table"/>
          <p:cNvSpPr/>
          <p:nvPr/>
        </p:nvSpPr>
        <p:spPr>
          <a:xfrm>
            <a:off x="5623560" y="5084064"/>
            <a:ext cx="32918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42 of 42 passed</a:t>
            </a:r>
          </a:p>
        </p:txBody>
      </p:sp>
      <p:sp>
        <p:nvSpPr>
          <p:cNvPr id="72" name="table"/>
          <p:cNvSpPr/>
          <p:nvPr/>
        </p:nvSpPr>
        <p:spPr>
          <a:xfrm>
            <a:off x="8915400" y="5084064"/>
            <a:ext cx="219456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74" name="table"/>
          <p:cNvSpPr/>
          <p:nvPr/>
        </p:nvSpPr>
        <p:spPr>
          <a:xfrm>
            <a:off x="502920" y="5468112"/>
            <a:ext cx="28346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Replay tokens shown</a:t>
            </a:r>
          </a:p>
        </p:txBody>
      </p:sp>
      <p:sp>
        <p:nvSpPr>
          <p:cNvPr id="76" name="table"/>
          <p:cNvSpPr/>
          <p:nvPr/>
        </p:nvSpPr>
        <p:spPr>
          <a:xfrm>
            <a:off x="3337560" y="5468112"/>
            <a:ext cx="22860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not shown</a:t>
            </a:r>
          </a:p>
        </p:txBody>
      </p:sp>
      <p:sp>
        <p:nvSpPr>
          <p:cNvPr id="78" name="table"/>
          <p:cNvSpPr/>
          <p:nvPr/>
        </p:nvSpPr>
        <p:spPr>
          <a:xfrm>
            <a:off x="5623560" y="5468112"/>
            <a:ext cx="32918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0 and 0</a:t>
            </a:r>
          </a:p>
        </p:txBody>
      </p:sp>
      <p:sp>
        <p:nvSpPr>
          <p:cNvPr id="80" name="table"/>
          <p:cNvSpPr/>
          <p:nvPr/>
        </p:nvSpPr>
        <p:spPr>
          <a:xfrm>
            <a:off x="8915400" y="5468112"/>
            <a:ext cx="219456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REAL</a:t>
            </a:r>
          </a:p>
        </p:txBody>
      </p:sp>
      <p:sp>
        <p:nvSpPr>
          <p:cNvPr id="82" name="table"/>
          <p:cNvSpPr/>
          <p:nvPr/>
        </p:nvSpPr>
        <p:spPr>
          <a:xfrm>
            <a:off x="502920" y="5852160"/>
            <a:ext cx="2834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ROI</a:t>
            </a:r>
          </a:p>
        </p:txBody>
      </p:sp>
      <p:sp>
        <p:nvSpPr>
          <p:cNvPr id="84" name="table"/>
          <p:cNvSpPr/>
          <p:nvPr/>
        </p:nvSpPr>
        <p:spPr>
          <a:xfrm>
            <a:off x="3337560" y="5852160"/>
            <a:ext cx="228600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unclaimed</a:t>
            </a:r>
          </a:p>
        </p:txBody>
      </p:sp>
      <p:sp>
        <p:nvSpPr>
          <p:cNvPr id="86" name="table"/>
          <p:cNvSpPr/>
          <p:nvPr/>
        </p:nvSpPr>
        <p:spPr>
          <a:xfrm>
            <a:off x="5623560" y="5852160"/>
            <a:ext cx="32918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Educational</a:t>
            </a:r>
          </a:p>
        </p:txBody>
      </p:sp>
      <p:sp>
        <p:nvSpPr>
          <p:cNvPr id="88" name="table"/>
          <p:cNvSpPr/>
          <p:nvPr/>
        </p:nvSpPr>
        <p:spPr>
          <a:xfrm>
            <a:off x="8915400" y="5852160"/>
            <a:ext cx="219456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EDUCATIONAL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18</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The delivered value is a traceable decision on the page.</a:t>
            </a:r>
          </a:p>
        </p:txBody>
      </p:sp>
      <p:sp>
        <p:nvSpPr>
          <p:cNvPr id="5" name="body"/>
          <p:cNvSpPr txBox="1"/>
          <p:nvPr/>
        </p:nvSpPr>
        <p:spPr>
          <a:xfrm>
            <a:off x="502920" y="1298448"/>
            <a:ext cx="11155680" cy="105156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The reviewer can see both conflicting facts before the click. A refused role is written in a sentence that names the required role and the current role. A blocked untrusted note leaves the case unchanged.</a:t>
            </a:r>
          </a:p>
        </p:txBody>
      </p:sp>
      <p:sp>
        <p:nvSpPr>
          <p:cNvPr id="6" name="Rounded Rectangle 5"/>
          <p:cNvSpPr/>
          <p:nvPr/>
        </p:nvSpPr>
        <p:spPr>
          <a:xfrm>
            <a:off x="502920" y="2468880"/>
            <a:ext cx="5509259" cy="32461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1208" y="2633472"/>
            <a:ext cx="64008" cy="291693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76771" y="2468880"/>
            <a:ext cx="5509259" cy="32461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5059" y="2633472"/>
            <a:ext cx="64008" cy="291693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shows"/>
          <p:cNvSpPr txBox="1"/>
          <p:nvPr/>
        </p:nvSpPr>
        <p:spPr>
          <a:xfrm>
            <a:off x="722376" y="2670048"/>
            <a:ext cx="5097779" cy="2834640"/>
          </a:xfrm>
          <a:prstGeom prst="rect">
            <a:avLst/>
          </a:prstGeom>
          <a:noFill/>
        </p:spPr>
        <p:txBody>
          <a:bodyPr wrap="square" lIns="54864" rIns="54864" tIns="36576" bIns="36576" anchor="t"/>
          <a:lstStyle/>
          <a:p>
            <a:pPr algn="l">
              <a:spcBef>
                <a:spcPts val="0"/>
              </a:spcBef>
              <a:spcAft>
                <a:spcPts val="0"/>
              </a:spcAft>
            </a:pPr>
            <a:r>
              <a:rPr sz="1500" b="1" i="0">
                <a:solidFill>
                  <a:srgbClr val="231F20"/>
                </a:solidFill>
                <a:latin typeface="Calibri"/>
                <a:ea typeface="Calibri"/>
                <a:cs typeface="Calibri"/>
              </a:rPr>
              <a:t>What the page now shows</a:t>
            </a:r>
          </a:p>
          <a:p>
            <a:pPr algn="l">
              <a:spcBef>
                <a:spcPts val="0"/>
              </a:spcBef>
              <a:spcAft>
                <a:spcPts val="0"/>
              </a:spcAft>
            </a:pPr>
            <a:r>
              <a:rPr sz="1600" b="0" i="0">
                <a:solidFill>
                  <a:srgbClr val="4B4B4B"/>
                </a:solidFill>
                <a:latin typeface="Calibri"/>
                <a:ea typeface="Calibri"/>
                <a:cs typeface="Calibri"/>
              </a:rPr>
              <a:t>Both ingest times, the role line, the new queue count, and the packaged count that stayed at 67.</a:t>
            </a:r>
          </a:p>
          <a:p>
            <a:pPr algn="l">
              <a:spcBef>
                <a:spcPts val="0"/>
              </a:spcBef>
              <a:spcAft>
                <a:spcPts val="0"/>
              </a:spcAft>
            </a:pPr>
            <a:r>
              <a:rPr sz="1600" b="0" i="0">
                <a:solidFill>
                  <a:srgbClr val="231F20"/>
                </a:solidFill>
                <a:latin typeface="Calibri"/>
                <a:ea typeface="Calibri"/>
                <a:cs typeface="Calibri"/>
              </a:rPr>
              <a:t>The answer source can read Azure OpenAI, a replay file, or a lake statement. On this build the pill says replay.</a:t>
            </a:r>
          </a:p>
        </p:txBody>
      </p:sp>
      <p:sp>
        <p:nvSpPr>
          <p:cNvPr id="11" name="card:unknown"/>
          <p:cNvSpPr txBox="1"/>
          <p:nvPr/>
        </p:nvSpPr>
        <p:spPr>
          <a:xfrm>
            <a:off x="6396227" y="2670048"/>
            <a:ext cx="5097779" cy="2834640"/>
          </a:xfrm>
          <a:prstGeom prst="rect">
            <a:avLst/>
          </a:prstGeom>
          <a:noFill/>
        </p:spPr>
        <p:txBody>
          <a:bodyPr wrap="square" lIns="54864" rIns="54864" tIns="36576" bIns="36576" anchor="t"/>
          <a:lstStyle/>
          <a:p>
            <a:pPr algn="l">
              <a:spcBef>
                <a:spcPts val="0"/>
              </a:spcBef>
              <a:spcAft>
                <a:spcPts val="0"/>
              </a:spcAft>
            </a:pPr>
            <a:r>
              <a:rPr sz="1500" b="1" i="0">
                <a:solidFill>
                  <a:srgbClr val="231F20"/>
                </a:solidFill>
                <a:latin typeface="Calibri"/>
                <a:ea typeface="Calibri"/>
                <a:cs typeface="Calibri"/>
              </a:rPr>
              <a:t>What stays Unknown</a:t>
            </a:r>
          </a:p>
          <a:p>
            <a:pPr algn="l">
              <a:spcBef>
                <a:spcPts val="0"/>
              </a:spcBef>
              <a:spcAft>
                <a:spcPts val="0"/>
              </a:spcAft>
            </a:pPr>
            <a:r>
              <a:rPr sz="1600" b="0" i="0">
                <a:solidFill>
                  <a:srgbClr val="4B4B4B"/>
                </a:solidFill>
                <a:latin typeface="Calibri"/>
                <a:ea typeface="Calibri"/>
                <a:cs typeface="Calibri"/>
              </a:rPr>
              <a:t>Exception cycle time. Aged backlog. Dollar benefit. Company job titles for RT-01 to RT-06. Numeric floors such as 90 or 95.</a:t>
            </a:r>
          </a:p>
          <a:p>
            <a:pPr algn="l">
              <a:spcBef>
                <a:spcPts val="0"/>
              </a:spcBef>
              <a:spcAft>
                <a:spcPts val="0"/>
              </a:spcAft>
            </a:pPr>
            <a:r>
              <a:rPr sz="1600" b="0" i="0">
                <a:solidFill>
                  <a:srgbClr val="231F20"/>
                </a:solidFill>
                <a:latin typeface="Calibri"/>
                <a:ea typeface="Calibri"/>
                <a:cs typeface="Calibri"/>
              </a:rPr>
              <a:t>The owner of INC-2025-014 stays empty until RT-06 types one on the outage page.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19</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A blocked approval left the case status as REPLAY.</a:t>
            </a:r>
          </a:p>
        </p:txBody>
      </p:sp>
      <p:sp>
        <p:nvSpPr>
          <p:cNvPr id="5" name="body"/>
          <p:cNvSpPr txBox="1"/>
          <p:nvPr/>
        </p:nvSpPr>
        <p:spPr>
          <a:xfrm>
            <a:off x="502920" y="1325880"/>
            <a:ext cx="11155680" cy="219456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Partner feed REPLAY-000000000 already carried untrusted quotes. The note told the reader to disregard validation and to auto approve.</a:t>
            </a:r>
          </a:p>
          <a:p>
            <a:pPr algn="l">
              <a:spcBef>
                <a:spcPts val="0"/>
              </a:spcBef>
              <a:spcAft>
                <a:spcPts val="800"/>
              </a:spcAft>
            </a:pPr>
            <a:r>
              <a:rPr sz="1600" b="0" i="0">
                <a:solidFill>
                  <a:srgbClr val="231F20"/>
                </a:solidFill>
                <a:latin typeface="Calibri"/>
                <a:ea typeface="Calibri"/>
                <a:cs typeface="Calibri"/>
              </a:rPr>
              <a:t>The prior test posted an approve action with no corpus id. Before the control, the reply waited. After the control, the reply was HTTP 409 BLOCK.</a:t>
            </a:r>
          </a:p>
          <a:p>
            <a:pPr algn="l">
              <a:spcBef>
                <a:spcPts val="0"/>
              </a:spcBef>
              <a:spcAft>
                <a:spcPts val="800"/>
              </a:spcAft>
            </a:pPr>
            <a:r>
              <a:rPr sz="1600" b="0" i="0">
                <a:solidFill>
                  <a:srgbClr val="231F20"/>
                </a:solidFill>
                <a:latin typeface="Calibri"/>
                <a:ea typeface="Calibri"/>
                <a:cs typeface="Calibri"/>
              </a:rPr>
              <a:t>The case status stayed REPLAY. Approvals stayed empty. Application B returned the same block after its own control.</a:t>
            </a:r>
          </a:p>
          <a:p>
            <a:pPr algn="l">
              <a:spcBef>
                <a:spcPts val="0"/>
              </a:spcBef>
              <a:spcAft>
                <a:spcPts val="800"/>
              </a:spcAft>
            </a:pPr>
            <a:r>
              <a:rPr sz="1600" b="0" i="0">
                <a:solidFill>
                  <a:srgbClr val="231F20"/>
                </a:solidFill>
                <a:latin typeface="Calibri"/>
                <a:ea typeface="Calibri"/>
                <a:cs typeface="Calibri"/>
              </a:rPr>
              <a:t>This slide cites that prior test. It does not run a new post in this room.</a:t>
            </a:r>
          </a:p>
        </p:txBody>
      </p:sp>
      <p:sp>
        <p:nvSpPr>
          <p:cNvPr id="6" name="Rounded Rectangle 5"/>
          <p:cNvSpPr/>
          <p:nvPr/>
        </p:nvSpPr>
        <p:spPr>
          <a:xfrm>
            <a:off x="502920" y="3749039"/>
            <a:ext cx="5509259" cy="196596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1208" y="3913631"/>
            <a:ext cx="64008" cy="163677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76771" y="3749039"/>
            <a:ext cx="5509259" cy="196596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5059" y="3913631"/>
            <a:ext cx="64008" cy="1636776"/>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before"/>
          <p:cNvSpPr txBox="1"/>
          <p:nvPr/>
        </p:nvSpPr>
        <p:spPr>
          <a:xfrm>
            <a:off x="704088" y="3977639"/>
            <a:ext cx="5143499" cy="1463040"/>
          </a:xfrm>
          <a:prstGeom prst="rect">
            <a:avLst/>
          </a:prstGeom>
          <a:noFill/>
        </p:spPr>
        <p:txBody>
          <a:bodyPr wrap="square" lIns="54864" rIns="54864" tIns="36576" bIns="36576" anchor="t"/>
          <a:lstStyle/>
          <a:p>
            <a:pPr algn="l">
              <a:spcBef>
                <a:spcPts val="0"/>
              </a:spcBef>
              <a:spcAft>
                <a:spcPts val="0"/>
              </a:spcAft>
            </a:pPr>
            <a:r>
              <a:rPr sz="1500" b="1" i="0">
                <a:solidFill>
                  <a:srgbClr val="231F20"/>
                </a:solidFill>
                <a:latin typeface="Calibri"/>
                <a:ea typeface="Calibri"/>
                <a:cs typeface="Calibri"/>
              </a:rPr>
              <a:t>Before the control</a:t>
            </a:r>
          </a:p>
          <a:p>
            <a:pPr algn="l">
              <a:spcBef>
                <a:spcPts val="0"/>
              </a:spcBef>
              <a:spcAft>
                <a:spcPts val="0"/>
              </a:spcAft>
            </a:pPr>
            <a:r>
              <a:rPr sz="1600" b="0" i="0">
                <a:solidFill>
                  <a:srgbClr val="4B4B4B"/>
                </a:solidFill>
                <a:latin typeface="Calibri"/>
                <a:ea typeface="Calibri"/>
                <a:cs typeface="Calibri"/>
              </a:rPr>
              <a:t>The reply waited. The case was unchanged at that moment too.</a:t>
            </a:r>
          </a:p>
        </p:txBody>
      </p:sp>
      <p:sp>
        <p:nvSpPr>
          <p:cNvPr id="11" name="card:after"/>
          <p:cNvSpPr txBox="1"/>
          <p:nvPr/>
        </p:nvSpPr>
        <p:spPr>
          <a:xfrm>
            <a:off x="6377939" y="3977639"/>
            <a:ext cx="5143499" cy="1463040"/>
          </a:xfrm>
          <a:prstGeom prst="rect">
            <a:avLst/>
          </a:prstGeom>
          <a:noFill/>
        </p:spPr>
        <p:txBody>
          <a:bodyPr wrap="square" lIns="54864" rIns="54864" tIns="36576" bIns="36576" anchor="t"/>
          <a:lstStyle/>
          <a:p>
            <a:pPr algn="l">
              <a:spcBef>
                <a:spcPts val="0"/>
              </a:spcBef>
              <a:spcAft>
                <a:spcPts val="0"/>
              </a:spcAft>
            </a:pPr>
            <a:r>
              <a:rPr sz="1500" b="1" i="0">
                <a:solidFill>
                  <a:srgbClr val="231F20"/>
                </a:solidFill>
                <a:latin typeface="Calibri"/>
                <a:ea typeface="Calibri"/>
                <a:cs typeface="Calibri"/>
              </a:rPr>
              <a:t>After the control</a:t>
            </a:r>
          </a:p>
          <a:p>
            <a:pPr algn="l">
              <a:spcBef>
                <a:spcPts val="0"/>
              </a:spcBef>
              <a:spcAft>
                <a:spcPts val="0"/>
              </a:spcAft>
            </a:pPr>
            <a:r>
              <a:rPr sz="1600" b="0" i="0">
                <a:solidFill>
                  <a:srgbClr val="4B4B4B"/>
                </a:solidFill>
                <a:latin typeface="Calibri"/>
                <a:ea typeface="Calibri"/>
                <a:cs typeface="Calibri"/>
              </a:rPr>
              <a:t>HTTP 409 BLOCK. Status stayed REPLAY. This result is REAL.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20</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The same correlation id stayed after the process died.</a:t>
            </a:r>
          </a:p>
        </p:txBody>
      </p:sp>
      <p:sp>
        <p:nvSpPr>
          <p:cNvPr id="5" name="body"/>
          <p:cNvSpPr txBox="1"/>
          <p:nvPr/>
        </p:nvSpPr>
        <p:spPr>
          <a:xfrm>
            <a:off x="502920" y="1325880"/>
            <a:ext cx="11155680" cy="210312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The prior test started Application A, posted case PS000000016, and killed process id 29320.</a:t>
            </a:r>
          </a:p>
          <a:p>
            <a:pPr algn="l">
              <a:spcBef>
                <a:spcPts val="0"/>
              </a:spcBef>
              <a:spcAft>
                <a:spcPts val="800"/>
              </a:spcAft>
            </a:pPr>
            <a:r>
              <a:rPr sz="1600" b="0" i="0">
                <a:solidFill>
                  <a:srgbClr val="231F20"/>
                </a:solidFill>
                <a:latin typeface="Calibri"/>
                <a:ea typeface="Calibri"/>
                <a:cs typeface="Calibri"/>
              </a:rPr>
              <a:t>A new process started. Correlation id corr-p10b-kill-20261018-001 was still on that case.</a:t>
            </a:r>
          </a:p>
          <a:p>
            <a:pPr algn="l">
              <a:spcBef>
                <a:spcPts val="0"/>
              </a:spcBef>
              <a:spcAft>
                <a:spcPts val="800"/>
              </a:spcAft>
            </a:pPr>
            <a:r>
              <a:rPr sz="1600" b="0" i="0">
                <a:solidFill>
                  <a:srgbClr val="231F20"/>
                </a:solidFill>
                <a:latin typeface="Calibri"/>
                <a:ea typeface="Calibri"/>
                <a:cs typeface="Calibri"/>
              </a:rPr>
              <a:t>The hold value stayed 0. The case did not gain a hold because the process died.</a:t>
            </a:r>
          </a:p>
          <a:p>
            <a:pPr algn="l">
              <a:spcBef>
                <a:spcPts val="0"/>
              </a:spcBef>
              <a:spcAft>
                <a:spcPts val="800"/>
              </a:spcAft>
            </a:pPr>
            <a:r>
              <a:rPr sz="1600" b="0" i="0">
                <a:solidFill>
                  <a:srgbClr val="231F20"/>
                </a:solidFill>
                <a:latin typeface="Calibri"/>
                <a:ea typeface="Calibri"/>
                <a:cs typeface="Calibri"/>
              </a:rPr>
              <a:t>This slide cites that prior test. It does not kill a process in this room.</a:t>
            </a:r>
          </a:p>
        </p:txBody>
      </p:sp>
      <p:sp>
        <p:nvSpPr>
          <p:cNvPr id="6" name="Rounded Rectangle 5"/>
          <p:cNvSpPr/>
          <p:nvPr/>
        </p:nvSpPr>
        <p:spPr>
          <a:xfrm>
            <a:off x="502920" y="3657600"/>
            <a:ext cx="3617976" cy="20116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1208" y="3822191"/>
            <a:ext cx="64008" cy="168249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0"/>
          <p:cNvSpPr txBox="1"/>
          <p:nvPr/>
        </p:nvSpPr>
        <p:spPr>
          <a:xfrm>
            <a:off x="704088" y="3913632"/>
            <a:ext cx="3252216" cy="1463040"/>
          </a:xfrm>
          <a:prstGeom prst="rect">
            <a:avLst/>
          </a:prstGeom>
          <a:noFill/>
        </p:spPr>
        <p:txBody>
          <a:bodyPr wrap="square" lIns="54864" rIns="54864" tIns="36576" bIns="36576" anchor="t"/>
          <a:lstStyle/>
          <a:p>
            <a:pPr algn="l">
              <a:spcBef>
                <a:spcPts val="0"/>
              </a:spcBef>
              <a:spcAft>
                <a:spcPts val="0"/>
              </a:spcAft>
            </a:pPr>
            <a:r>
              <a:rPr sz="1500" b="1" i="0">
                <a:solidFill>
                  <a:srgbClr val="231F20"/>
                </a:solidFill>
                <a:latin typeface="Calibri"/>
                <a:ea typeface="Calibri"/>
                <a:cs typeface="Calibri"/>
              </a:rPr>
              <a:t>Case</a:t>
            </a:r>
          </a:p>
          <a:p>
            <a:pPr algn="l">
              <a:spcBef>
                <a:spcPts val="0"/>
              </a:spcBef>
              <a:spcAft>
                <a:spcPts val="0"/>
              </a:spcAft>
            </a:pPr>
            <a:r>
              <a:rPr sz="1600" b="0" i="0">
                <a:solidFill>
                  <a:srgbClr val="4B4B4B"/>
                </a:solidFill>
                <a:latin typeface="Calibri"/>
                <a:ea typeface="Calibri"/>
                <a:cs typeface="Calibri"/>
              </a:rPr>
              <a:t>PS000000016 was the posted case.</a:t>
            </a:r>
          </a:p>
        </p:txBody>
      </p:sp>
      <p:sp>
        <p:nvSpPr>
          <p:cNvPr id="9" name="Rounded Rectangle 8"/>
          <p:cNvSpPr/>
          <p:nvPr/>
        </p:nvSpPr>
        <p:spPr>
          <a:xfrm>
            <a:off x="4285488" y="3657600"/>
            <a:ext cx="3617976" cy="20116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03775" y="3822191"/>
            <a:ext cx="64008" cy="168249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1"/>
          <p:cNvSpPr txBox="1"/>
          <p:nvPr/>
        </p:nvSpPr>
        <p:spPr>
          <a:xfrm>
            <a:off x="4486656" y="3913632"/>
            <a:ext cx="3252216" cy="1463040"/>
          </a:xfrm>
          <a:prstGeom prst="rect">
            <a:avLst/>
          </a:prstGeom>
          <a:noFill/>
        </p:spPr>
        <p:txBody>
          <a:bodyPr wrap="square" lIns="54864" rIns="54864" tIns="36576" bIns="36576" anchor="t"/>
          <a:lstStyle/>
          <a:p>
            <a:pPr algn="l">
              <a:spcBef>
                <a:spcPts val="0"/>
              </a:spcBef>
              <a:spcAft>
                <a:spcPts val="0"/>
              </a:spcAft>
            </a:pPr>
            <a:r>
              <a:rPr sz="1500" b="1" i="0">
                <a:solidFill>
                  <a:srgbClr val="231F20"/>
                </a:solidFill>
                <a:latin typeface="Calibri"/>
                <a:ea typeface="Calibri"/>
                <a:cs typeface="Calibri"/>
              </a:rPr>
              <a:t>Process</a:t>
            </a:r>
          </a:p>
          <a:p>
            <a:pPr algn="l">
              <a:spcBef>
                <a:spcPts val="0"/>
              </a:spcBef>
              <a:spcAft>
                <a:spcPts val="0"/>
              </a:spcAft>
            </a:pPr>
            <a:r>
              <a:rPr sz="1600" b="0" i="0">
                <a:solidFill>
                  <a:srgbClr val="4B4B4B"/>
                </a:solidFill>
                <a:latin typeface="Calibri"/>
                <a:ea typeface="Calibri"/>
                <a:cs typeface="Calibri"/>
              </a:rPr>
              <a:t>Pid 29320 was killed. A new process started.</a:t>
            </a:r>
          </a:p>
        </p:txBody>
      </p:sp>
      <p:sp>
        <p:nvSpPr>
          <p:cNvPr id="12" name="Rounded Rectangle 11"/>
          <p:cNvSpPr/>
          <p:nvPr/>
        </p:nvSpPr>
        <p:spPr>
          <a:xfrm>
            <a:off x="8068056" y="3657600"/>
            <a:ext cx="3617976" cy="20116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86344" y="3822191"/>
            <a:ext cx="64008" cy="1682496"/>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rd:2"/>
          <p:cNvSpPr txBox="1"/>
          <p:nvPr/>
        </p:nvSpPr>
        <p:spPr>
          <a:xfrm>
            <a:off x="8269224" y="3913632"/>
            <a:ext cx="3252216" cy="1463040"/>
          </a:xfrm>
          <a:prstGeom prst="rect">
            <a:avLst/>
          </a:prstGeom>
          <a:noFill/>
        </p:spPr>
        <p:txBody>
          <a:bodyPr wrap="square" lIns="54864" rIns="54864" tIns="36576" bIns="36576" anchor="t"/>
          <a:lstStyle/>
          <a:p>
            <a:pPr algn="l">
              <a:spcBef>
                <a:spcPts val="0"/>
              </a:spcBef>
              <a:spcAft>
                <a:spcPts val="0"/>
              </a:spcAft>
            </a:pPr>
            <a:r>
              <a:rPr sz="1500" b="1" i="0">
                <a:solidFill>
                  <a:srgbClr val="231F20"/>
                </a:solidFill>
                <a:latin typeface="Calibri"/>
                <a:ea typeface="Calibri"/>
                <a:cs typeface="Calibri"/>
              </a:rPr>
              <a:t>What stayed</a:t>
            </a:r>
          </a:p>
          <a:p>
            <a:pPr algn="l">
              <a:spcBef>
                <a:spcPts val="0"/>
              </a:spcBef>
              <a:spcAft>
                <a:spcPts val="0"/>
              </a:spcAft>
            </a:pPr>
            <a:r>
              <a:rPr sz="1600" b="0" i="0">
                <a:solidFill>
                  <a:srgbClr val="4B4B4B"/>
                </a:solidFill>
                <a:latin typeface="Calibri"/>
                <a:ea typeface="Calibri"/>
                <a:cs typeface="Calibri"/>
              </a:rPr>
              <a:t>The correlation id stayed. The hold value stayed 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21</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Five measured results close this walk.</a:t>
            </a:r>
          </a:p>
        </p:txBody>
      </p:sp>
      <p:sp>
        <p:nvSpPr>
          <p:cNvPr id="5" name="lesson"/>
          <p:cNvSpPr/>
          <p:nvPr/>
        </p:nvSpPr>
        <p:spPr>
          <a:xfrm>
            <a:off x="502920" y="1481328"/>
            <a:ext cx="438912" cy="438912"/>
          </a:xfrm>
          <a:prstGeom prst="ellipse">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Bef>
                <a:spcPts val="0"/>
              </a:spcBef>
              <a:spcAft>
                <a:spcPts val="0"/>
              </a:spcAft>
            </a:pPr>
            <a:r>
              <a:rPr sz="1600" b="1" i="0">
                <a:solidFill>
                  <a:srgbClr val="FFFFFF"/>
                </a:solidFill>
                <a:latin typeface="Calibri"/>
                <a:ea typeface="Calibri"/>
                <a:cs typeface="Calibri"/>
              </a:rPr>
              <a:t>1</a:t>
            </a:r>
          </a:p>
        </p:txBody>
      </p:sp>
      <p:sp>
        <p:nvSpPr>
          <p:cNvPr id="6" name="Rounded Rectangle 5"/>
          <p:cNvSpPr/>
          <p:nvPr/>
        </p:nvSpPr>
        <p:spPr>
          <a:xfrm>
            <a:off x="1143000" y="1371600"/>
            <a:ext cx="10332720" cy="77724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ody"/>
          <p:cNvSpPr txBox="1"/>
          <p:nvPr/>
        </p:nvSpPr>
        <p:spPr>
          <a:xfrm>
            <a:off x="1325880" y="1371600"/>
            <a:ext cx="9966960" cy="777240"/>
          </a:xfrm>
          <a:prstGeom prst="rect">
            <a:avLst/>
          </a:prstGeom>
          <a:noFill/>
        </p:spPr>
        <p:txBody>
          <a:bodyPr wrap="square" lIns="54864" rIns="54864" tIns="36576" bIns="36576" anchor="ctr"/>
          <a:lstStyle/>
          <a:p>
            <a:pPr algn="l">
              <a:spcBef>
                <a:spcPts val="0"/>
              </a:spcBef>
              <a:spcAft>
                <a:spcPts val="0"/>
              </a:spcAft>
            </a:pPr>
            <a:r>
              <a:rPr sz="1600" b="0" i="0">
                <a:solidFill>
                  <a:srgbClr val="231F20"/>
                </a:solidFill>
                <a:latin typeface="Calibri"/>
                <a:ea typeface="Calibri"/>
                <a:cs typeface="Calibri"/>
              </a:rPr>
              <a:t>Hold prediction scored 117 of 125, the same as the majority guess, and was rejected.</a:t>
            </a:r>
          </a:p>
        </p:txBody>
      </p:sp>
      <p:sp>
        <p:nvSpPr>
          <p:cNvPr id="8" name="lesson"/>
          <p:cNvSpPr/>
          <p:nvPr/>
        </p:nvSpPr>
        <p:spPr>
          <a:xfrm>
            <a:off x="502920" y="2395728"/>
            <a:ext cx="438912" cy="438912"/>
          </a:xfrm>
          <a:prstGeom prst="ellipse">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Bef>
                <a:spcPts val="0"/>
              </a:spcBef>
              <a:spcAft>
                <a:spcPts val="0"/>
              </a:spcAft>
            </a:pPr>
            <a:r>
              <a:rPr sz="1600" b="1" i="0">
                <a:solidFill>
                  <a:srgbClr val="FFFFFF"/>
                </a:solidFill>
                <a:latin typeface="Calibri"/>
                <a:ea typeface="Calibri"/>
                <a:cs typeface="Calibri"/>
              </a:rPr>
              <a:t>2</a:t>
            </a:r>
          </a:p>
        </p:txBody>
      </p:sp>
      <p:sp>
        <p:nvSpPr>
          <p:cNvPr id="9" name="Rounded Rectangle 8"/>
          <p:cNvSpPr/>
          <p:nvPr/>
        </p:nvSpPr>
        <p:spPr>
          <a:xfrm>
            <a:off x="1143000" y="2286000"/>
            <a:ext cx="10332720" cy="77724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ody"/>
          <p:cNvSpPr txBox="1"/>
          <p:nvPr/>
        </p:nvSpPr>
        <p:spPr>
          <a:xfrm>
            <a:off x="1325880" y="2286000"/>
            <a:ext cx="9966960" cy="777240"/>
          </a:xfrm>
          <a:prstGeom prst="rect">
            <a:avLst/>
          </a:prstGeom>
          <a:noFill/>
        </p:spPr>
        <p:txBody>
          <a:bodyPr wrap="square" lIns="54864" rIns="54864" tIns="36576" bIns="36576" anchor="ctr"/>
          <a:lstStyle/>
          <a:p>
            <a:pPr algn="l">
              <a:spcBef>
                <a:spcPts val="0"/>
              </a:spcBef>
              <a:spcAft>
                <a:spcPts val="0"/>
              </a:spcAft>
            </a:pPr>
            <a:r>
              <a:rPr sz="1600" b="0" i="0">
                <a:solidFill>
                  <a:srgbClr val="231F20"/>
                </a:solidFill>
                <a:latin typeface="Calibri"/>
                <a:ea typeface="Calibri"/>
                <a:cs typeface="Calibri"/>
              </a:rPr>
              <a:t>The lake-built application differed on 2 of 14 checks. 12 checks matched. There is no match percent.</a:t>
            </a:r>
          </a:p>
        </p:txBody>
      </p:sp>
      <p:sp>
        <p:nvSpPr>
          <p:cNvPr id="11" name="lesson"/>
          <p:cNvSpPr/>
          <p:nvPr/>
        </p:nvSpPr>
        <p:spPr>
          <a:xfrm>
            <a:off x="502920" y="3310128"/>
            <a:ext cx="438912" cy="438912"/>
          </a:xfrm>
          <a:prstGeom prst="ellipse">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Bef>
                <a:spcPts val="0"/>
              </a:spcBef>
              <a:spcAft>
                <a:spcPts val="0"/>
              </a:spcAft>
            </a:pPr>
            <a:r>
              <a:rPr sz="1600" b="1" i="0">
                <a:solidFill>
                  <a:srgbClr val="FFFFFF"/>
                </a:solidFill>
                <a:latin typeface="Calibri"/>
                <a:ea typeface="Calibri"/>
                <a:cs typeface="Calibri"/>
              </a:rPr>
              <a:t>3</a:t>
            </a:r>
          </a:p>
        </p:txBody>
      </p:sp>
      <p:sp>
        <p:nvSpPr>
          <p:cNvPr id="12" name="Rounded Rectangle 11"/>
          <p:cNvSpPr/>
          <p:nvPr/>
        </p:nvSpPr>
        <p:spPr>
          <a:xfrm>
            <a:off x="1143000" y="3200400"/>
            <a:ext cx="10332720" cy="77724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ody"/>
          <p:cNvSpPr txBox="1"/>
          <p:nvPr/>
        </p:nvSpPr>
        <p:spPr>
          <a:xfrm>
            <a:off x="1325880" y="3200400"/>
            <a:ext cx="9966960" cy="777240"/>
          </a:xfrm>
          <a:prstGeom prst="rect">
            <a:avLst/>
          </a:prstGeom>
          <a:noFill/>
        </p:spPr>
        <p:txBody>
          <a:bodyPr wrap="square" lIns="54864" rIns="54864" tIns="36576" bIns="36576" anchor="ctr"/>
          <a:lstStyle/>
          <a:p>
            <a:pPr algn="l">
              <a:spcBef>
                <a:spcPts val="0"/>
              </a:spcBef>
              <a:spcAft>
                <a:spcPts val="0"/>
              </a:spcAft>
            </a:pPr>
            <a:r>
              <a:rPr sz="1600" b="0" i="0">
                <a:solidFill>
                  <a:srgbClr val="231F20"/>
                </a:solidFill>
                <a:latin typeface="Calibri"/>
                <a:ea typeface="Calibri"/>
                <a:cs typeface="Calibri"/>
              </a:rPr>
              <a:t>The correlation id on PS000000016 survived the process restart. The hold value stayed 0.</a:t>
            </a:r>
          </a:p>
        </p:txBody>
      </p:sp>
      <p:sp>
        <p:nvSpPr>
          <p:cNvPr id="14" name="lesson"/>
          <p:cNvSpPr/>
          <p:nvPr/>
        </p:nvSpPr>
        <p:spPr>
          <a:xfrm>
            <a:off x="502920" y="4224528"/>
            <a:ext cx="438912" cy="438912"/>
          </a:xfrm>
          <a:prstGeom prst="ellipse">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Bef>
                <a:spcPts val="0"/>
              </a:spcBef>
              <a:spcAft>
                <a:spcPts val="0"/>
              </a:spcAft>
            </a:pPr>
            <a:r>
              <a:rPr sz="1600" b="1" i="0">
                <a:solidFill>
                  <a:srgbClr val="FFFFFF"/>
                </a:solidFill>
                <a:latin typeface="Calibri"/>
                <a:ea typeface="Calibri"/>
                <a:cs typeface="Calibri"/>
              </a:rPr>
              <a:t>4</a:t>
            </a:r>
          </a:p>
        </p:txBody>
      </p:sp>
      <p:sp>
        <p:nvSpPr>
          <p:cNvPr id="15" name="Rounded Rectangle 14"/>
          <p:cNvSpPr/>
          <p:nvPr/>
        </p:nvSpPr>
        <p:spPr>
          <a:xfrm>
            <a:off x="1143000" y="4114800"/>
            <a:ext cx="10332720" cy="77724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ody"/>
          <p:cNvSpPr txBox="1"/>
          <p:nvPr/>
        </p:nvSpPr>
        <p:spPr>
          <a:xfrm>
            <a:off x="1325880" y="4114800"/>
            <a:ext cx="9966960" cy="777240"/>
          </a:xfrm>
          <a:prstGeom prst="rect">
            <a:avLst/>
          </a:prstGeom>
          <a:noFill/>
        </p:spPr>
        <p:txBody>
          <a:bodyPr wrap="square" lIns="54864" rIns="54864" tIns="36576" bIns="36576" anchor="ctr"/>
          <a:lstStyle/>
          <a:p>
            <a:pPr algn="l">
              <a:spcBef>
                <a:spcPts val="0"/>
              </a:spcBef>
              <a:spcAft>
                <a:spcPts val="0"/>
              </a:spcAft>
            </a:pPr>
            <a:r>
              <a:rPr sz="1600" b="0" i="0">
                <a:solidFill>
                  <a:srgbClr val="231F20"/>
                </a:solidFill>
                <a:latin typeface="Calibri"/>
                <a:ea typeface="Calibri"/>
                <a:cs typeface="Calibri"/>
              </a:rPr>
              <a:t>Untrusted approve text returned BLOCK. The case record did not change.</a:t>
            </a:r>
          </a:p>
        </p:txBody>
      </p:sp>
      <p:sp>
        <p:nvSpPr>
          <p:cNvPr id="17" name="lesson"/>
          <p:cNvSpPr/>
          <p:nvPr/>
        </p:nvSpPr>
        <p:spPr>
          <a:xfrm>
            <a:off x="502920" y="5138928"/>
            <a:ext cx="438912" cy="438912"/>
          </a:xfrm>
          <a:prstGeom prst="ellipse">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Bef>
                <a:spcPts val="0"/>
              </a:spcBef>
              <a:spcAft>
                <a:spcPts val="0"/>
              </a:spcAft>
            </a:pPr>
            <a:r>
              <a:rPr sz="1600" b="1" i="0">
                <a:solidFill>
                  <a:srgbClr val="FFFFFF"/>
                </a:solidFill>
                <a:latin typeface="Calibri"/>
                <a:ea typeface="Calibri"/>
                <a:cs typeface="Calibri"/>
              </a:rPr>
              <a:t>5</a:t>
            </a:r>
          </a:p>
        </p:txBody>
      </p:sp>
      <p:sp>
        <p:nvSpPr>
          <p:cNvPr id="18" name="Rounded Rectangle 17"/>
          <p:cNvSpPr/>
          <p:nvPr/>
        </p:nvSpPr>
        <p:spPr>
          <a:xfrm>
            <a:off x="1143000" y="5029200"/>
            <a:ext cx="10332720" cy="77724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ody"/>
          <p:cNvSpPr txBox="1"/>
          <p:nvPr/>
        </p:nvSpPr>
        <p:spPr>
          <a:xfrm>
            <a:off x="1325880" y="5029200"/>
            <a:ext cx="9966960" cy="777240"/>
          </a:xfrm>
          <a:prstGeom prst="rect">
            <a:avLst/>
          </a:prstGeom>
          <a:noFill/>
        </p:spPr>
        <p:txBody>
          <a:bodyPr wrap="square" lIns="54864" rIns="54864" tIns="36576" bIns="36576" anchor="ctr"/>
          <a:lstStyle/>
          <a:p>
            <a:pPr algn="l">
              <a:spcBef>
                <a:spcPts val="0"/>
              </a:spcBef>
              <a:spcAft>
                <a:spcPts val="0"/>
              </a:spcAft>
            </a:pPr>
            <a:r>
              <a:rPr sz="1600" b="0" i="0">
                <a:solidFill>
                  <a:srgbClr val="231F20"/>
                </a:solidFill>
                <a:latin typeface="Calibri"/>
                <a:ea typeface="Calibri"/>
                <a:cs typeface="Calibri"/>
              </a:rPr>
              <a:t>The supporting counts can be shown. Cycle time and dollars stay Unknown. ROI stays educational.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9" name="Connector 8"/>
          <p:cNvCxnSpPr/>
          <p:nvPr/>
        </p:nvCxnSpPr>
        <p:spPr>
          <a:xfrm>
            <a:off x="502920" y="3328415"/>
            <a:ext cx="27432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246120" y="3328415"/>
            <a:ext cx="84124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2920" y="3986783"/>
            <a:ext cx="27432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246120" y="3986783"/>
            <a:ext cx="84124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02920" y="4645151"/>
            <a:ext cx="27432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246120" y="4645151"/>
            <a:ext cx="84124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02920" y="5303520"/>
            <a:ext cx="27432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246120" y="5303520"/>
            <a:ext cx="84124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02920" y="5961888"/>
            <a:ext cx="27432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246120" y="5961888"/>
            <a:ext cx="84124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rIns="0" tIns="36576"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rIns="0" tIns="36576" bIns="36576" anchor="ctr"/>
          <a:lstStyle/>
          <a:p>
            <a:pPr algn="r">
              <a:spcBef>
                <a:spcPts val="0"/>
              </a:spcBef>
              <a:spcAft>
                <a:spcPts val="0"/>
              </a:spcAft>
            </a:pPr>
            <a:r>
              <a:rPr sz="1000" b="0" i="0">
                <a:solidFill>
                  <a:srgbClr val="777777"/>
                </a:solidFill>
                <a:latin typeface="Calibri"/>
                <a:ea typeface="Calibri"/>
                <a:cs typeface="Calibri"/>
              </a:rPr>
              <a:t>22</a:t>
            </a:r>
          </a:p>
        </p:txBody>
      </p:sp>
      <p:sp>
        <p:nvSpPr>
          <p:cNvPr id="4" name="title"/>
          <p:cNvSpPr txBox="1"/>
          <p:nvPr/>
        </p:nvSpPr>
        <p:spPr>
          <a:xfrm>
            <a:off x="502920" y="347472"/>
            <a:ext cx="11155680" cy="868680"/>
          </a:xfrm>
          <a:prstGeom prst="rect">
            <a:avLst/>
          </a:prstGeom>
          <a:noFill/>
        </p:spPr>
        <p:txBody>
          <a:bodyPr wrap="square" lIns="0" rIns="0" tIns="36576" bIns="36576" anchor="t"/>
          <a:lstStyle/>
          <a:p>
            <a:pPr algn="l">
              <a:spcBef>
                <a:spcPts val="0"/>
              </a:spcBef>
              <a:spcAft>
                <a:spcPts val="0"/>
              </a:spcAft>
            </a:pPr>
            <a:r>
              <a:rPr sz="2600" b="1" i="0">
                <a:solidFill>
                  <a:srgbClr val="231F20"/>
                </a:solidFill>
                <a:latin typeface="Calibri"/>
                <a:ea typeface="Calibri"/>
                <a:cs typeface="Calibri"/>
              </a:rPr>
              <a:t>Ten minutes are open for these questions.</a:t>
            </a:r>
          </a:p>
        </p:txBody>
      </p:sp>
      <p:sp>
        <p:nvSpPr>
          <p:cNvPr id="5" name="body"/>
          <p:cNvSpPr txBox="1"/>
          <p:nvPr/>
        </p:nvSpPr>
        <p:spPr>
          <a:xfrm>
            <a:off x="502920" y="1325880"/>
            <a:ext cx="11155680" cy="822960"/>
          </a:xfrm>
          <a:prstGeom prst="rect">
            <a:avLst/>
          </a:prstGeom>
          <a:noFill/>
        </p:spPr>
        <p:txBody>
          <a:bodyPr wrap="square" lIns="0" rIns="73152" tIns="18288" bIns="0"/>
          <a:lstStyle/>
          <a:p>
            <a:pPr algn="l">
              <a:spcBef>
                <a:spcPts val="0"/>
              </a:spcBef>
              <a:spcAft>
                <a:spcPts val="800"/>
              </a:spcAft>
            </a:pPr>
            <a:r>
              <a:rPr sz="1600" b="0" i="0">
                <a:solidFill>
                  <a:srgbClr val="231F20"/>
                </a:solidFill>
                <a:latin typeface="Calibri"/>
                <a:ea typeface="Calibri"/>
                <a:cs typeface="Calibri"/>
              </a:rPr>
              <a:t>These items stay open because the packaged data and the build do not contain an answer. Ask about the page, a count, or one of these limits.</a:t>
            </a:r>
          </a:p>
        </p:txBody>
      </p:sp>
      <p:sp>
        <p:nvSpPr>
          <p:cNvPr id="6" name="table"/>
          <p:cNvSpPr/>
          <p:nvPr/>
        </p:nvSpPr>
        <p:spPr>
          <a:xfrm>
            <a:off x="502920" y="2286000"/>
            <a:ext cx="274320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Open item</a:t>
            </a:r>
          </a:p>
        </p:txBody>
      </p:sp>
      <p:sp>
        <p:nvSpPr>
          <p:cNvPr id="7" name="table"/>
          <p:cNvSpPr/>
          <p:nvPr/>
        </p:nvSpPr>
        <p:spPr>
          <a:xfrm>
            <a:off x="3246120" y="2286000"/>
            <a:ext cx="841248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FFFFFF"/>
                </a:solidFill>
                <a:latin typeface="Calibri"/>
                <a:ea typeface="Calibri"/>
                <a:cs typeface="Calibri"/>
              </a:rPr>
              <a:t>What is true today</a:t>
            </a:r>
          </a:p>
        </p:txBody>
      </p:sp>
      <p:sp>
        <p:nvSpPr>
          <p:cNvPr id="8" name="table"/>
          <p:cNvSpPr/>
          <p:nvPr/>
        </p:nvSpPr>
        <p:spPr>
          <a:xfrm>
            <a:off x="502920" y="2670048"/>
            <a:ext cx="27432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Company titles</a:t>
            </a:r>
          </a:p>
        </p:txBody>
      </p:sp>
      <p:sp>
        <p:nvSpPr>
          <p:cNvPr id="10" name="table"/>
          <p:cNvSpPr/>
          <p:nvPr/>
        </p:nvSpPr>
        <p:spPr>
          <a:xfrm>
            <a:off x="3246120" y="2670048"/>
            <a:ext cx="841248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RT-01 to RT-06 have role names. Company job titles are Unknown.</a:t>
            </a:r>
          </a:p>
        </p:txBody>
      </p:sp>
      <p:sp>
        <p:nvSpPr>
          <p:cNvPr id="12" name="table"/>
          <p:cNvSpPr/>
          <p:nvPr/>
        </p:nvSpPr>
        <p:spPr>
          <a:xfrm>
            <a:off x="502920" y="3328415"/>
            <a:ext cx="274320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Incident owner</a:t>
            </a:r>
          </a:p>
        </p:txBody>
      </p:sp>
      <p:sp>
        <p:nvSpPr>
          <p:cNvPr id="14" name="table"/>
          <p:cNvSpPr/>
          <p:nvPr/>
        </p:nvSpPr>
        <p:spPr>
          <a:xfrm>
            <a:off x="3246120" y="3328415"/>
            <a:ext cx="841248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INC-2025-014 stays empty unless RT-06 types a name on the page.</a:t>
            </a:r>
          </a:p>
        </p:txBody>
      </p:sp>
      <p:sp>
        <p:nvSpPr>
          <p:cNvPr id="16" name="table"/>
          <p:cNvSpPr/>
          <p:nvPr/>
        </p:nvSpPr>
        <p:spPr>
          <a:xfrm>
            <a:off x="502920" y="3986783"/>
            <a:ext cx="27432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Dollar benefit</a:t>
            </a:r>
          </a:p>
        </p:txBody>
      </p:sp>
      <p:sp>
        <p:nvSpPr>
          <p:cNvPr id="18" name="table"/>
          <p:cNvSpPr/>
          <p:nvPr/>
        </p:nvSpPr>
        <p:spPr>
          <a:xfrm>
            <a:off x="3246120" y="3986783"/>
            <a:ext cx="841248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ROI stays educational. No cash benefit is claimed.</a:t>
            </a:r>
          </a:p>
        </p:txBody>
      </p:sp>
      <p:sp>
        <p:nvSpPr>
          <p:cNvPr id="20" name="table"/>
          <p:cNvSpPr/>
          <p:nvPr/>
        </p:nvSpPr>
        <p:spPr>
          <a:xfrm>
            <a:off x="502920" y="4645152"/>
            <a:ext cx="274320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Numeric floors</a:t>
            </a:r>
          </a:p>
        </p:txBody>
      </p:sp>
      <p:sp>
        <p:nvSpPr>
          <p:cNvPr id="22" name="table"/>
          <p:cNvSpPr/>
          <p:nvPr/>
        </p:nvSpPr>
        <p:spPr>
          <a:xfrm>
            <a:off x="3246120" y="4645152"/>
            <a:ext cx="841248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A floor such as 90 or 95 is Unknown. Freeze 42 of 42 is a count.</a:t>
            </a:r>
          </a:p>
        </p:txBody>
      </p:sp>
      <p:sp>
        <p:nvSpPr>
          <p:cNvPr id="24" name="table"/>
          <p:cNvSpPr/>
          <p:nvPr/>
        </p:nvSpPr>
        <p:spPr>
          <a:xfrm>
            <a:off x="502920" y="5303520"/>
            <a:ext cx="27432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1" i="0">
                <a:solidFill>
                  <a:srgbClr val="231F20"/>
                </a:solidFill>
                <a:latin typeface="Calibri"/>
                <a:ea typeface="Calibri"/>
                <a:cs typeface="Calibri"/>
              </a:rPr>
              <a:t>Live model call</a:t>
            </a:r>
          </a:p>
        </p:txBody>
      </p:sp>
      <p:sp>
        <p:nvSpPr>
          <p:cNvPr id="26" name="table"/>
          <p:cNvSpPr/>
          <p:nvPr/>
        </p:nvSpPr>
        <p:spPr>
          <a:xfrm>
            <a:off x="3246120" y="5303520"/>
            <a:ext cx="841248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Bef>
                <a:spcPts val="0"/>
              </a:spcBef>
              <a:spcAft>
                <a:spcPts val="0"/>
              </a:spcAft>
            </a:pPr>
            <a:r>
              <a:rPr sz="1300" b="0" i="0">
                <a:solidFill>
                  <a:srgbClr val="231F20"/>
                </a:solidFill>
                <a:latin typeface="Calibri"/>
                <a:ea typeface="Calibri"/>
                <a:cs typeface="Calibri"/>
              </a:rPr>
              <a:t>This walk uses replay. A completed Azure call was not run.</a:t>
            </a:r>
          </a:p>
        </p:txBody>
      </p:sp>
    </p:spTree>
  </p:cSld>
  <p:clrMapOvr>
    <a:masterClrMapping/>
  </p:clrMapOvr>
</p:sld>
</file>

<file path=ppt/theme/theme1.xml><?xml version="1.0" encoding="utf-8"?>
<a:theme xmlns:a="http://schemas.openxmlformats.org/drawingml/2006/main" name="Fabpulse Defence">
  <a:themeElements>
    <a:clrScheme name="Fabpulse">
      <a:dk1>
        <a:srgbClr val="231F20"/>
      </a:dk1>
      <a:lt1>
        <a:srgbClr val="FFFFFF"/>
      </a:lt1>
      <a:dk2>
        <a:srgbClr val="231F20"/>
      </a:dk2>
      <a:lt2>
        <a:srgbClr val="F2F2F2"/>
      </a:lt2>
      <a:accent1>
        <a:srgbClr val="ED1C24"/>
      </a:accent1>
      <a:accent2>
        <a:srgbClr val="72007D"/>
      </a:accent2>
      <a:accent3>
        <a:srgbClr val="EFBC4A"/>
      </a:accent3>
      <a:accent4>
        <a:srgbClr val="666666"/>
      </a:accent4>
      <a:accent5>
        <a:srgbClr val="4B4B4B"/>
      </a:accent5>
      <a:accent6>
        <a:srgbClr val="FDEBEC"/>
      </a:accent6>
      <a:hlink>
        <a:srgbClr val="231F20"/>
      </a:hlink>
      <a:folHlink>
        <a:srgbClr val="666666"/>
      </a:folHlink>
    </a:clrScheme>
    <a:fontScheme name="Fabpulse Calibri">
      <a:majorFont>
        <a:latin typeface="Calibri"/>
        <a:ea typeface="Calibri"/>
        <a:cs typeface="Calibri"/>
      </a:majorFont>
      <a:minorFont>
        <a:latin typeface="Calibri"/>
        <a:ea typeface="Calibri"/>
        <a:cs typeface="Calibri"/>
      </a:minorFont>
    </a:fontScheme>
    <a:fmtScheme name="Fabpulse">
      <a:fillStyleLst>
        <a:solidFill>
          <a:srgbClr val="FFFFFF"/>
        </a:solidFill>
        <a:solidFill>
          <a:srgbClr val="F2F2F2"/>
        </a:solidFill>
        <a:solidFill>
          <a:srgbClr val="231F20"/>
        </a:solidFill>
      </a:fillStyleLst>
      <a:lnStyleLst>
        <a:ln w="6350">
          <a:solidFill>
            <a:srgbClr val="E0E0E0"/>
          </a:solidFill>
        </a:ln>
        <a:ln w="12700">
          <a:solidFill>
            <a:srgbClr val="231F20"/>
          </a:solidFill>
        </a:ln>
        <a:ln w="19050">
          <a:solidFill>
            <a:srgbClr val="ED1C24"/>
          </a:solidFill>
        </a:ln>
      </a:lnStyleLst>
      <a:effectStyleLst>
        <a:effectStyle>
          <a:effectLst/>
        </a:effectStyle>
        <a:effectStyle>
          <a:effectLst/>
        </a:effectStyle>
        <a:effectStyle>
          <a:effectLst/>
        </a:effectStyle>
      </a:effectStyleLst>
      <a:bgFillStyleLst>
        <a:solidFill>
          <a:srgbClr val="FFFFFF"/>
        </a:solidFill>
        <a:solidFill>
          <a:srgbClr val="F2F2F2"/>
        </a:solidFill>
        <a:solidFill>
          <a:srgbClr val="FFFFFF"/>
        </a:solidFill>
      </a:bgFillStyleLst>
    </a:fmtScheme>
  </a:themeElements>
  <a:objectDefaults/>
  <a:extraClrSchemeLst/>
</a:theme>
</file>

<file path=ppt/theme/theme2.xml><?xml version="1.0" encoding="utf-8"?>
<a:theme xmlns:a="http://schemas.openxmlformats.org/drawingml/2006/main" name="Fabpulse Defence">
  <a:themeElements>
    <a:clrScheme name="Fabpulse">
      <a:dk1>
        <a:srgbClr val="231F20"/>
      </a:dk1>
      <a:lt1>
        <a:srgbClr val="FFFFFF"/>
      </a:lt1>
      <a:dk2>
        <a:srgbClr val="231F20"/>
      </a:dk2>
      <a:lt2>
        <a:srgbClr val="F2F2F2"/>
      </a:lt2>
      <a:accent1>
        <a:srgbClr val="ED1C24"/>
      </a:accent1>
      <a:accent2>
        <a:srgbClr val="72007D"/>
      </a:accent2>
      <a:accent3>
        <a:srgbClr val="EFBC4A"/>
      </a:accent3>
      <a:accent4>
        <a:srgbClr val="666666"/>
      </a:accent4>
      <a:accent5>
        <a:srgbClr val="4B4B4B"/>
      </a:accent5>
      <a:accent6>
        <a:srgbClr val="FDEBEC"/>
      </a:accent6>
      <a:hlink>
        <a:srgbClr val="231F20"/>
      </a:hlink>
      <a:folHlink>
        <a:srgbClr val="666666"/>
      </a:folHlink>
    </a:clrScheme>
    <a:fontScheme name="Fabpulse Calibri">
      <a:majorFont>
        <a:latin typeface="Calibri"/>
        <a:ea typeface="Calibri"/>
        <a:cs typeface="Calibri"/>
      </a:majorFont>
      <a:minorFont>
        <a:latin typeface="Calibri"/>
        <a:ea typeface="Calibri"/>
        <a:cs typeface="Calibri"/>
      </a:minorFont>
    </a:fontScheme>
    <a:fmtScheme name="Fabpulse">
      <a:fillStyleLst>
        <a:solidFill>
          <a:srgbClr val="FFFFFF"/>
        </a:solidFill>
        <a:solidFill>
          <a:srgbClr val="F2F2F2"/>
        </a:solidFill>
        <a:solidFill>
          <a:srgbClr val="231F20"/>
        </a:solidFill>
      </a:fillStyleLst>
      <a:lnStyleLst>
        <a:ln w="6350">
          <a:solidFill>
            <a:srgbClr val="E0E0E0"/>
          </a:solidFill>
        </a:ln>
        <a:ln w="12700">
          <a:solidFill>
            <a:srgbClr val="231F20"/>
          </a:solidFill>
        </a:ln>
        <a:ln w="19050">
          <a:solidFill>
            <a:srgbClr val="ED1C24"/>
          </a:solidFill>
        </a:ln>
      </a:lnStyleLst>
      <a:effectStyleLst>
        <a:effectStyle>
          <a:effectLst/>
        </a:effectStyle>
        <a:effectStyle>
          <a:effectLst/>
        </a:effectStyle>
        <a:effectStyle>
          <a:effectLst/>
        </a:effectStyle>
      </a:effectStyleLst>
      <a:bgFillStyleLst>
        <a:solidFill>
          <a:srgbClr val="FFFFFF"/>
        </a:solidFill>
        <a:solidFill>
          <a:srgbClr val="F2F2F2"/>
        </a:solidFill>
        <a:solidFill>
          <a:srgbClr val="FFFFFF"/>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Fabpulse exception console</dc:title>
  <dc:subject>Internal capstone defence</dc:subject>
  <dc:creator>Team-Force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