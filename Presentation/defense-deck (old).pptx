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31766" autoAdjust="0"/>
  </p:normalViewPr>
  <p:slideViewPr>
    <p:cSldViewPr snapToGrid="0" snapToObjects="1">
      <p:cViewPr varScale="1">
        <p:scale>
          <a:sx n="20" d="100"/>
          <a:sy n="20" d="100"/>
        </p:scale>
        <p:origin x="2432"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0107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This is the Fabpulse exception console. A signed-in reviewer reads one case and records the decision that role allows.</a:t>
            </a:r>
          </a:p>
          <a:p>
            <a:pPr algn="l">
              <a:spcAft>
                <a:spcPts val="800"/>
              </a:spcAft>
            </a:pPr>
            <a:r>
              <a:rPr sz="1400" b="0" i="0">
                <a:solidFill>
                  <a:srgbClr val="231F20"/>
                </a:solidFill>
                <a:latin typeface="Calibri"/>
                <a:ea typeface="Calibri"/>
                <a:cs typeface="Calibri"/>
              </a:rPr>
              <a:t>Point at the title.</a:t>
            </a:r>
          </a:p>
          <a:p>
            <a:pPr algn="l">
              <a:spcAft>
                <a:spcPts val="800"/>
              </a:spcAft>
            </a:pPr>
            <a:r>
              <a:rPr sz="1400" b="0" i="0">
                <a:solidFill>
                  <a:srgbClr val="231F20"/>
                </a:solidFill>
                <a:latin typeface="Calibri"/>
                <a:ea typeface="Calibri"/>
                <a:cs typeface="Calibri"/>
              </a:rPr>
              <a:t>Leave the agenda out. The next slide names the three tests this room will use.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These three tests are the definition of done. A person can finish the case on the page. Every click changes a line the room can see. The page states a result only after that result has been produced.</a:t>
            </a:r>
          </a:p>
          <a:p>
            <a:pPr algn="l">
              <a:spcAft>
                <a:spcPts val="800"/>
              </a:spcAft>
            </a:pPr>
            <a:r>
              <a:rPr sz="1400" b="0" i="0">
                <a:solidFill>
                  <a:srgbClr val="231F20"/>
                </a:solidFill>
                <a:latin typeface="Calibri"/>
                <a:ea typeface="Calibri"/>
                <a:cs typeface="Calibri"/>
              </a:rPr>
              <a:t>Point at the three cards from left to right.</a:t>
            </a:r>
          </a:p>
          <a:p>
            <a:pPr algn="l">
              <a:spcAft>
                <a:spcPts val="800"/>
              </a:spcAft>
            </a:pPr>
            <a:r>
              <a:rPr sz="1400" b="0" i="0">
                <a:solidFill>
                  <a:srgbClr val="231F20"/>
                </a:solidFill>
                <a:latin typeface="Calibri"/>
                <a:ea typeface="Calibri"/>
                <a:cs typeface="Calibri"/>
              </a:rPr>
              <a:t>If the room looks unsure, the case in front of us is the second delivery of C00001646. Next is that case.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 this shift, partner feed REPLAY-000000000 arrives again for C00001646. The first ingest is 19:09. The second ingest is 20:09. Both times are already on the page.</a:t>
            </a:r>
          </a:p>
          <a:p>
            <a:pPr algn="l">
              <a:spcAft>
                <a:spcPts val="800"/>
              </a:spcAft>
            </a:pPr>
            <a:r>
              <a:rPr sz="1400" b="0" i="0">
                <a:solidFill>
                  <a:srgbClr val="231F20"/>
                </a:solidFill>
                <a:latin typeface="Calibri"/>
                <a:ea typeface="Calibri"/>
                <a:cs typeface="Calibri"/>
              </a:rPr>
              <a:t>If the duplicate stays, the same feed is counted twice on the work queue. If the wrong copy is dropped, a true delivery leaves the queue. There is no cash figure on this case.</a:t>
            </a:r>
          </a:p>
          <a:p>
            <a:pPr algn="l">
              <a:spcAft>
                <a:spcPts val="800"/>
              </a:spcAft>
            </a:pPr>
            <a:r>
              <a:rPr sz="1400" b="0" i="0">
                <a:solidFill>
                  <a:srgbClr val="231F20"/>
                </a:solidFill>
                <a:latin typeface="Calibri"/>
                <a:ea typeface="Calibri"/>
                <a:cs typeface="Calibri"/>
              </a:rPr>
              <a:t>Point at the two ingest times.</a:t>
            </a:r>
          </a:p>
          <a:p>
            <a:pPr algn="l">
              <a:spcAft>
                <a:spcPts val="800"/>
              </a:spcAft>
            </a:pPr>
            <a:r>
              <a:rPr sz="1400" b="0" i="0">
                <a:solidFill>
                  <a:srgbClr val="231F20"/>
                </a:solidFill>
                <a:latin typeface="Calibri"/>
                <a:ea typeface="Calibri"/>
                <a:cs typeface="Calibri"/>
              </a:rPr>
              <a:t>If that sounds abstract, the object is the second copy of lot C00001646. Next is the shape of the page the reviewer uses.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The reviewer reads this page from top to bottom. Situation, then evidence, then the one red button, then the result. The red button on this case is Review this delivery.</a:t>
            </a:r>
          </a:p>
          <a:p>
            <a:pPr algn="l">
              <a:spcAft>
                <a:spcPts val="800"/>
              </a:spcAft>
            </a:pPr>
            <a:r>
              <a:rPr sz="1400" b="0" i="0">
                <a:solidFill>
                  <a:srgbClr val="231F20"/>
                </a:solidFill>
                <a:latin typeface="Calibri"/>
                <a:ea typeface="Calibri"/>
                <a:cs typeface="Calibri"/>
              </a:rPr>
              <a:t>Point at that button.</a:t>
            </a:r>
          </a:p>
          <a:p>
            <a:pPr algn="l">
              <a:spcAft>
                <a:spcPts val="800"/>
              </a:spcAft>
            </a:pPr>
            <a:r>
              <a:rPr sz="1400" b="0" i="0">
                <a:solidFill>
                  <a:srgbClr val="231F20"/>
                </a:solidFill>
                <a:latin typeface="Calibri"/>
                <a:ea typeface="Calibri"/>
                <a:cs typeface="Calibri"/>
              </a:rPr>
              <a:t>The person acts on this page. A log is a later check. If the bands look like a form, they are one case: the second delivery of C00001646. Next is the path across that page.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Five beats, and the reviewer stays in the application. Arrive on Replay for C00001646. Read 19:09 and 20:09. Click Review this delivery. The work-queue count becomes 197. The packaged replay count stays 67. Then hand the drop to RT-05.</a:t>
            </a:r>
          </a:p>
          <a:p>
            <a:pPr algn="l">
              <a:spcAft>
                <a:spcPts val="800"/>
              </a:spcAft>
            </a:pPr>
            <a:r>
              <a:rPr sz="1400" b="0" i="0">
                <a:solidFill>
                  <a:srgbClr val="231F20"/>
                </a:solidFill>
                <a:latin typeface="Calibri"/>
                <a:ea typeface="Calibri"/>
                <a:cs typeface="Calibri"/>
              </a:rPr>
              <a:t>Point along the five beats.</a:t>
            </a:r>
          </a:p>
          <a:p>
            <a:pPr algn="l">
              <a:spcAft>
                <a:spcPts val="800"/>
              </a:spcAft>
            </a:pPr>
            <a:r>
              <a:rPr sz="1400" b="0" i="0">
                <a:solidFill>
                  <a:srgbClr val="231F20"/>
                </a:solidFill>
                <a:latin typeface="Calibri"/>
                <a:ea typeface="Calibri"/>
                <a:cs typeface="Calibri"/>
              </a:rPr>
              <a:t>A log is for a later proof. The act is the button. Next we read the case before anyone clicks.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Read this sentence once. Partner feed REPLAY-000000000 is a second delivery of C00001646.</a:t>
            </a:r>
          </a:p>
          <a:p>
            <a:pPr algn="l">
              <a:spcAft>
                <a:spcPts val="800"/>
              </a:spcAft>
            </a:pPr>
            <a:r>
              <a:rPr sz="1400" b="0" i="0">
                <a:solidFill>
                  <a:srgbClr val="231F20"/>
                </a:solidFill>
                <a:latin typeface="Calibri"/>
                <a:ea typeface="Calibri"/>
                <a:cs typeface="Calibri"/>
              </a:rPr>
              <a:t>Point at the feed id, then at 19:09 and 20:09, then at RT-05. The delivery row still says not on the queue. The packaged rows already say 67. Nothing has been clicked.</a:t>
            </a:r>
          </a:p>
          <a:p>
            <a:pPr algn="l">
              <a:spcAft>
                <a:spcPts val="800"/>
              </a:spcAft>
            </a:pPr>
            <a:r>
              <a:rPr sz="1400" b="0" i="0">
                <a:solidFill>
                  <a:srgbClr val="231F20"/>
                </a:solidFill>
                <a:latin typeface="Calibri"/>
                <a:ea typeface="Calibri"/>
                <a:cs typeface="Calibri"/>
              </a:rPr>
              <a:t>If the id is hard to see, it is the second copy of C00001646. Next is what a successful click leaves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Before the click, this delivery is not on the queue. The work-queue count is 196. The packaged replay count is 67. After Review this delivery, the row reads on the work queue. The count is 197. The packaged count is still 67.</a:t>
            </a:r>
          </a:p>
          <a:p>
            <a:pPr algn="l">
              <a:spcAft>
                <a:spcPts val="800"/>
              </a:spcAft>
            </a:pPr>
            <a:r>
              <a:rPr sz="1400" b="0" i="0">
                <a:solidFill>
                  <a:srgbClr val="231F20"/>
                </a:solidFill>
                <a:latin typeface="Calibri"/>
                <a:ea typeface="Calibri"/>
                <a:cs typeface="Calibri"/>
              </a:rPr>
              <a:t>Point at 197, then at 67. Both numbers stay on the page. The result line remains after the click.</a:t>
            </a:r>
          </a:p>
          <a:p>
            <a:pPr algn="l">
              <a:spcAft>
                <a:spcPts val="800"/>
              </a:spcAft>
            </a:pPr>
            <a:r>
              <a:rPr sz="1400" b="0" i="0">
                <a:solidFill>
                  <a:srgbClr val="231F20"/>
                </a:solidFill>
                <a:latin typeface="Calibri"/>
                <a:ea typeface="Calibri"/>
                <a:cs typeface="Calibri"/>
              </a:rPr>
              <a:t>The session added the delivery. The packaged store still holds 67 replay rows. Next is who is allowed to drop the duplicate.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The role line is on the page before the click. Drop is recorded only by RT-05 Operations Analyst. The shift starts as RT-01. That person clicks Drop this duplicate. The page says Refused. Confirm drop waits for RT-05. The current role is RT-01. The delivery row stays on the queue.</a:t>
            </a:r>
          </a:p>
          <a:p>
            <a:pPr algn="l">
              <a:spcAft>
                <a:spcPts val="800"/>
              </a:spcAft>
            </a:pPr>
            <a:r>
              <a:rPr sz="1400" b="0" i="0">
                <a:solidFill>
                  <a:srgbClr val="231F20"/>
                </a:solidFill>
                <a:latin typeface="Calibri"/>
                <a:ea typeface="Calibri"/>
                <a:cs typeface="Calibri"/>
              </a:rPr>
              <a:t>Then switch the role picker to RT-05 and click Drop this duplicate again. The work-queue count returns to 196. The delivery reads dropped. The packaged count stays 67.</a:t>
            </a:r>
          </a:p>
          <a:p>
            <a:pPr algn="l">
              <a:spcAft>
                <a:spcPts val="800"/>
              </a:spcAft>
            </a:pPr>
            <a:r>
              <a:rPr sz="1400" b="0" i="0">
                <a:solidFill>
                  <a:srgbClr val="231F20"/>
                </a:solidFill>
                <a:latin typeface="Calibri"/>
                <a:ea typeface="Calibri"/>
                <a:cs typeface="Calibri"/>
              </a:rPr>
              <a:t>Point at the refusal sentence, then at the success sentence. A wrong role is part of the demonstration.</a:t>
            </a:r>
          </a:p>
          <a:p>
            <a:pPr algn="l">
              <a:spcAft>
                <a:spcPts val="800"/>
              </a:spcAft>
            </a:pPr>
            <a:r>
              <a:rPr sz="1400" b="0" i="0">
                <a:solidFill>
                  <a:srgbClr val="231F20"/>
                </a:solidFill>
                <a:latin typeface="Calibri"/>
                <a:ea typeface="Calibri"/>
                <a:cs typeface="Calibri"/>
              </a:rPr>
              <a:t>The same split is on the recipe case. RT-03 records the hold, and that person must differ from the draft author. Next is the rest of the work areas.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Every tab is the same kind of page. The person reads one object, uses one primary action, and sees one change. I will touch two rows besides Replay.</a:t>
            </a:r>
          </a:p>
          <a:p>
            <a:pPr algn="l">
              <a:spcAft>
                <a:spcPts val="800"/>
              </a:spcAft>
            </a:pPr>
            <a:r>
              <a:rPr sz="1400" b="0" i="0">
                <a:solidFill>
                  <a:srgbClr val="231F20"/>
                </a:solidFill>
                <a:latin typeface="Calibri"/>
                <a:ea typeface="Calibri"/>
                <a:cs typeface="Calibri"/>
              </a:rPr>
              <a:t>On Recipe the page shows dispatch R02 and tool R01. Explain this mismatch is open to any signed-in role. Hold waits for RT-03, and that person must differ from the draft author.</a:t>
            </a:r>
          </a:p>
          <a:p>
            <a:pPr algn="l">
              <a:spcAft>
                <a:spcPts val="800"/>
              </a:spcAft>
            </a:pPr>
            <a:r>
              <a:rPr sz="1400" b="0" i="0">
                <a:solidFill>
                  <a:srgbClr val="231F20"/>
                </a:solidFill>
                <a:latin typeface="Calibri"/>
                <a:ea typeface="Calibri"/>
                <a:cs typeface="Calibri"/>
              </a:rPr>
              <a:t>On Policy, four policies are in force on 2024-06-01. The page abstains. RT-04 records keep-wait.</a:t>
            </a:r>
          </a:p>
          <a:p>
            <a:pPr algn="l">
              <a:spcAft>
                <a:spcPts val="800"/>
              </a:spcAft>
            </a:pPr>
            <a:r>
              <a:rPr sz="1400" b="0" i="0">
                <a:solidFill>
                  <a:srgbClr val="231F20"/>
                </a:solidFill>
                <a:latin typeface="Calibri"/>
                <a:ea typeface="Calibri"/>
                <a:cs typeface="Calibri"/>
              </a:rPr>
              <a:t>Point at those two rows. The other rows use the same bands. Next is the sentence a click leaves behind.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While Review this delivery is moving, the line says it is reading the saved explanation for the second delivery. A refusal starts with Refused and names the current role. Success names the new state and stays on the page. When the duplicate is already off the queue, the line says so.</a:t>
            </a:r>
          </a:p>
          <a:p>
            <a:pPr algn="l">
              <a:spcAft>
                <a:spcPts val="800"/>
              </a:spcAft>
            </a:pPr>
            <a:r>
              <a:rPr sz="1400" b="0" i="0">
                <a:solidFill>
                  <a:srgbClr val="231F20"/>
                </a:solidFill>
                <a:latin typeface="Calibri"/>
                <a:ea typeface="Calibri"/>
                <a:cs typeface="Calibri"/>
              </a:rPr>
              <a:t>Explanation and audit stay off the page until a click fills them. When those fields are empty, the page shows Ready and leaves the explanation off.</a:t>
            </a:r>
          </a:p>
          <a:p>
            <a:pPr algn="l">
              <a:spcAft>
                <a:spcPts val="800"/>
              </a:spcAft>
            </a:pPr>
            <a:r>
              <a:rPr sz="1400" b="0" i="0">
                <a:solidFill>
                  <a:srgbClr val="231F20"/>
                </a:solidFill>
                <a:latin typeface="Calibri"/>
                <a:ea typeface="Calibri"/>
                <a:cs typeface="Calibri"/>
              </a:rPr>
              <a:t>Point at the refused band. That line is the page telling RT-01 to wait for the analyst on feed C00001646. Next is how the page keeps three kinds of state apart.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A tab change clears the latest-action line, the explanation, and the audit rows. The case session stays on that object. The packaged files stay as they were loaded.</a:t>
            </a:r>
          </a:p>
          <a:p>
            <a:pPr algn="l">
              <a:spcAft>
                <a:spcPts val="800"/>
              </a:spcAft>
            </a:pPr>
            <a:r>
              <a:rPr sz="1400" b="0" i="0">
                <a:solidFill>
                  <a:srgbClr val="231F20"/>
                </a:solidFill>
                <a:latin typeface="Calibri"/>
                <a:ea typeface="Calibri"/>
                <a:cs typeface="Calibri"/>
              </a:rPr>
              <a:t>If the explanation is slow and the reviewer has already opened Recipe, that answer stays off Recipe. The check is the tab that was open when the click started.</a:t>
            </a:r>
          </a:p>
          <a:p>
            <a:pPr algn="l">
              <a:spcAft>
                <a:spcPts val="800"/>
              </a:spcAft>
            </a:pPr>
            <a:r>
              <a:rPr sz="1400" b="0" i="0">
                <a:solidFill>
                  <a:srgbClr val="231F20"/>
                </a:solidFill>
                <a:latin typeface="Calibri"/>
                <a:ea typeface="Calibri"/>
                <a:cs typeface="Calibri"/>
              </a:rPr>
              <a:t>Point at the view card. A dropped delivery still reads dropped when Replay is opened again. Start this shift again clears the session overlay. The packaged replay count stays 67. Next is where a sentence came from.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The result line can name Azure OpenAI, a replay file, or a lake statement. On this build the runtime pill says replay. A saved explanation is the sentence the page reads back.</a:t>
            </a:r>
          </a:p>
          <a:p>
            <a:pPr algn="l">
              <a:spcAft>
                <a:spcPts val="800"/>
              </a:spcAft>
            </a:pPr>
            <a:r>
              <a:rPr sz="1400" b="0" i="0">
                <a:solidFill>
                  <a:srgbClr val="231F20"/>
                </a:solidFill>
                <a:latin typeface="Calibri"/>
                <a:ea typeface="Calibri"/>
                <a:cs typeface="Calibri"/>
              </a:rPr>
              <a:t>The business result and the model result are separate. If the saved explanation fails, the work-queue count can still move, and the page shows the failure sentence beside it.</a:t>
            </a:r>
          </a:p>
          <a:p>
            <a:pPr algn="l">
              <a:spcAft>
                <a:spcPts val="800"/>
              </a:spcAft>
            </a:pPr>
            <a:r>
              <a:rPr sz="1400" b="0" i="0">
                <a:solidFill>
                  <a:srgbClr val="231F20"/>
                </a:solidFill>
                <a:latin typeface="Calibri"/>
                <a:ea typeface="Calibri"/>
                <a:cs typeface="Calibri"/>
              </a:rPr>
              <a:t>Point at the three limits. This defence claims no cash benefit. It claims no completed Azure call. The owner of INC-2025-014 stays empty until RT-06 types one. Next is the live path.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Leave this slide up and move to the application. The role picker starts at RT-01. Open Replay. Read the situation. Click Review this delivery and point at 197, then at packaged 67. Click Drop this duplicate and point at the Refused line. Switch to RT-05, click Drop this duplicate, and point at dropped. Open Recipe and point at Ready.</a:t>
            </a:r>
          </a:p>
          <a:p>
            <a:pPr algn="l">
              <a:spcAft>
                <a:spcPts val="800"/>
              </a:spcAft>
            </a:pPr>
            <a:r>
              <a:rPr sz="1400" b="0" i="0">
                <a:solidFill>
                  <a:srgbClr val="231F20"/>
                </a:solidFill>
                <a:latin typeface="Calibri"/>
                <a:ea typeface="Calibri"/>
                <a:cs typeface="Calibri"/>
              </a:rPr>
              <a:t>If the live explanation fails, say the business result that did change: the second delivery is on the work queue and the count is 197. Read the failure sentence on the screen. Continue to the RT-05 drop. Stay on the page.</a:t>
            </a:r>
          </a:p>
          <a:p>
            <a:pPr algn="l">
              <a:spcAft>
                <a:spcPts val="800"/>
              </a:spcAft>
            </a:pPr>
            <a:r>
              <a:rPr sz="1400" b="0" i="0">
                <a:solidFill>
                  <a:srgbClr val="231F20"/>
                </a:solidFill>
                <a:latin typeface="Calibri"/>
                <a:ea typeface="Calibri"/>
                <a:cs typeface="Calibri"/>
              </a:rPr>
              <a:t>If the whole stack is down, read the same sentences from this deck and say the live click was not run.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The reviewer can finish this case on the page. Review and drop both finished on Replay. The queue count changed and stayed visible. The refusal named RT-01, and the packaged count stayed 67.</a:t>
            </a:r>
          </a:p>
          <a:p>
            <a:pPr algn="l">
              <a:spcAft>
                <a:spcPts val="800"/>
              </a:spcAft>
            </a:pPr>
            <a:r>
              <a:rPr sz="1400" b="0" i="0">
                <a:solidFill>
                  <a:srgbClr val="231F20"/>
                </a:solidFill>
                <a:latin typeface="Calibri"/>
                <a:ea typeface="Calibri"/>
                <a:cs typeface="Calibri"/>
              </a:rPr>
              <a:t>Point at the sentence. Stop.</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Only if asked. These slides are the 39-minute paper walk. They are outside the spoken arc. Say that replay is on, and that a new live post and a new process kill are not part of this walk.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Only if asked. Read the eight counts and say each one is REAL. Records are 125. Open cases are 89. Urgent cases are 2. Sites are 6. Those four are REAL. Mean amount 4982.61 and hours per case 0.603 are SIMULATED. Say them only with that label. Cycle time is Unknown. Aged backlog is Unknown. Company titles are Unknown. The owner of INC-2025-014 is Unknown. Do not show a cash figure as a benefit.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Only if asked. Application A is the rebuilt program. Application B is built from the Context Lake. The browser can read both. The servers do not call each other. Lake version 1.0.0 holds 148 items, 180 edges, and 267 term rows. That count is REAL.</a:t>
            </a:r>
          </a:p>
          <a:p>
            <a:pPr algn="l">
              <a:spcAft>
                <a:spcPts val="800"/>
              </a:spcAft>
            </a:pPr>
            <a:r>
              <a:rPr sz="1400" b="0" i="0">
                <a:solidFill>
                  <a:srgbClr val="231F20"/>
                </a:solidFill>
                <a:latin typeface="Calibri"/>
                <a:ea typeface="Calibri"/>
                <a:cs typeface="Calibri"/>
              </a:rPr>
              <a:t>Ranking, rules, reconciliation, and de-duplication stay in code. The model drafts a cited sentence, a query answer, or a plan. A person records every write. Hold prediction scored 117 of 125, the same as the majority guess, and it was rejected. Named people stay Unknown.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Only if asked. Walk the five object ids. Five policy ids are stored for FAB-00000002. Four are in force on 2024-06-01, which is what the page shows. The owner field on INC-2025-014 is empty. This walk does not type a name. If the stack is down, say the audit table has 27 columns and the join key is the correlation id. That is a verified fact. A live audit click was not claimed for this paper walk.</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Only if asked. The six frozen fields are unchanged. Say the honesty label with each one. Mean amount and hours per case are SIMULATED. They are not cash. The harness has 14 rows, 12 matched and 2 differed. There is no match percent. The freeze is 42 of 42. Floors are Unknown. Shown replay tokens are 0 and 0 on that path. ROI is educational. Monetary benefit claimed: none.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Only if asked. Partner feed REPLAY-000000000 carried untrusted quotes and a note to auto approve. The prior post used proposed action approve and no corpus id. Before the control the reply waited. After the control the reply was HTTP 409 BLOCK. The case status stayed REPLAY. Approvals stayed empty.</a:t>
            </a:r>
          </a:p>
          <a:p>
            <a:pPr algn="l">
              <a:spcAft>
                <a:spcPts val="800"/>
              </a:spcAft>
            </a:pPr>
            <a:r>
              <a:rPr sz="1400" b="0" i="0">
                <a:solidFill>
                  <a:srgbClr val="231F20"/>
                </a:solidFill>
                <a:latin typeface="Calibri"/>
                <a:ea typeface="Calibri"/>
                <a:cs typeface="Calibri"/>
              </a:rPr>
              <a:t>The restart is also a prior result. The coordinator had started Application A, posted PS000000016, and killed pid 29320. Correlation id corr-p10b-kill-20261018-001 was still on that case. The engineering hold stayed 0. Do not kill a process in the room and call it this result.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Only if asked. Read the five lines and stop. Hold prediction matched the majority guess and was rejected. The harness differed on two rows, and each difference cites the lake. The correlation id survived the restart. The blocked note changed no record. ROI stays educational. Headlines that were Unknown stay Unknown.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Only if asked. These three slides are not part of the spoken arc. Take the shell first, then the checks under the sheet, then the path from the button to the sentence.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Only if asked. Application A and Application B use the same header, the same seven tabs, and the same five bands. Application A has no lineage route. Its Rule trace tab says to open Application B. Application B shows five steps: historical decision, earlier code, specification, test, and transformed implementation. The Compare page also states that the 50,000 label is proposed on Application B only.</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Only if asked. These three controls are under the white sheet. They use quiet type. They are not the seven work areas, and they do not take the red primary button. Open the case with no identity sends no identity headers. Try to approve from the feed note uses the untrusted note on REPLAY-000000000. Take the next gateway message reads port 8090. The reviewer can finish Replay, Recipe, Clocks, Policy, and Outage without opening them.</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800"/>
              </a:spcAft>
            </a:pPr>
            <a:r>
              <a:rPr sz="1400" b="0" i="0">
                <a:solidFill>
                  <a:srgbClr val="231F20"/>
                </a:solidFill>
                <a:latin typeface="Calibri"/>
                <a:ea typeface="Calibri"/>
                <a:cs typeface="Calibri"/>
              </a:rPr>
              <a:t>Only if asked. Start at the red button Review this delivery. The page says it is reading the saved explanation for the second delivery. The session puts that delivery on the work queue. The result line states the work-queue count 197 and the packaged replay count 67. When the explanation returns, the answer source line appears under it. The packaged sqlite files stay unread by that session. No key or header secret belongs on this slide.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ver-bar"/>
          <p:cNvSpPr/>
          <p:nvPr/>
        </p:nvSpPr>
        <p:spPr>
          <a:xfrm>
            <a:off x="0" y="0"/>
            <a:ext cx="201168" cy="6858000"/>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cover-arc-outer"/>
          <p:cNvSpPr/>
          <p:nvPr/>
        </p:nvSpPr>
        <p:spPr>
          <a:xfrm rot="1080000">
            <a:off x="8092440" y="-365760"/>
            <a:ext cx="4480560" cy="4480560"/>
          </a:xfrm>
          <a:prstGeom prst="arc">
            <a:avLst/>
          </a:prstGeom>
          <a:noFill/>
          <a:ln w="101600">
            <a:solidFill>
              <a:srgbClr val="ED1C24">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cover-arc-inner"/>
          <p:cNvSpPr/>
          <p:nvPr/>
        </p:nvSpPr>
        <p:spPr>
          <a:xfrm rot="1080000">
            <a:off x="8732520" y="228600"/>
            <a:ext cx="4023360" cy="4023360"/>
          </a:xfrm>
          <a:prstGeom prst="arc">
            <a:avLst/>
          </a:prstGeom>
          <a:noFill/>
          <a:ln w="25400">
            <a:solidFill>
              <a:srgbClr val="231F20">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ill-label"/>
          <p:cNvSpPr/>
          <p:nvPr/>
        </p:nvSpPr>
        <p:spPr>
          <a:xfrm>
            <a:off x="777240" y="914400"/>
            <a:ext cx="2057400" cy="310896"/>
          </a:xfrm>
          <a:prstGeom prst="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Bef>
                <a:spcPts val="0"/>
              </a:spcBef>
              <a:spcAft>
                <a:spcPts val="0"/>
              </a:spcAft>
            </a:pPr>
            <a:r>
              <a:rPr sz="900" b="1" i="0">
                <a:solidFill>
                  <a:srgbClr val="ED1C24"/>
                </a:solidFill>
                <a:latin typeface="Calibri"/>
                <a:ea typeface="Calibri"/>
                <a:cs typeface="Calibri"/>
              </a:rPr>
              <a:t>Internal review</a:t>
            </a:r>
          </a:p>
        </p:txBody>
      </p:sp>
      <p:sp>
        <p:nvSpPr>
          <p:cNvPr id="6" name="title"/>
          <p:cNvSpPr txBox="1"/>
          <p:nvPr/>
        </p:nvSpPr>
        <p:spPr>
          <a:xfrm>
            <a:off x="777240" y="1481328"/>
            <a:ext cx="6583680" cy="1371600"/>
          </a:xfrm>
          <a:prstGeom prst="rect">
            <a:avLst/>
          </a:prstGeom>
          <a:noFill/>
        </p:spPr>
        <p:txBody>
          <a:bodyPr wrap="square" lIns="0" tIns="36576" rIns="0" bIns="36576" anchor="t"/>
          <a:lstStyle/>
          <a:p>
            <a:pPr algn="l">
              <a:spcBef>
                <a:spcPts val="0"/>
              </a:spcBef>
              <a:spcAft>
                <a:spcPts val="0"/>
              </a:spcAft>
            </a:pPr>
            <a:r>
              <a:rPr sz="3800" b="1" i="0">
                <a:solidFill>
                  <a:srgbClr val="231F20"/>
                </a:solidFill>
                <a:latin typeface="Calibri"/>
                <a:ea typeface="Calibri"/>
                <a:cs typeface="Calibri"/>
              </a:rPr>
              <a:t>Fabpulse exception console</a:t>
            </a:r>
          </a:p>
        </p:txBody>
      </p:sp>
      <p:sp>
        <p:nvSpPr>
          <p:cNvPr id="7" name="support"/>
          <p:cNvSpPr txBox="1"/>
          <p:nvPr/>
        </p:nvSpPr>
        <p:spPr>
          <a:xfrm>
            <a:off x="822960" y="3154680"/>
            <a:ext cx="6217920" cy="1188720"/>
          </a:xfrm>
          <a:prstGeom prst="rect">
            <a:avLst/>
          </a:prstGeom>
          <a:noFill/>
        </p:spPr>
        <p:txBody>
          <a:bodyPr wrap="square" lIns="0" tIns="36576" rIns="0" bIns="36576" anchor="t"/>
          <a:lstStyle/>
          <a:p>
            <a:pPr algn="l">
              <a:spcBef>
                <a:spcPts val="0"/>
              </a:spcBef>
              <a:spcAft>
                <a:spcPts val="0"/>
              </a:spcAft>
            </a:pPr>
            <a:r>
              <a:rPr sz="1800" b="0" i="0">
                <a:solidFill>
                  <a:srgbClr val="666666"/>
                </a:solidFill>
                <a:latin typeface="Calibri"/>
                <a:ea typeface="Calibri"/>
                <a:cs typeface="Calibri"/>
              </a:rPr>
              <a:t>A signed-in reviewer reads one case and records the decision that role allows.</a:t>
            </a:r>
          </a:p>
        </p:txBody>
      </p:sp>
      <p:sp>
        <p:nvSpPr>
          <p:cNvPr id="8" name="cover-footer"/>
          <p:cNvSpPr txBox="1"/>
          <p:nvPr/>
        </p:nvSpPr>
        <p:spPr>
          <a:xfrm>
            <a:off x="822960" y="6172200"/>
            <a:ext cx="7680960" cy="365760"/>
          </a:xfrm>
          <a:prstGeom prst="rect">
            <a:avLst/>
          </a:prstGeom>
          <a:noFill/>
        </p:spPr>
        <p:txBody>
          <a:bodyPr wrap="square" lIns="0" tIns="36576" rIns="0" bIns="36576" anchor="t"/>
          <a:lstStyle/>
          <a:p>
            <a:pPr algn="l">
              <a:spcBef>
                <a:spcPts val="0"/>
              </a:spcBef>
              <a:spcAft>
                <a:spcPts val="0"/>
              </a:spcAft>
            </a:pPr>
            <a:r>
              <a:rPr sz="1000" b="0" i="0">
                <a:solidFill>
                  <a:srgbClr val="666666"/>
                </a:solidFill>
                <a:latin typeface="Calibri"/>
                <a:ea typeface="Calibri"/>
                <a:cs typeface="Calibri"/>
              </a:rPr>
              <a:t>Fabpulse exception console   ·   Team-Force   ·   20 October 2026   ·   Prepared for internal use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7" name="Connector 16"/>
          <p:cNvCxnSpPr/>
          <p:nvPr/>
        </p:nvCxnSpPr>
        <p:spPr>
          <a:xfrm>
            <a:off x="978408" y="3803904"/>
            <a:ext cx="7565136" cy="0"/>
          </a:xfrm>
          <a:prstGeom prst="line">
            <a:avLst/>
          </a:prstGeom>
          <a:ln w="25400">
            <a:solidFill>
              <a:srgbClr val="D9D9D9"/>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2</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This room judges three things on the page.</a:t>
            </a:r>
          </a:p>
        </p:txBody>
      </p:sp>
      <p:sp>
        <p:nvSpPr>
          <p:cNvPr id="5" name="Rounded Rectangle 4"/>
          <p:cNvSpPr/>
          <p:nvPr/>
        </p:nvSpPr>
        <p:spPr>
          <a:xfrm>
            <a:off x="502920" y="3291840"/>
            <a:ext cx="3617976" cy="2011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3456432"/>
            <a:ext cx="64008" cy="168249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eq"/>
          <p:cNvSpPr/>
          <p:nvPr/>
        </p:nvSpPr>
        <p:spPr>
          <a:xfrm>
            <a:off x="758952" y="3584448"/>
            <a:ext cx="438912" cy="438912"/>
          </a:xfrm>
          <a:prstGeom prst="ellipse">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1</a:t>
            </a:r>
          </a:p>
        </p:txBody>
      </p:sp>
      <p:sp>
        <p:nvSpPr>
          <p:cNvPr id="8" name="card:0"/>
          <p:cNvSpPr txBox="1"/>
          <p:nvPr/>
        </p:nvSpPr>
        <p:spPr>
          <a:xfrm>
            <a:off x="649224" y="4251960"/>
            <a:ext cx="3361944" cy="777240"/>
          </a:xfrm>
          <a:prstGeom prst="rect">
            <a:avLst/>
          </a:prstGeom>
          <a:noFill/>
        </p:spPr>
        <p:txBody>
          <a:bodyPr wrap="square" lIns="54864" tIns="36576" rIns="54864" bIns="36576" anchor="t"/>
          <a:lstStyle/>
          <a:p>
            <a:pPr algn="l">
              <a:spcBef>
                <a:spcPts val="0"/>
              </a:spcBef>
              <a:spcAft>
                <a:spcPts val="0"/>
              </a:spcAft>
            </a:pPr>
            <a:r>
              <a:rPr sz="1600" b="0" i="0">
                <a:solidFill>
                  <a:srgbClr val="231F20"/>
                </a:solidFill>
                <a:latin typeface="Calibri"/>
                <a:ea typeface="Calibri"/>
                <a:cs typeface="Calibri"/>
              </a:rPr>
              <a:t>The person finishes the case on this page.</a:t>
            </a:r>
          </a:p>
        </p:txBody>
      </p:sp>
      <p:sp>
        <p:nvSpPr>
          <p:cNvPr id="9" name="Rounded Rectangle 8"/>
          <p:cNvSpPr/>
          <p:nvPr/>
        </p:nvSpPr>
        <p:spPr>
          <a:xfrm>
            <a:off x="4285488" y="3291840"/>
            <a:ext cx="3617976" cy="2011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03775" y="3456432"/>
            <a:ext cx="64008" cy="168249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eq"/>
          <p:cNvSpPr/>
          <p:nvPr/>
        </p:nvSpPr>
        <p:spPr>
          <a:xfrm>
            <a:off x="4541520" y="3584448"/>
            <a:ext cx="438912" cy="438912"/>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2</a:t>
            </a:r>
          </a:p>
        </p:txBody>
      </p:sp>
      <p:sp>
        <p:nvSpPr>
          <p:cNvPr id="12" name="card:1"/>
          <p:cNvSpPr txBox="1"/>
          <p:nvPr/>
        </p:nvSpPr>
        <p:spPr>
          <a:xfrm>
            <a:off x="4431792" y="4251960"/>
            <a:ext cx="3361944" cy="777240"/>
          </a:xfrm>
          <a:prstGeom prst="rect">
            <a:avLst/>
          </a:prstGeom>
          <a:noFill/>
        </p:spPr>
        <p:txBody>
          <a:bodyPr wrap="square" lIns="54864" tIns="36576" rIns="54864" bIns="36576" anchor="t"/>
          <a:lstStyle/>
          <a:p>
            <a:pPr algn="l">
              <a:spcBef>
                <a:spcPts val="0"/>
              </a:spcBef>
              <a:spcAft>
                <a:spcPts val="0"/>
              </a:spcAft>
            </a:pPr>
            <a:r>
              <a:rPr sz="1600" b="0" i="0">
                <a:solidFill>
                  <a:srgbClr val="231F20"/>
                </a:solidFill>
                <a:latin typeface="Calibri"/>
                <a:ea typeface="Calibri"/>
                <a:cs typeface="Calibri"/>
              </a:rPr>
              <a:t>Every click changes a line the room can see.</a:t>
            </a:r>
          </a:p>
        </p:txBody>
      </p:sp>
      <p:sp>
        <p:nvSpPr>
          <p:cNvPr id="13" name="Rounded Rectangle 12"/>
          <p:cNvSpPr/>
          <p:nvPr/>
        </p:nvSpPr>
        <p:spPr>
          <a:xfrm>
            <a:off x="8068056" y="3291840"/>
            <a:ext cx="3617976" cy="2011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86344" y="3456432"/>
            <a:ext cx="64008" cy="1682496"/>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eq"/>
          <p:cNvSpPr/>
          <p:nvPr/>
        </p:nvSpPr>
        <p:spPr>
          <a:xfrm>
            <a:off x="8324088" y="3584448"/>
            <a:ext cx="438912" cy="438912"/>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3</a:t>
            </a:r>
          </a:p>
        </p:txBody>
      </p:sp>
      <p:sp>
        <p:nvSpPr>
          <p:cNvPr id="16" name="card:2"/>
          <p:cNvSpPr txBox="1"/>
          <p:nvPr/>
        </p:nvSpPr>
        <p:spPr>
          <a:xfrm>
            <a:off x="8214360" y="4251960"/>
            <a:ext cx="3361944" cy="777240"/>
          </a:xfrm>
          <a:prstGeom prst="rect">
            <a:avLst/>
          </a:prstGeom>
          <a:noFill/>
        </p:spPr>
        <p:txBody>
          <a:bodyPr wrap="square" lIns="54864" tIns="36576" rIns="54864" bIns="36576" anchor="t"/>
          <a:lstStyle/>
          <a:p>
            <a:pPr algn="l">
              <a:spcBef>
                <a:spcPts val="0"/>
              </a:spcBef>
              <a:spcAft>
                <a:spcPts val="0"/>
              </a:spcAft>
            </a:pPr>
            <a:r>
              <a:rPr sz="1600" b="0" i="0">
                <a:solidFill>
                  <a:srgbClr val="231F20"/>
                </a:solidFill>
                <a:latin typeface="Calibri"/>
                <a:ea typeface="Calibri"/>
                <a:cs typeface="Calibri"/>
              </a:rPr>
              <a:t>The page states only a result it produced.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3</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One second delivery is already on this shift.</a:t>
            </a:r>
          </a:p>
        </p:txBody>
      </p:sp>
      <p:sp>
        <p:nvSpPr>
          <p:cNvPr id="5" name="Rounded Rectangle 4"/>
          <p:cNvSpPr/>
          <p:nvPr/>
        </p:nvSpPr>
        <p:spPr>
          <a:xfrm>
            <a:off x="502920" y="1554480"/>
            <a:ext cx="5509259" cy="43891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1719072"/>
            <a:ext cx="64008" cy="4059935"/>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76771" y="1554480"/>
            <a:ext cx="5509259" cy="43891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5059" y="1719072"/>
            <a:ext cx="64008" cy="4059935"/>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ard:left"/>
          <p:cNvSpPr txBox="1"/>
          <p:nvPr/>
        </p:nvSpPr>
        <p:spPr>
          <a:xfrm>
            <a:off x="704088" y="1920240"/>
            <a:ext cx="5143499" cy="3657600"/>
          </a:xfrm>
          <a:prstGeom prst="rect">
            <a:avLst/>
          </a:prstGeom>
          <a:noFill/>
        </p:spPr>
        <p:txBody>
          <a:bodyPr wrap="square" lIns="54864" tIns="36576" rIns="54864" bIns="36576" anchor="ctr"/>
          <a:lstStyle/>
          <a:p>
            <a:pPr algn="l">
              <a:spcBef>
                <a:spcPts val="0"/>
              </a:spcBef>
              <a:spcAft>
                <a:spcPts val="0"/>
              </a:spcAft>
            </a:pPr>
            <a:r>
              <a:rPr sz="1500" b="1" i="0">
                <a:solidFill>
                  <a:srgbClr val="231F20"/>
                </a:solidFill>
                <a:latin typeface="Calibri"/>
                <a:ea typeface="Calibri"/>
                <a:cs typeface="Calibri"/>
              </a:rPr>
              <a:t>The conflict</a:t>
            </a:r>
          </a:p>
          <a:p>
            <a:pPr algn="l">
              <a:spcBef>
                <a:spcPts val="0"/>
              </a:spcBef>
              <a:spcAft>
                <a:spcPts val="0"/>
              </a:spcAft>
            </a:pPr>
            <a:r>
              <a:rPr sz="1600" b="0" i="0">
                <a:solidFill>
                  <a:srgbClr val="4B4B4B"/>
                </a:solidFill>
                <a:latin typeface="Calibri"/>
                <a:ea typeface="Calibri"/>
                <a:cs typeface="Calibri"/>
              </a:rPr>
              <a:t>REPLAY-000000000 repeats C00001646 at 19:09 and 20:09.</a:t>
            </a:r>
          </a:p>
        </p:txBody>
      </p:sp>
      <p:sp>
        <p:nvSpPr>
          <p:cNvPr id="10" name="card:right"/>
          <p:cNvSpPr txBox="1"/>
          <p:nvPr/>
        </p:nvSpPr>
        <p:spPr>
          <a:xfrm>
            <a:off x="6377939" y="1920240"/>
            <a:ext cx="5143499" cy="3657600"/>
          </a:xfrm>
          <a:prstGeom prst="rect">
            <a:avLst/>
          </a:prstGeom>
          <a:noFill/>
        </p:spPr>
        <p:txBody>
          <a:bodyPr wrap="square" lIns="54864" tIns="36576" rIns="54864" bIns="36576" anchor="ctr"/>
          <a:lstStyle/>
          <a:p>
            <a:pPr algn="l">
              <a:spcBef>
                <a:spcPts val="0"/>
              </a:spcBef>
              <a:spcAft>
                <a:spcPts val="0"/>
              </a:spcAft>
            </a:pPr>
            <a:r>
              <a:rPr sz="1500" b="1" i="0">
                <a:solidFill>
                  <a:srgbClr val="231F20"/>
                </a:solidFill>
                <a:latin typeface="Calibri"/>
                <a:ea typeface="Calibri"/>
                <a:cs typeface="Calibri"/>
              </a:rPr>
              <a:t>A wrong close</a:t>
            </a:r>
          </a:p>
          <a:p>
            <a:pPr algn="l">
              <a:spcBef>
                <a:spcPts val="0"/>
              </a:spcBef>
              <a:spcAft>
                <a:spcPts val="0"/>
              </a:spcAft>
            </a:pPr>
            <a:r>
              <a:rPr sz="1600" b="0" i="0">
                <a:solidFill>
                  <a:srgbClr val="4B4B4B"/>
                </a:solidFill>
                <a:latin typeface="Calibri"/>
                <a:ea typeface="Calibri"/>
                <a:cs typeface="Calibri"/>
              </a:rPr>
              <a:t>The same feed is counted twice, or a true delivery is dropped.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4</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One page holds the whole decision.</a:t>
            </a:r>
          </a:p>
        </p:txBody>
      </p:sp>
      <p:sp>
        <p:nvSpPr>
          <p:cNvPr id="5" name="console-frame"/>
          <p:cNvSpPr/>
          <p:nvPr/>
        </p:nvSpPr>
        <p:spPr>
          <a:xfrm>
            <a:off x="502920" y="1463040"/>
            <a:ext cx="11109960" cy="480060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609344"/>
            <a:ext cx="10808208" cy="42245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nsole-edge"/>
          <p:cNvSpPr/>
          <p:nvPr/>
        </p:nvSpPr>
        <p:spPr>
          <a:xfrm>
            <a:off x="658368" y="1609344"/>
            <a:ext cx="109728" cy="422452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68096" y="1609344"/>
            <a:ext cx="1069848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onsole"/>
          <p:cNvSpPr txBox="1"/>
          <p:nvPr/>
        </p:nvSpPr>
        <p:spPr>
          <a:xfrm>
            <a:off x="877824" y="1664208"/>
            <a:ext cx="5852160" cy="420624"/>
          </a:xfrm>
          <a:prstGeom prst="rect">
            <a:avLst/>
          </a:prstGeom>
          <a:noFill/>
        </p:spPr>
        <p:txBody>
          <a:bodyPr wrap="square" lIns="0" tIns="36576" rIns="0" bIns="36576" anchor="ctr"/>
          <a:lstStyle/>
          <a:p>
            <a:pPr algn="l">
              <a:spcBef>
                <a:spcPts val="0"/>
              </a:spcBef>
              <a:spcAft>
                <a:spcPts val="0"/>
              </a:spcAft>
            </a:pPr>
            <a:r>
              <a:rPr sz="1400" b="0" i="0">
                <a:solidFill>
                  <a:srgbClr val="231F20"/>
                </a:solidFill>
                <a:latin typeface="Calibri"/>
                <a:ea typeface="Calibri"/>
                <a:cs typeface="Calibri"/>
              </a:rPr>
              <a:t>Application A     Port 8100     RT-01</a:t>
            </a:r>
          </a:p>
        </p:txBody>
      </p:sp>
      <p:sp>
        <p:nvSpPr>
          <p:cNvPr id="10" name="pill-label"/>
          <p:cNvSpPr/>
          <p:nvPr/>
        </p:nvSpPr>
        <p:spPr>
          <a:xfrm>
            <a:off x="5477256" y="1719072"/>
            <a:ext cx="777240" cy="292608"/>
          </a:xfrm>
          <a:prstGeom prst="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Bef>
                <a:spcPts val="0"/>
              </a:spcBef>
              <a:spcAft>
                <a:spcPts val="0"/>
              </a:spcAft>
            </a:pPr>
            <a:r>
              <a:rPr sz="900" b="1" i="0">
                <a:solidFill>
                  <a:srgbClr val="ED1C24"/>
                </a:solidFill>
                <a:latin typeface="Calibri"/>
                <a:ea typeface="Calibri"/>
                <a:cs typeface="Calibri"/>
              </a:rPr>
              <a:t>replay</a:t>
            </a:r>
          </a:p>
        </p:txBody>
      </p:sp>
      <p:sp>
        <p:nvSpPr>
          <p:cNvPr id="11" name="console-arc"/>
          <p:cNvSpPr/>
          <p:nvPr/>
        </p:nvSpPr>
        <p:spPr>
          <a:xfrm rot="1080000">
            <a:off x="10232136" y="1591056"/>
            <a:ext cx="960120" cy="960120"/>
          </a:xfrm>
          <a:prstGeom prst="arc">
            <a:avLst/>
          </a:prstGeom>
          <a:noFill/>
          <a:ln w="28575">
            <a:solidFill>
              <a:srgbClr val="ED1C24">
                <a:alpha val="9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onsole-arc"/>
          <p:cNvSpPr/>
          <p:nvPr/>
        </p:nvSpPr>
        <p:spPr>
          <a:xfrm rot="1080000">
            <a:off x="10442448" y="1682496"/>
            <a:ext cx="749808" cy="749808"/>
          </a:xfrm>
          <a:prstGeom prst="arc">
            <a:avLst/>
          </a:prstGeom>
          <a:noFill/>
          <a:ln w="15875">
            <a:solidFill>
              <a:srgbClr val="231F20">
                <a:alpha val="6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68096" y="2139696"/>
            <a:ext cx="169164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8096" y="2139696"/>
            <a:ext cx="1691640" cy="4114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onsole"/>
          <p:cNvSpPr txBox="1"/>
          <p:nvPr/>
        </p:nvSpPr>
        <p:spPr>
          <a:xfrm>
            <a:off x="841247" y="2157984"/>
            <a:ext cx="1554480" cy="384048"/>
          </a:xfrm>
          <a:prstGeom prst="rect">
            <a:avLst/>
          </a:prstGeom>
          <a:noFill/>
        </p:spPr>
        <p:txBody>
          <a:bodyPr wrap="square" lIns="18288" tIns="36576" rIns="18288" bIns="36576" anchor="t"/>
          <a:lstStyle/>
          <a:p>
            <a:pPr algn="l">
              <a:spcBef>
                <a:spcPts val="0"/>
              </a:spcBef>
              <a:spcAft>
                <a:spcPts val="0"/>
              </a:spcAft>
            </a:pPr>
            <a:r>
              <a:rPr sz="1300" b="1" i="0">
                <a:solidFill>
                  <a:srgbClr val="231F20"/>
                </a:solidFill>
                <a:latin typeface="Calibri"/>
                <a:ea typeface="Calibri"/>
                <a:cs typeface="Calibri"/>
              </a:rPr>
              <a:t>Replay</a:t>
            </a:r>
          </a:p>
          <a:p>
            <a:pPr algn="l">
              <a:spcBef>
                <a:spcPts val="0"/>
              </a:spcBef>
              <a:spcAft>
                <a:spcPts val="0"/>
              </a:spcAft>
            </a:pPr>
            <a:r>
              <a:rPr sz="1100" b="0" i="0">
                <a:solidFill>
                  <a:srgbClr val="666666"/>
                </a:solidFill>
                <a:latin typeface="Calibri"/>
                <a:ea typeface="Calibri"/>
                <a:cs typeface="Calibri"/>
              </a:rPr>
              <a:t>C00001646</a:t>
            </a:r>
          </a:p>
        </p:txBody>
      </p:sp>
      <p:sp>
        <p:nvSpPr>
          <p:cNvPr id="16" name="Rectangle 15"/>
          <p:cNvSpPr/>
          <p:nvPr/>
        </p:nvSpPr>
        <p:spPr>
          <a:xfrm>
            <a:off x="768096" y="2560320"/>
            <a:ext cx="10698480" cy="32004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onsole"/>
          <p:cNvSpPr txBox="1"/>
          <p:nvPr/>
        </p:nvSpPr>
        <p:spPr>
          <a:xfrm>
            <a:off x="950976" y="2615184"/>
            <a:ext cx="3840480" cy="256032"/>
          </a:xfrm>
          <a:prstGeom prst="rect">
            <a:avLst/>
          </a:prstGeom>
          <a:noFill/>
        </p:spPr>
        <p:txBody>
          <a:bodyPr wrap="square" lIns="0" tIns="36576" rIns="0" bIns="36576" anchor="t"/>
          <a:lstStyle/>
          <a:p>
            <a:pPr algn="l">
              <a:spcBef>
                <a:spcPts val="0"/>
              </a:spcBef>
              <a:spcAft>
                <a:spcPts val="0"/>
              </a:spcAft>
            </a:pPr>
            <a:r>
              <a:rPr sz="1300" b="1" i="0">
                <a:solidFill>
                  <a:srgbClr val="231F20"/>
                </a:solidFill>
                <a:latin typeface="Calibri"/>
                <a:ea typeface="Calibri"/>
                <a:cs typeface="Calibri"/>
              </a:rPr>
              <a:t>Situation</a:t>
            </a:r>
          </a:p>
        </p:txBody>
      </p:sp>
      <p:sp>
        <p:nvSpPr>
          <p:cNvPr id="18" name="console"/>
          <p:cNvSpPr txBox="1"/>
          <p:nvPr/>
        </p:nvSpPr>
        <p:spPr>
          <a:xfrm>
            <a:off x="950976" y="2871215"/>
            <a:ext cx="2926080" cy="256032"/>
          </a:xfrm>
          <a:prstGeom prst="rect">
            <a:avLst/>
          </a:prstGeom>
          <a:noFill/>
        </p:spPr>
        <p:txBody>
          <a:bodyPr wrap="square" lIns="0" tIns="36576" rIns="0" bIns="36576" anchor="t"/>
          <a:lstStyle/>
          <a:p>
            <a:pPr algn="l">
              <a:spcBef>
                <a:spcPts val="0"/>
              </a:spcBef>
              <a:spcAft>
                <a:spcPts val="0"/>
              </a:spcAft>
            </a:pPr>
            <a:r>
              <a:rPr sz="1300" b="1" i="0">
                <a:solidFill>
                  <a:srgbClr val="231F20"/>
                </a:solidFill>
                <a:latin typeface="Calibri"/>
                <a:ea typeface="Calibri"/>
                <a:cs typeface="Calibri"/>
              </a:rPr>
              <a:t>Evidence</a:t>
            </a:r>
          </a:p>
        </p:txBody>
      </p:sp>
      <p:sp>
        <p:nvSpPr>
          <p:cNvPr id="19" name="Rectangle 18"/>
          <p:cNvSpPr/>
          <p:nvPr/>
        </p:nvSpPr>
        <p:spPr>
          <a:xfrm>
            <a:off x="950976" y="3163824"/>
            <a:ext cx="4206240" cy="29260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onsole"/>
          <p:cNvSpPr txBox="1"/>
          <p:nvPr/>
        </p:nvSpPr>
        <p:spPr>
          <a:xfrm>
            <a:off x="1024128" y="3163824"/>
            <a:ext cx="1645920" cy="292608"/>
          </a:xfrm>
          <a:prstGeom prst="rect">
            <a:avLst/>
          </a:prstGeom>
          <a:noFill/>
        </p:spPr>
        <p:txBody>
          <a:bodyPr wrap="square" lIns="18288" tIns="36576" rIns="18288" bIns="36576" anchor="ctr"/>
          <a:lstStyle/>
          <a:p>
            <a:pPr algn="l">
              <a:spcBef>
                <a:spcPts val="0"/>
              </a:spcBef>
              <a:spcAft>
                <a:spcPts val="0"/>
              </a:spcAft>
            </a:pPr>
            <a:r>
              <a:rPr sz="1200" b="1" i="0">
                <a:solidFill>
                  <a:srgbClr val="231F20"/>
                </a:solidFill>
                <a:latin typeface="Calibri"/>
                <a:ea typeface="Calibri"/>
                <a:cs typeface="Calibri"/>
              </a:rPr>
              <a:t>Ref</a:t>
            </a:r>
          </a:p>
        </p:txBody>
      </p:sp>
      <p:sp>
        <p:nvSpPr>
          <p:cNvPr id="21" name="console"/>
          <p:cNvSpPr txBox="1"/>
          <p:nvPr/>
        </p:nvSpPr>
        <p:spPr>
          <a:xfrm>
            <a:off x="2688336" y="3163824"/>
            <a:ext cx="2286000" cy="292608"/>
          </a:xfrm>
          <a:prstGeom prst="rect">
            <a:avLst/>
          </a:prstGeom>
          <a:noFill/>
        </p:spPr>
        <p:txBody>
          <a:bodyPr wrap="square" lIns="18288" tIns="36576" rIns="18288" bIns="36576" anchor="ctr"/>
          <a:lstStyle/>
          <a:p>
            <a:pPr algn="l">
              <a:spcBef>
                <a:spcPts val="0"/>
              </a:spcBef>
              <a:spcAft>
                <a:spcPts val="0"/>
              </a:spcAft>
            </a:pPr>
            <a:r>
              <a:rPr sz="1200" b="0" i="0">
                <a:solidFill>
                  <a:srgbClr val="231F20"/>
                </a:solidFill>
                <a:latin typeface="Calibri"/>
                <a:ea typeface="Calibri"/>
                <a:cs typeface="Calibri"/>
              </a:rPr>
              <a:t>C00001646</a:t>
            </a:r>
          </a:p>
        </p:txBody>
      </p:sp>
      <p:sp>
        <p:nvSpPr>
          <p:cNvPr id="22" name="Rectangle 21"/>
          <p:cNvSpPr/>
          <p:nvPr/>
        </p:nvSpPr>
        <p:spPr>
          <a:xfrm>
            <a:off x="950976" y="3456432"/>
            <a:ext cx="4206240" cy="292608"/>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nsole"/>
          <p:cNvSpPr txBox="1"/>
          <p:nvPr/>
        </p:nvSpPr>
        <p:spPr>
          <a:xfrm>
            <a:off x="1024128" y="3456432"/>
            <a:ext cx="1645920" cy="292608"/>
          </a:xfrm>
          <a:prstGeom prst="rect">
            <a:avLst/>
          </a:prstGeom>
          <a:noFill/>
        </p:spPr>
        <p:txBody>
          <a:bodyPr wrap="square" lIns="18288" tIns="36576" rIns="18288" bIns="36576" anchor="ctr"/>
          <a:lstStyle/>
          <a:p>
            <a:pPr algn="l">
              <a:spcBef>
                <a:spcPts val="0"/>
              </a:spcBef>
              <a:spcAft>
                <a:spcPts val="0"/>
              </a:spcAft>
            </a:pPr>
            <a:r>
              <a:rPr sz="1200" b="1" i="0">
                <a:solidFill>
                  <a:srgbClr val="231F20"/>
                </a:solidFill>
                <a:latin typeface="Calibri"/>
                <a:ea typeface="Calibri"/>
                <a:cs typeface="Calibri"/>
              </a:rPr>
              <a:t>This delivery</a:t>
            </a:r>
          </a:p>
        </p:txBody>
      </p:sp>
      <p:sp>
        <p:nvSpPr>
          <p:cNvPr id="24" name="console"/>
          <p:cNvSpPr txBox="1"/>
          <p:nvPr/>
        </p:nvSpPr>
        <p:spPr>
          <a:xfrm>
            <a:off x="2688336" y="3456432"/>
            <a:ext cx="2286000" cy="292608"/>
          </a:xfrm>
          <a:prstGeom prst="rect">
            <a:avLst/>
          </a:prstGeom>
          <a:noFill/>
        </p:spPr>
        <p:txBody>
          <a:bodyPr wrap="square" lIns="18288" tIns="36576" rIns="18288" bIns="36576" anchor="ctr"/>
          <a:lstStyle/>
          <a:p>
            <a:pPr algn="l">
              <a:spcBef>
                <a:spcPts val="0"/>
              </a:spcBef>
              <a:spcAft>
                <a:spcPts val="0"/>
              </a:spcAft>
            </a:pPr>
            <a:r>
              <a:rPr sz="1200" b="0" i="0">
                <a:solidFill>
                  <a:srgbClr val="231F20"/>
                </a:solidFill>
                <a:latin typeface="Calibri"/>
                <a:ea typeface="Calibri"/>
                <a:cs typeface="Calibri"/>
              </a:rPr>
              <a:t>not on the queue</a:t>
            </a:r>
          </a:p>
        </p:txBody>
      </p:sp>
      <p:sp>
        <p:nvSpPr>
          <p:cNvPr id="25" name="console"/>
          <p:cNvSpPr txBox="1"/>
          <p:nvPr/>
        </p:nvSpPr>
        <p:spPr>
          <a:xfrm>
            <a:off x="950976" y="3803904"/>
            <a:ext cx="2011680" cy="237744"/>
          </a:xfrm>
          <a:prstGeom prst="rect">
            <a:avLst/>
          </a:prstGeom>
          <a:noFill/>
        </p:spPr>
        <p:txBody>
          <a:bodyPr wrap="square" lIns="0" tIns="36576" rIns="0" bIns="36576" anchor="t"/>
          <a:lstStyle/>
          <a:p>
            <a:pPr algn="l">
              <a:spcBef>
                <a:spcPts val="0"/>
              </a:spcBef>
              <a:spcAft>
                <a:spcPts val="0"/>
              </a:spcAft>
            </a:pPr>
            <a:r>
              <a:rPr sz="1300" b="1" i="0">
                <a:solidFill>
                  <a:srgbClr val="231F20"/>
                </a:solidFill>
                <a:latin typeface="Calibri"/>
                <a:ea typeface="Calibri"/>
                <a:cs typeface="Calibri"/>
              </a:rPr>
              <a:t>Action</a:t>
            </a:r>
          </a:p>
        </p:txBody>
      </p:sp>
      <p:sp>
        <p:nvSpPr>
          <p:cNvPr id="26" name="console"/>
          <p:cNvSpPr/>
          <p:nvPr/>
        </p:nvSpPr>
        <p:spPr>
          <a:xfrm>
            <a:off x="950976" y="4059935"/>
            <a:ext cx="2468880" cy="384048"/>
          </a:xfrm>
          <a:prstGeom prst="roundRect">
            <a:avLst>
              <a:gd name="adj" fmla="val 8000"/>
            </a:avLst>
          </a:prstGeom>
          <a:solidFill>
            <a:srgbClr val="ED1C24"/>
          </a:solidFill>
          <a:ln w="9525">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Bef>
                <a:spcPts val="0"/>
              </a:spcBef>
              <a:spcAft>
                <a:spcPts val="0"/>
              </a:spcAft>
            </a:pPr>
            <a:r>
              <a:rPr sz="1400" b="1" i="0">
                <a:solidFill>
                  <a:srgbClr val="FFFFFF"/>
                </a:solidFill>
                <a:latin typeface="Calibri"/>
                <a:ea typeface="Calibri"/>
                <a:cs typeface="Calibri"/>
              </a:rPr>
              <a:t>Review this delivery</a:t>
            </a:r>
          </a:p>
        </p:txBody>
      </p:sp>
      <p:sp>
        <p:nvSpPr>
          <p:cNvPr id="27" name="console"/>
          <p:cNvSpPr txBox="1"/>
          <p:nvPr/>
        </p:nvSpPr>
        <p:spPr>
          <a:xfrm>
            <a:off x="950976" y="4535424"/>
            <a:ext cx="2011680" cy="219456"/>
          </a:xfrm>
          <a:prstGeom prst="rect">
            <a:avLst/>
          </a:prstGeom>
          <a:noFill/>
        </p:spPr>
        <p:txBody>
          <a:bodyPr wrap="square" lIns="0" tIns="36576" rIns="0" bIns="36576" anchor="t"/>
          <a:lstStyle/>
          <a:p>
            <a:pPr algn="l">
              <a:spcBef>
                <a:spcPts val="0"/>
              </a:spcBef>
              <a:spcAft>
                <a:spcPts val="0"/>
              </a:spcAft>
            </a:pPr>
            <a:r>
              <a:rPr sz="1300" b="1" i="0">
                <a:solidFill>
                  <a:srgbClr val="231F20"/>
                </a:solidFill>
                <a:latin typeface="Calibri"/>
                <a:ea typeface="Calibri"/>
                <a:cs typeface="Calibri"/>
              </a:rPr>
              <a:t>Result</a:t>
            </a:r>
          </a:p>
        </p:txBody>
      </p:sp>
      <p:sp>
        <p:nvSpPr>
          <p:cNvPr id="28" name="Rectangle 27"/>
          <p:cNvSpPr/>
          <p:nvPr/>
        </p:nvSpPr>
        <p:spPr>
          <a:xfrm>
            <a:off x="950976" y="4773168"/>
            <a:ext cx="10287000" cy="365760"/>
          </a:xfrm>
          <a:prstGeom prst="rect">
            <a:avLst/>
          </a:prstGeom>
          <a:solidFill>
            <a:srgbClr val="FCF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50976" y="4773168"/>
            <a:ext cx="73152" cy="365760"/>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onsole"/>
          <p:cNvSpPr txBox="1"/>
          <p:nvPr/>
        </p:nvSpPr>
        <p:spPr>
          <a:xfrm>
            <a:off x="1097280" y="4773168"/>
            <a:ext cx="5486400" cy="365760"/>
          </a:xfrm>
          <a:prstGeom prst="rect">
            <a:avLst/>
          </a:prstGeom>
          <a:noFill/>
        </p:spPr>
        <p:txBody>
          <a:bodyPr wrap="square" lIns="0" tIns="36576" rIns="0" bIns="36576" anchor="ctr"/>
          <a:lstStyle/>
          <a:p>
            <a:pPr algn="l">
              <a:spcBef>
                <a:spcPts val="0"/>
              </a:spcBef>
              <a:spcAft>
                <a:spcPts val="0"/>
              </a:spcAft>
            </a:pPr>
            <a:r>
              <a:rPr sz="1400" b="0" i="0">
                <a:solidFill>
                  <a:srgbClr val="231F20"/>
                </a:solidFill>
                <a:latin typeface="Calibri"/>
                <a:ea typeface="Calibri"/>
                <a:cs typeface="Calibri"/>
              </a:rPr>
              <a:t>Ready.</a:t>
            </a:r>
          </a:p>
        </p:txBody>
      </p:sp>
      <p:sp>
        <p:nvSpPr>
          <p:cNvPr id="31" name="caption"/>
          <p:cNvSpPr txBox="1"/>
          <p:nvPr/>
        </p:nvSpPr>
        <p:spPr>
          <a:xfrm>
            <a:off x="658368" y="5870448"/>
            <a:ext cx="3840480" cy="256032"/>
          </a:xfrm>
          <a:prstGeom prst="rect">
            <a:avLst/>
          </a:prstGeom>
          <a:noFill/>
        </p:spPr>
        <p:txBody>
          <a:bodyPr wrap="square" lIns="0" tIns="36576" rIns="0" bIns="36576" anchor="t"/>
          <a:lstStyle/>
          <a:p>
            <a:pPr algn="l">
              <a:spcBef>
                <a:spcPts val="0"/>
              </a:spcBef>
              <a:spcAft>
                <a:spcPts val="0"/>
              </a:spcAft>
            </a:pPr>
            <a:r>
              <a:rPr sz="1200" b="0" i="0">
                <a:solidFill>
                  <a:srgbClr val="666666"/>
                </a:solidFill>
                <a:latin typeface="Calibri"/>
                <a:ea typeface="Calibri"/>
                <a:cs typeface="Calibri"/>
              </a:rPr>
              <a:t>Structure of the console.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 name="Connector 24"/>
          <p:cNvCxnSpPr/>
          <p:nvPr/>
        </p:nvCxnSpPr>
        <p:spPr>
          <a:xfrm>
            <a:off x="1555394" y="2551176"/>
            <a:ext cx="9078163" cy="0"/>
          </a:xfrm>
          <a:prstGeom prst="line">
            <a:avLst/>
          </a:prstGeom>
          <a:ln w="25400">
            <a:solidFill>
              <a:srgbClr val="D9D9D9"/>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5</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The reviewer never leaves this application.</a:t>
            </a:r>
          </a:p>
        </p:txBody>
      </p:sp>
      <p:sp>
        <p:nvSpPr>
          <p:cNvPr id="5" name="Rounded Rectangle 4"/>
          <p:cNvSpPr/>
          <p:nvPr/>
        </p:nvSpPr>
        <p:spPr>
          <a:xfrm>
            <a:off x="502920" y="2011680"/>
            <a:ext cx="2104948" cy="32918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2176272"/>
            <a:ext cx="64008" cy="296265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eq"/>
          <p:cNvSpPr/>
          <p:nvPr/>
        </p:nvSpPr>
        <p:spPr>
          <a:xfrm>
            <a:off x="1271930" y="2267712"/>
            <a:ext cx="566928" cy="566928"/>
          </a:xfrm>
          <a:prstGeom prst="ellipse">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1</a:t>
            </a:r>
          </a:p>
        </p:txBody>
      </p:sp>
      <p:sp>
        <p:nvSpPr>
          <p:cNvPr id="8" name="card:0"/>
          <p:cNvSpPr txBox="1"/>
          <p:nvPr/>
        </p:nvSpPr>
        <p:spPr>
          <a:xfrm>
            <a:off x="594360" y="3063240"/>
            <a:ext cx="1922068" cy="1920240"/>
          </a:xfrm>
          <a:prstGeom prst="rect">
            <a:avLst/>
          </a:prstGeom>
          <a:noFill/>
        </p:spPr>
        <p:txBody>
          <a:bodyPr wrap="square" lIns="36576" tIns="36576" rIns="36576" bIns="36576" anchor="t"/>
          <a:lstStyle/>
          <a:p>
            <a:pPr algn="ctr">
              <a:spcBef>
                <a:spcPts val="0"/>
              </a:spcBef>
              <a:spcAft>
                <a:spcPts val="0"/>
              </a:spcAft>
            </a:pPr>
            <a:r>
              <a:rPr sz="1600" b="1" i="0">
                <a:solidFill>
                  <a:srgbClr val="231F20"/>
                </a:solidFill>
                <a:latin typeface="Calibri"/>
                <a:ea typeface="Calibri"/>
                <a:cs typeface="Calibri"/>
              </a:rPr>
              <a:t>Arrive</a:t>
            </a:r>
          </a:p>
          <a:p>
            <a:pPr algn="ctr">
              <a:spcBef>
                <a:spcPts val="0"/>
              </a:spcBef>
              <a:spcAft>
                <a:spcPts val="0"/>
              </a:spcAft>
            </a:pPr>
            <a:r>
              <a:rPr sz="1400" b="0" i="0">
                <a:solidFill>
                  <a:srgbClr val="231F20"/>
                </a:solidFill>
                <a:latin typeface="Calibri"/>
                <a:ea typeface="Calibri"/>
                <a:cs typeface="Calibri"/>
              </a:rPr>
              <a:t>Open Replay</a:t>
            </a:r>
          </a:p>
          <a:p>
            <a:pPr algn="ctr">
              <a:spcBef>
                <a:spcPts val="0"/>
              </a:spcBef>
              <a:spcAft>
                <a:spcPts val="0"/>
              </a:spcAft>
            </a:pPr>
            <a:r>
              <a:rPr sz="1400" b="0" i="0">
                <a:solidFill>
                  <a:srgbClr val="4B4B4B"/>
                </a:solidFill>
                <a:latin typeface="Calibri"/>
                <a:ea typeface="Calibri"/>
                <a:cs typeface="Calibri"/>
              </a:rPr>
              <a:t>Case C00001646</a:t>
            </a:r>
          </a:p>
        </p:txBody>
      </p:sp>
      <p:sp>
        <p:nvSpPr>
          <p:cNvPr id="9" name="Rounded Rectangle 8"/>
          <p:cNvSpPr/>
          <p:nvPr/>
        </p:nvSpPr>
        <p:spPr>
          <a:xfrm>
            <a:off x="2772460" y="2011680"/>
            <a:ext cx="2104948" cy="32918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90748" y="2176272"/>
            <a:ext cx="64008" cy="296265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eq"/>
          <p:cNvSpPr/>
          <p:nvPr/>
        </p:nvSpPr>
        <p:spPr>
          <a:xfrm>
            <a:off x="3541471" y="2267712"/>
            <a:ext cx="566928" cy="566928"/>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2</a:t>
            </a:r>
          </a:p>
        </p:txBody>
      </p:sp>
      <p:sp>
        <p:nvSpPr>
          <p:cNvPr id="12" name="card:1"/>
          <p:cNvSpPr txBox="1"/>
          <p:nvPr/>
        </p:nvSpPr>
        <p:spPr>
          <a:xfrm>
            <a:off x="2863900" y="3063240"/>
            <a:ext cx="1922068" cy="1920240"/>
          </a:xfrm>
          <a:prstGeom prst="rect">
            <a:avLst/>
          </a:prstGeom>
          <a:noFill/>
        </p:spPr>
        <p:txBody>
          <a:bodyPr wrap="square" lIns="36576" tIns="36576" rIns="36576" bIns="36576" anchor="t"/>
          <a:lstStyle/>
          <a:p>
            <a:pPr algn="ctr">
              <a:spcBef>
                <a:spcPts val="0"/>
              </a:spcBef>
              <a:spcAft>
                <a:spcPts val="0"/>
              </a:spcAft>
            </a:pPr>
            <a:r>
              <a:rPr sz="1600" b="1" i="0">
                <a:solidFill>
                  <a:srgbClr val="231F20"/>
                </a:solidFill>
                <a:latin typeface="Calibri"/>
                <a:ea typeface="Calibri"/>
                <a:cs typeface="Calibri"/>
              </a:rPr>
              <a:t>Read</a:t>
            </a:r>
          </a:p>
          <a:p>
            <a:pPr algn="ctr">
              <a:spcBef>
                <a:spcPts val="0"/>
              </a:spcBef>
              <a:spcAft>
                <a:spcPts val="0"/>
              </a:spcAft>
            </a:pPr>
            <a:r>
              <a:rPr sz="1400" b="0" i="0">
                <a:solidFill>
                  <a:srgbClr val="231F20"/>
                </a:solidFill>
                <a:latin typeface="Calibri"/>
                <a:ea typeface="Calibri"/>
                <a:cs typeface="Calibri"/>
              </a:rPr>
              <a:t>Two ingest times</a:t>
            </a:r>
          </a:p>
          <a:p>
            <a:pPr algn="ctr">
              <a:spcBef>
                <a:spcPts val="0"/>
              </a:spcBef>
              <a:spcAft>
                <a:spcPts val="0"/>
              </a:spcAft>
            </a:pPr>
            <a:r>
              <a:rPr sz="1400" b="0" i="0">
                <a:solidFill>
                  <a:srgbClr val="4B4B4B"/>
                </a:solidFill>
                <a:latin typeface="Calibri"/>
                <a:ea typeface="Calibri"/>
                <a:cs typeface="Calibri"/>
              </a:rPr>
              <a:t>19:09 and 20:09</a:t>
            </a:r>
          </a:p>
        </p:txBody>
      </p:sp>
      <p:sp>
        <p:nvSpPr>
          <p:cNvPr id="13" name="Rounded Rectangle 12"/>
          <p:cNvSpPr/>
          <p:nvPr/>
        </p:nvSpPr>
        <p:spPr>
          <a:xfrm>
            <a:off x="5042001" y="2011680"/>
            <a:ext cx="2104948" cy="32918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60289" y="2176272"/>
            <a:ext cx="64008" cy="296265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eq"/>
          <p:cNvSpPr/>
          <p:nvPr/>
        </p:nvSpPr>
        <p:spPr>
          <a:xfrm>
            <a:off x="5811011" y="2267712"/>
            <a:ext cx="566928" cy="566928"/>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3</a:t>
            </a:r>
          </a:p>
        </p:txBody>
      </p:sp>
      <p:sp>
        <p:nvSpPr>
          <p:cNvPr id="16" name="card:2"/>
          <p:cNvSpPr txBox="1"/>
          <p:nvPr/>
        </p:nvSpPr>
        <p:spPr>
          <a:xfrm>
            <a:off x="5133441" y="3063240"/>
            <a:ext cx="1922068" cy="1920240"/>
          </a:xfrm>
          <a:prstGeom prst="rect">
            <a:avLst/>
          </a:prstGeom>
          <a:noFill/>
        </p:spPr>
        <p:txBody>
          <a:bodyPr wrap="square" lIns="36576" tIns="36576" rIns="36576" bIns="36576" anchor="t"/>
          <a:lstStyle/>
          <a:p>
            <a:pPr algn="ctr">
              <a:spcBef>
                <a:spcPts val="0"/>
              </a:spcBef>
              <a:spcAft>
                <a:spcPts val="0"/>
              </a:spcAft>
            </a:pPr>
            <a:r>
              <a:rPr sz="1600" b="1" i="0">
                <a:solidFill>
                  <a:srgbClr val="231F20"/>
                </a:solidFill>
                <a:latin typeface="Calibri"/>
                <a:ea typeface="Calibri"/>
                <a:cs typeface="Calibri"/>
              </a:rPr>
              <a:t>Act</a:t>
            </a:r>
          </a:p>
          <a:p>
            <a:pPr algn="ctr">
              <a:spcBef>
                <a:spcPts val="0"/>
              </a:spcBef>
              <a:spcAft>
                <a:spcPts val="0"/>
              </a:spcAft>
            </a:pPr>
            <a:r>
              <a:rPr sz="1400" b="0" i="0">
                <a:solidFill>
                  <a:srgbClr val="231F20"/>
                </a:solidFill>
                <a:latin typeface="Calibri"/>
                <a:ea typeface="Calibri"/>
                <a:cs typeface="Calibri"/>
              </a:rPr>
              <a:t>Review this delivery</a:t>
            </a:r>
          </a:p>
          <a:p>
            <a:pPr algn="ctr">
              <a:spcBef>
                <a:spcPts val="0"/>
              </a:spcBef>
              <a:spcAft>
                <a:spcPts val="0"/>
              </a:spcAft>
            </a:pPr>
            <a:r>
              <a:rPr sz="1400" b="0" i="0">
                <a:solidFill>
                  <a:srgbClr val="4B4B4B"/>
                </a:solidFill>
                <a:latin typeface="Calibri"/>
                <a:ea typeface="Calibri"/>
                <a:cs typeface="Calibri"/>
              </a:rPr>
              <a:t>Any signed-in role</a:t>
            </a:r>
          </a:p>
        </p:txBody>
      </p:sp>
      <p:sp>
        <p:nvSpPr>
          <p:cNvPr id="17" name="Rounded Rectangle 16"/>
          <p:cNvSpPr/>
          <p:nvPr/>
        </p:nvSpPr>
        <p:spPr>
          <a:xfrm>
            <a:off x="7311542" y="2011680"/>
            <a:ext cx="2104948" cy="32918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29830" y="2176272"/>
            <a:ext cx="64008" cy="296265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eq"/>
          <p:cNvSpPr/>
          <p:nvPr/>
        </p:nvSpPr>
        <p:spPr>
          <a:xfrm>
            <a:off x="8080552" y="2267712"/>
            <a:ext cx="566928" cy="566928"/>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4</a:t>
            </a:r>
          </a:p>
        </p:txBody>
      </p:sp>
      <p:sp>
        <p:nvSpPr>
          <p:cNvPr id="20" name="card:3"/>
          <p:cNvSpPr txBox="1"/>
          <p:nvPr/>
        </p:nvSpPr>
        <p:spPr>
          <a:xfrm>
            <a:off x="7402982" y="3063240"/>
            <a:ext cx="1922068" cy="1920240"/>
          </a:xfrm>
          <a:prstGeom prst="rect">
            <a:avLst/>
          </a:prstGeom>
          <a:noFill/>
        </p:spPr>
        <p:txBody>
          <a:bodyPr wrap="square" lIns="36576" tIns="36576" rIns="36576" bIns="36576" anchor="t"/>
          <a:lstStyle/>
          <a:p>
            <a:pPr algn="ctr">
              <a:spcBef>
                <a:spcPts val="0"/>
              </a:spcBef>
              <a:spcAft>
                <a:spcPts val="0"/>
              </a:spcAft>
            </a:pPr>
            <a:r>
              <a:rPr sz="1600" b="1" i="0">
                <a:solidFill>
                  <a:srgbClr val="231F20"/>
                </a:solidFill>
                <a:latin typeface="Calibri"/>
                <a:ea typeface="Calibri"/>
                <a:cs typeface="Calibri"/>
              </a:rPr>
              <a:t>See</a:t>
            </a:r>
          </a:p>
          <a:p>
            <a:pPr algn="ctr">
              <a:spcBef>
                <a:spcPts val="0"/>
              </a:spcBef>
              <a:spcAft>
                <a:spcPts val="0"/>
              </a:spcAft>
            </a:pPr>
            <a:r>
              <a:rPr sz="1400" b="0" i="0">
                <a:solidFill>
                  <a:srgbClr val="231F20"/>
                </a:solidFill>
                <a:latin typeface="Calibri"/>
                <a:ea typeface="Calibri"/>
                <a:cs typeface="Calibri"/>
              </a:rPr>
              <a:t>Queue count 197</a:t>
            </a:r>
          </a:p>
          <a:p>
            <a:pPr algn="ctr">
              <a:spcBef>
                <a:spcPts val="0"/>
              </a:spcBef>
              <a:spcAft>
                <a:spcPts val="0"/>
              </a:spcAft>
            </a:pPr>
            <a:r>
              <a:rPr sz="1400" b="0" i="0">
                <a:solidFill>
                  <a:srgbClr val="4B4B4B"/>
                </a:solidFill>
                <a:latin typeface="Calibri"/>
                <a:ea typeface="Calibri"/>
                <a:cs typeface="Calibri"/>
              </a:rPr>
              <a:t>Packaged count 67</a:t>
            </a:r>
          </a:p>
        </p:txBody>
      </p:sp>
      <p:sp>
        <p:nvSpPr>
          <p:cNvPr id="21" name="Rounded Rectangle 20"/>
          <p:cNvSpPr/>
          <p:nvPr/>
        </p:nvSpPr>
        <p:spPr>
          <a:xfrm>
            <a:off x="9581083" y="2011680"/>
            <a:ext cx="2104948" cy="32918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599371" y="2176272"/>
            <a:ext cx="64008" cy="296265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eq"/>
          <p:cNvSpPr/>
          <p:nvPr/>
        </p:nvSpPr>
        <p:spPr>
          <a:xfrm>
            <a:off x="10350093" y="2267712"/>
            <a:ext cx="566928" cy="566928"/>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5</a:t>
            </a:r>
          </a:p>
        </p:txBody>
      </p:sp>
      <p:sp>
        <p:nvSpPr>
          <p:cNvPr id="24" name="card:4"/>
          <p:cNvSpPr txBox="1"/>
          <p:nvPr/>
        </p:nvSpPr>
        <p:spPr>
          <a:xfrm>
            <a:off x="9672523" y="3063240"/>
            <a:ext cx="1922068" cy="1920240"/>
          </a:xfrm>
          <a:prstGeom prst="rect">
            <a:avLst/>
          </a:prstGeom>
          <a:noFill/>
        </p:spPr>
        <p:txBody>
          <a:bodyPr wrap="square" lIns="36576" tIns="36576" rIns="36576" bIns="36576" anchor="t"/>
          <a:lstStyle/>
          <a:p>
            <a:pPr algn="ctr">
              <a:spcBef>
                <a:spcPts val="0"/>
              </a:spcBef>
              <a:spcAft>
                <a:spcPts val="0"/>
              </a:spcAft>
            </a:pPr>
            <a:r>
              <a:rPr sz="1600" b="1" i="0">
                <a:solidFill>
                  <a:srgbClr val="231F20"/>
                </a:solidFill>
                <a:latin typeface="Calibri"/>
                <a:ea typeface="Calibri"/>
                <a:cs typeface="Calibri"/>
              </a:rPr>
              <a:t>Hand off</a:t>
            </a:r>
          </a:p>
          <a:p>
            <a:pPr algn="ctr">
              <a:spcBef>
                <a:spcPts val="0"/>
              </a:spcBef>
              <a:spcAft>
                <a:spcPts val="0"/>
              </a:spcAft>
            </a:pPr>
            <a:r>
              <a:rPr sz="1400" b="0" i="0">
                <a:solidFill>
                  <a:srgbClr val="231F20"/>
                </a:solidFill>
                <a:latin typeface="Calibri"/>
                <a:ea typeface="Calibri"/>
                <a:cs typeface="Calibri"/>
              </a:rPr>
              <a:t>Role picker to RT-05</a:t>
            </a:r>
          </a:p>
          <a:p>
            <a:pPr algn="ctr">
              <a:spcBef>
                <a:spcPts val="0"/>
              </a:spcBef>
              <a:spcAft>
                <a:spcPts val="0"/>
              </a:spcAft>
            </a:pPr>
            <a:r>
              <a:rPr sz="1400" b="0" i="0">
                <a:solidFill>
                  <a:srgbClr val="4B4B4B"/>
                </a:solidFill>
                <a:latin typeface="Calibri"/>
                <a:ea typeface="Calibri"/>
                <a:cs typeface="Calibri"/>
              </a:rPr>
              <a:t>Drop this duplicate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6</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The case is readable before any click.</a:t>
            </a:r>
          </a:p>
        </p:txBody>
      </p:sp>
      <p:sp>
        <p:nvSpPr>
          <p:cNvPr id="5" name="shot-frame"/>
          <p:cNvSpPr/>
          <p:nvPr/>
        </p:nvSpPr>
        <p:spPr>
          <a:xfrm>
            <a:off x="502920" y="1463040"/>
            <a:ext cx="6949440" cy="466344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gion"/>
          <p:cNvSpPr txBox="1"/>
          <p:nvPr/>
        </p:nvSpPr>
        <p:spPr>
          <a:xfrm>
            <a:off x="685800" y="1627632"/>
            <a:ext cx="6583680" cy="1234440"/>
          </a:xfrm>
          <a:prstGeom prst="rect">
            <a:avLst/>
          </a:prstGeom>
          <a:noFill/>
        </p:spPr>
        <p:txBody>
          <a:bodyPr wrap="square" lIns="36576" tIns="36576" rIns="36576" bIns="36576" anchor="t"/>
          <a:lstStyle/>
          <a:p>
            <a:pPr algn="l">
              <a:spcBef>
                <a:spcPts val="0"/>
              </a:spcBef>
              <a:spcAft>
                <a:spcPts val="0"/>
              </a:spcAft>
            </a:pPr>
            <a:r>
              <a:rPr sz="1600" b="1" i="0">
                <a:solidFill>
                  <a:srgbClr val="231F20"/>
                </a:solidFill>
                <a:latin typeface="Calibri"/>
                <a:ea typeface="Calibri"/>
                <a:cs typeface="Calibri"/>
              </a:rPr>
              <a:t>Partner feed REPLAY-000000000 is a second delivery of C00001646.</a:t>
            </a:r>
          </a:p>
        </p:txBody>
      </p:sp>
      <p:sp>
        <p:nvSpPr>
          <p:cNvPr id="7" name="Rectangle 6"/>
          <p:cNvSpPr/>
          <p:nvPr/>
        </p:nvSpPr>
        <p:spPr>
          <a:xfrm>
            <a:off x="777240" y="2971800"/>
            <a:ext cx="635508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gion"/>
          <p:cNvSpPr txBox="1"/>
          <p:nvPr/>
        </p:nvSpPr>
        <p:spPr>
          <a:xfrm>
            <a:off x="868680" y="2971800"/>
            <a:ext cx="2103120" cy="438912"/>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Ref</a:t>
            </a:r>
          </a:p>
        </p:txBody>
      </p:sp>
      <p:sp>
        <p:nvSpPr>
          <p:cNvPr id="9" name="region"/>
          <p:cNvSpPr txBox="1"/>
          <p:nvPr/>
        </p:nvSpPr>
        <p:spPr>
          <a:xfrm>
            <a:off x="3017520" y="2971800"/>
            <a:ext cx="3931920" cy="438912"/>
          </a:xfrm>
          <a:prstGeom prst="rect">
            <a:avLst/>
          </a:prstGeom>
          <a:noFill/>
        </p:spPr>
        <p:txBody>
          <a:bodyPr wrap="square" lIns="18288" tIns="36576" rIns="18288" bIns="36576" anchor="ctr"/>
          <a:lstStyle/>
          <a:p>
            <a:pPr algn="l">
              <a:spcBef>
                <a:spcPts val="0"/>
              </a:spcBef>
              <a:spcAft>
                <a:spcPts val="0"/>
              </a:spcAft>
            </a:pPr>
            <a:r>
              <a:rPr sz="1400" b="0" i="0">
                <a:solidFill>
                  <a:srgbClr val="231F20"/>
                </a:solidFill>
                <a:latin typeface="Calibri"/>
                <a:ea typeface="Calibri"/>
                <a:cs typeface="Calibri"/>
              </a:rPr>
              <a:t>C00001646</a:t>
            </a:r>
          </a:p>
        </p:txBody>
      </p:sp>
      <p:sp>
        <p:nvSpPr>
          <p:cNvPr id="10" name="Rectangle 9"/>
          <p:cNvSpPr/>
          <p:nvPr/>
        </p:nvSpPr>
        <p:spPr>
          <a:xfrm>
            <a:off x="777240" y="3410712"/>
            <a:ext cx="6355080" cy="4389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gion"/>
          <p:cNvSpPr txBox="1"/>
          <p:nvPr/>
        </p:nvSpPr>
        <p:spPr>
          <a:xfrm>
            <a:off x="868680" y="3410712"/>
            <a:ext cx="2103120" cy="438912"/>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Feed ingest</a:t>
            </a:r>
          </a:p>
        </p:txBody>
      </p:sp>
      <p:sp>
        <p:nvSpPr>
          <p:cNvPr id="12" name="region"/>
          <p:cNvSpPr txBox="1"/>
          <p:nvPr/>
        </p:nvSpPr>
        <p:spPr>
          <a:xfrm>
            <a:off x="3017520" y="3410712"/>
            <a:ext cx="3931920" cy="438912"/>
          </a:xfrm>
          <a:prstGeom prst="rect">
            <a:avLst/>
          </a:prstGeom>
          <a:noFill/>
        </p:spPr>
        <p:txBody>
          <a:bodyPr wrap="square" lIns="18288" tIns="36576" rIns="18288" bIns="36576" anchor="ctr"/>
          <a:lstStyle/>
          <a:p>
            <a:pPr algn="l">
              <a:spcBef>
                <a:spcPts val="0"/>
              </a:spcBef>
              <a:spcAft>
                <a:spcPts val="0"/>
              </a:spcAft>
            </a:pPr>
            <a:r>
              <a:rPr sz="1400" b="0" i="0">
                <a:solidFill>
                  <a:srgbClr val="231F20"/>
                </a:solidFill>
                <a:latin typeface="Calibri"/>
                <a:ea typeface="Calibri"/>
                <a:cs typeface="Calibri"/>
              </a:rPr>
              <a:t>2022-04-25T19:09</a:t>
            </a:r>
          </a:p>
        </p:txBody>
      </p:sp>
      <p:sp>
        <p:nvSpPr>
          <p:cNvPr id="13" name="Rectangle 12"/>
          <p:cNvSpPr/>
          <p:nvPr/>
        </p:nvSpPr>
        <p:spPr>
          <a:xfrm>
            <a:off x="777240" y="3849624"/>
            <a:ext cx="635508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gion"/>
          <p:cNvSpPr txBox="1"/>
          <p:nvPr/>
        </p:nvSpPr>
        <p:spPr>
          <a:xfrm>
            <a:off x="868680" y="3849624"/>
            <a:ext cx="2103120" cy="438912"/>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Replay ingest</a:t>
            </a:r>
          </a:p>
        </p:txBody>
      </p:sp>
      <p:sp>
        <p:nvSpPr>
          <p:cNvPr id="15" name="region"/>
          <p:cNvSpPr txBox="1"/>
          <p:nvPr/>
        </p:nvSpPr>
        <p:spPr>
          <a:xfrm>
            <a:off x="3017520" y="3849624"/>
            <a:ext cx="3931920" cy="438912"/>
          </a:xfrm>
          <a:prstGeom prst="rect">
            <a:avLst/>
          </a:prstGeom>
          <a:noFill/>
        </p:spPr>
        <p:txBody>
          <a:bodyPr wrap="square" lIns="18288" tIns="36576" rIns="18288" bIns="36576" anchor="ctr"/>
          <a:lstStyle/>
          <a:p>
            <a:pPr algn="l">
              <a:spcBef>
                <a:spcPts val="0"/>
              </a:spcBef>
              <a:spcAft>
                <a:spcPts val="0"/>
              </a:spcAft>
            </a:pPr>
            <a:r>
              <a:rPr sz="1400" b="0" i="0">
                <a:solidFill>
                  <a:srgbClr val="231F20"/>
                </a:solidFill>
                <a:latin typeface="Calibri"/>
                <a:ea typeface="Calibri"/>
                <a:cs typeface="Calibri"/>
              </a:rPr>
              <a:t>2022-04-25T20:09</a:t>
            </a:r>
          </a:p>
        </p:txBody>
      </p:sp>
      <p:sp>
        <p:nvSpPr>
          <p:cNvPr id="16" name="Rectangle 15"/>
          <p:cNvSpPr/>
          <p:nvPr/>
        </p:nvSpPr>
        <p:spPr>
          <a:xfrm>
            <a:off x="777240" y="4288536"/>
            <a:ext cx="6355080" cy="4389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gion"/>
          <p:cNvSpPr txBox="1"/>
          <p:nvPr/>
        </p:nvSpPr>
        <p:spPr>
          <a:xfrm>
            <a:off x="868680" y="4288536"/>
            <a:ext cx="2103120" cy="438912"/>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This delivery</a:t>
            </a:r>
          </a:p>
        </p:txBody>
      </p:sp>
      <p:sp>
        <p:nvSpPr>
          <p:cNvPr id="18" name="region"/>
          <p:cNvSpPr txBox="1"/>
          <p:nvPr/>
        </p:nvSpPr>
        <p:spPr>
          <a:xfrm>
            <a:off x="3017520" y="4288536"/>
            <a:ext cx="3931920" cy="438912"/>
          </a:xfrm>
          <a:prstGeom prst="rect">
            <a:avLst/>
          </a:prstGeom>
          <a:noFill/>
        </p:spPr>
        <p:txBody>
          <a:bodyPr wrap="square" lIns="18288" tIns="36576" rIns="18288" bIns="36576" anchor="ctr"/>
          <a:lstStyle/>
          <a:p>
            <a:pPr algn="l">
              <a:spcBef>
                <a:spcPts val="0"/>
              </a:spcBef>
              <a:spcAft>
                <a:spcPts val="0"/>
              </a:spcAft>
            </a:pPr>
            <a:r>
              <a:rPr sz="1400" b="0" i="0">
                <a:solidFill>
                  <a:srgbClr val="231F20"/>
                </a:solidFill>
                <a:latin typeface="Calibri"/>
                <a:ea typeface="Calibri"/>
                <a:cs typeface="Calibri"/>
              </a:rPr>
              <a:t>not on the queue</a:t>
            </a:r>
          </a:p>
        </p:txBody>
      </p:sp>
      <p:sp>
        <p:nvSpPr>
          <p:cNvPr id="19" name="Rectangle 18"/>
          <p:cNvSpPr/>
          <p:nvPr/>
        </p:nvSpPr>
        <p:spPr>
          <a:xfrm>
            <a:off x="777240" y="4727448"/>
            <a:ext cx="635508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gion"/>
          <p:cNvSpPr txBox="1"/>
          <p:nvPr/>
        </p:nvSpPr>
        <p:spPr>
          <a:xfrm>
            <a:off x="868680" y="4727448"/>
            <a:ext cx="2103120" cy="438912"/>
          </a:xfrm>
          <a:prstGeom prst="rect">
            <a:avLst/>
          </a:prstGeom>
          <a:noFill/>
        </p:spPr>
        <p:txBody>
          <a:bodyPr wrap="square" lIns="18288" tIns="36576" rIns="18288" bIns="36576" anchor="ctr"/>
          <a:lstStyle/>
          <a:p>
            <a:pPr algn="l">
              <a:spcBef>
                <a:spcPts val="0"/>
              </a:spcBef>
              <a:spcAft>
                <a:spcPts val="0"/>
              </a:spcAft>
            </a:pPr>
            <a:r>
              <a:rPr sz="1400" b="1" i="0">
                <a:solidFill>
                  <a:srgbClr val="231F20"/>
                </a:solidFill>
                <a:latin typeface="Calibri"/>
                <a:ea typeface="Calibri"/>
                <a:cs typeface="Calibri"/>
              </a:rPr>
              <a:t>Packaged rows</a:t>
            </a:r>
          </a:p>
        </p:txBody>
      </p:sp>
      <p:sp>
        <p:nvSpPr>
          <p:cNvPr id="21" name="region"/>
          <p:cNvSpPr txBox="1"/>
          <p:nvPr/>
        </p:nvSpPr>
        <p:spPr>
          <a:xfrm>
            <a:off x="3017520" y="4727448"/>
            <a:ext cx="3931920" cy="438912"/>
          </a:xfrm>
          <a:prstGeom prst="rect">
            <a:avLst/>
          </a:prstGeom>
          <a:noFill/>
        </p:spPr>
        <p:txBody>
          <a:bodyPr wrap="square" lIns="18288" tIns="36576" rIns="18288" bIns="36576" anchor="ctr"/>
          <a:lstStyle/>
          <a:p>
            <a:pPr algn="l">
              <a:spcBef>
                <a:spcPts val="0"/>
              </a:spcBef>
              <a:spcAft>
                <a:spcPts val="0"/>
              </a:spcAft>
            </a:pPr>
            <a:r>
              <a:rPr sz="1400" b="0" i="0">
                <a:solidFill>
                  <a:srgbClr val="231F20"/>
                </a:solidFill>
                <a:latin typeface="Calibri"/>
                <a:ea typeface="Calibri"/>
                <a:cs typeface="Calibri"/>
              </a:rPr>
              <a:t>67</a:t>
            </a:r>
          </a:p>
        </p:txBody>
      </p:sp>
      <p:sp>
        <p:nvSpPr>
          <p:cNvPr id="22" name="caption"/>
          <p:cNvSpPr txBox="1"/>
          <p:nvPr/>
        </p:nvSpPr>
        <p:spPr>
          <a:xfrm>
            <a:off x="685800" y="5687568"/>
            <a:ext cx="4023360" cy="292608"/>
          </a:xfrm>
          <a:prstGeom prst="rect">
            <a:avLst/>
          </a:prstGeom>
          <a:noFill/>
        </p:spPr>
        <p:txBody>
          <a:bodyPr wrap="square" lIns="0" tIns="36576" rIns="0" bIns="36576" anchor="t"/>
          <a:lstStyle/>
          <a:p>
            <a:pPr algn="l">
              <a:spcBef>
                <a:spcPts val="0"/>
              </a:spcBef>
              <a:spcAft>
                <a:spcPts val="0"/>
              </a:spcAft>
            </a:pPr>
            <a:r>
              <a:rPr sz="1200" b="0" i="0">
                <a:solidFill>
                  <a:srgbClr val="666666"/>
                </a:solidFill>
                <a:latin typeface="Calibri"/>
                <a:ea typeface="Calibri"/>
                <a:cs typeface="Calibri"/>
              </a:rPr>
              <a:t>Structure of the console.</a:t>
            </a:r>
          </a:p>
        </p:txBody>
      </p:sp>
      <p:sp>
        <p:nvSpPr>
          <p:cNvPr id="23" name="seq"/>
          <p:cNvSpPr/>
          <p:nvPr/>
        </p:nvSpPr>
        <p:spPr>
          <a:xfrm>
            <a:off x="7680960" y="1691640"/>
            <a:ext cx="365760" cy="365760"/>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1</a:t>
            </a:r>
          </a:p>
        </p:txBody>
      </p:sp>
      <p:sp>
        <p:nvSpPr>
          <p:cNvPr id="24" name="callout:0"/>
          <p:cNvSpPr txBox="1"/>
          <p:nvPr/>
        </p:nvSpPr>
        <p:spPr>
          <a:xfrm>
            <a:off x="8183879" y="1673352"/>
            <a:ext cx="3566160" cy="822960"/>
          </a:xfrm>
          <a:prstGeom prst="rect">
            <a:avLst/>
          </a:prstGeom>
          <a:noFill/>
        </p:spPr>
        <p:txBody>
          <a:bodyPr wrap="square" lIns="0" tIns="36576" rIns="0" bIns="36576" anchor="t"/>
          <a:lstStyle/>
          <a:p>
            <a:pPr algn="l">
              <a:spcBef>
                <a:spcPts val="0"/>
              </a:spcBef>
              <a:spcAft>
                <a:spcPts val="0"/>
              </a:spcAft>
            </a:pPr>
            <a:r>
              <a:rPr sz="1400" b="1" i="0">
                <a:solidFill>
                  <a:srgbClr val="231F20"/>
                </a:solidFill>
                <a:latin typeface="Calibri"/>
                <a:ea typeface="Calibri"/>
                <a:cs typeface="Calibri"/>
              </a:rPr>
              <a:t>Feed id</a:t>
            </a:r>
          </a:p>
          <a:p>
            <a:pPr algn="l">
              <a:spcBef>
                <a:spcPts val="0"/>
              </a:spcBef>
              <a:spcAft>
                <a:spcPts val="0"/>
              </a:spcAft>
            </a:pPr>
            <a:r>
              <a:rPr sz="1400" b="0" i="0">
                <a:solidFill>
                  <a:srgbClr val="4B4B4B"/>
                </a:solidFill>
                <a:latin typeface="Calibri"/>
                <a:ea typeface="Calibri"/>
                <a:cs typeface="Calibri"/>
              </a:rPr>
              <a:t>REPLAY-000000000</a:t>
            </a:r>
          </a:p>
        </p:txBody>
      </p:sp>
      <p:sp>
        <p:nvSpPr>
          <p:cNvPr id="25" name="seq"/>
          <p:cNvSpPr/>
          <p:nvPr/>
        </p:nvSpPr>
        <p:spPr>
          <a:xfrm>
            <a:off x="7680960" y="3017520"/>
            <a:ext cx="365760" cy="365760"/>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2</a:t>
            </a:r>
          </a:p>
        </p:txBody>
      </p:sp>
      <p:sp>
        <p:nvSpPr>
          <p:cNvPr id="26" name="callout:1"/>
          <p:cNvSpPr txBox="1"/>
          <p:nvPr/>
        </p:nvSpPr>
        <p:spPr>
          <a:xfrm>
            <a:off x="8183879" y="2999232"/>
            <a:ext cx="3566160" cy="822960"/>
          </a:xfrm>
          <a:prstGeom prst="rect">
            <a:avLst/>
          </a:prstGeom>
          <a:noFill/>
        </p:spPr>
        <p:txBody>
          <a:bodyPr wrap="square" lIns="0" tIns="36576" rIns="0" bIns="36576" anchor="t"/>
          <a:lstStyle/>
          <a:p>
            <a:pPr algn="l">
              <a:spcBef>
                <a:spcPts val="0"/>
              </a:spcBef>
              <a:spcAft>
                <a:spcPts val="0"/>
              </a:spcAft>
            </a:pPr>
            <a:r>
              <a:rPr sz="1400" b="1" i="0">
                <a:solidFill>
                  <a:srgbClr val="231F20"/>
                </a:solidFill>
                <a:latin typeface="Calibri"/>
                <a:ea typeface="Calibri"/>
                <a:cs typeface="Calibri"/>
              </a:rPr>
              <a:t>Two times</a:t>
            </a:r>
          </a:p>
          <a:p>
            <a:pPr algn="l">
              <a:spcBef>
                <a:spcPts val="0"/>
              </a:spcBef>
              <a:spcAft>
                <a:spcPts val="0"/>
              </a:spcAft>
            </a:pPr>
            <a:r>
              <a:rPr sz="1400" b="0" i="0">
                <a:solidFill>
                  <a:srgbClr val="4B4B4B"/>
                </a:solidFill>
                <a:latin typeface="Calibri"/>
                <a:ea typeface="Calibri"/>
                <a:cs typeface="Calibri"/>
              </a:rPr>
              <a:t>19:09 and 20:09</a:t>
            </a:r>
          </a:p>
        </p:txBody>
      </p:sp>
      <p:sp>
        <p:nvSpPr>
          <p:cNvPr id="27" name="seq"/>
          <p:cNvSpPr/>
          <p:nvPr/>
        </p:nvSpPr>
        <p:spPr>
          <a:xfrm>
            <a:off x="7680960" y="4343400"/>
            <a:ext cx="365760" cy="365760"/>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3</a:t>
            </a:r>
          </a:p>
        </p:txBody>
      </p:sp>
      <p:sp>
        <p:nvSpPr>
          <p:cNvPr id="28" name="callout:2"/>
          <p:cNvSpPr txBox="1"/>
          <p:nvPr/>
        </p:nvSpPr>
        <p:spPr>
          <a:xfrm>
            <a:off x="8183879" y="4325112"/>
            <a:ext cx="3566160" cy="822960"/>
          </a:xfrm>
          <a:prstGeom prst="rect">
            <a:avLst/>
          </a:prstGeom>
          <a:noFill/>
        </p:spPr>
        <p:txBody>
          <a:bodyPr wrap="square" lIns="0" tIns="36576" rIns="0" bIns="36576" anchor="t"/>
          <a:lstStyle/>
          <a:p>
            <a:pPr algn="l">
              <a:spcBef>
                <a:spcPts val="0"/>
              </a:spcBef>
              <a:spcAft>
                <a:spcPts val="0"/>
              </a:spcAft>
            </a:pPr>
            <a:r>
              <a:rPr sz="1400" b="1" i="0">
                <a:solidFill>
                  <a:srgbClr val="231F20"/>
                </a:solidFill>
                <a:latin typeface="Calibri"/>
                <a:ea typeface="Calibri"/>
                <a:cs typeface="Calibri"/>
              </a:rPr>
              <a:t>Who drops</a:t>
            </a:r>
          </a:p>
          <a:p>
            <a:pPr algn="l">
              <a:spcBef>
                <a:spcPts val="0"/>
              </a:spcBef>
              <a:spcAft>
                <a:spcPts val="0"/>
              </a:spcAft>
            </a:pPr>
            <a:r>
              <a:rPr sz="1400" b="0" i="0">
                <a:solidFill>
                  <a:srgbClr val="4B4B4B"/>
                </a:solidFill>
                <a:latin typeface="Calibri"/>
                <a:ea typeface="Calibri"/>
                <a:cs typeface="Calibri"/>
              </a:rPr>
              <a:t>RT-05 only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7</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Success stays on the evidence row.</a:t>
            </a:r>
          </a:p>
        </p:txBody>
      </p:sp>
      <p:sp>
        <p:nvSpPr>
          <p:cNvPr id="5" name="Rounded Rectangle 4"/>
          <p:cNvSpPr/>
          <p:nvPr/>
        </p:nvSpPr>
        <p:spPr>
          <a:xfrm>
            <a:off x="502920" y="1463040"/>
            <a:ext cx="5509259" cy="3977639"/>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1627632"/>
            <a:ext cx="64008" cy="364845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rd:0"/>
          <p:cNvSpPr txBox="1"/>
          <p:nvPr/>
        </p:nvSpPr>
        <p:spPr>
          <a:xfrm>
            <a:off x="722376" y="1609344"/>
            <a:ext cx="5143499" cy="329184"/>
          </a:xfrm>
          <a:prstGeom prst="rect">
            <a:avLst/>
          </a:prstGeom>
          <a:noFill/>
        </p:spPr>
        <p:txBody>
          <a:bodyPr wrap="square" lIns="0" tIns="36576" rIns="0" bIns="36576" anchor="t"/>
          <a:lstStyle/>
          <a:p>
            <a:pPr algn="l">
              <a:spcBef>
                <a:spcPts val="0"/>
              </a:spcBef>
              <a:spcAft>
                <a:spcPts val="0"/>
              </a:spcAft>
            </a:pPr>
            <a:r>
              <a:rPr sz="1400" b="1" i="0">
                <a:solidFill>
                  <a:srgbClr val="666666"/>
                </a:solidFill>
                <a:latin typeface="Calibri"/>
                <a:ea typeface="Calibri"/>
                <a:cs typeface="Calibri"/>
              </a:rPr>
              <a:t>Before</a:t>
            </a:r>
          </a:p>
        </p:txBody>
      </p:sp>
      <p:sp>
        <p:nvSpPr>
          <p:cNvPr id="8" name="Rectangle 7"/>
          <p:cNvSpPr/>
          <p:nvPr/>
        </p:nvSpPr>
        <p:spPr>
          <a:xfrm>
            <a:off x="722376" y="2029968"/>
            <a:ext cx="5070348" cy="566928"/>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ard:0"/>
          <p:cNvSpPr txBox="1"/>
          <p:nvPr/>
        </p:nvSpPr>
        <p:spPr>
          <a:xfrm>
            <a:off x="850392" y="2029968"/>
            <a:ext cx="2433767" cy="566928"/>
          </a:xfrm>
          <a:prstGeom prst="rect">
            <a:avLst/>
          </a:prstGeom>
          <a:noFill/>
        </p:spPr>
        <p:txBody>
          <a:bodyPr wrap="square" lIns="36576" tIns="36576" rIns="36576" bIns="36576" anchor="ctr"/>
          <a:lstStyle/>
          <a:p>
            <a:pPr algn="l">
              <a:spcBef>
                <a:spcPts val="0"/>
              </a:spcBef>
              <a:spcAft>
                <a:spcPts val="0"/>
              </a:spcAft>
            </a:pPr>
            <a:r>
              <a:rPr sz="1400" b="1" i="0">
                <a:solidFill>
                  <a:srgbClr val="231F20"/>
                </a:solidFill>
                <a:latin typeface="Calibri"/>
                <a:ea typeface="Calibri"/>
                <a:cs typeface="Calibri"/>
              </a:rPr>
              <a:t>This delivery</a:t>
            </a:r>
          </a:p>
        </p:txBody>
      </p:sp>
      <p:sp>
        <p:nvSpPr>
          <p:cNvPr id="10" name="card:0"/>
          <p:cNvSpPr txBox="1"/>
          <p:nvPr/>
        </p:nvSpPr>
        <p:spPr>
          <a:xfrm>
            <a:off x="3284159" y="2029968"/>
            <a:ext cx="2433767" cy="566928"/>
          </a:xfrm>
          <a:prstGeom prst="rect">
            <a:avLst/>
          </a:prstGeom>
          <a:noFill/>
        </p:spPr>
        <p:txBody>
          <a:bodyPr wrap="square" lIns="36576" tIns="36576" rIns="36576" bIns="36576" anchor="ctr"/>
          <a:lstStyle/>
          <a:p>
            <a:pPr algn="l">
              <a:spcBef>
                <a:spcPts val="0"/>
              </a:spcBef>
              <a:spcAft>
                <a:spcPts val="0"/>
              </a:spcAft>
            </a:pPr>
            <a:r>
              <a:rPr sz="1400" b="0" i="0">
                <a:solidFill>
                  <a:srgbClr val="231F20"/>
                </a:solidFill>
                <a:latin typeface="Calibri"/>
                <a:ea typeface="Calibri"/>
                <a:cs typeface="Calibri"/>
              </a:rPr>
              <a:t>not on the queue</a:t>
            </a:r>
          </a:p>
        </p:txBody>
      </p:sp>
      <p:sp>
        <p:nvSpPr>
          <p:cNvPr id="11" name="Rectangle 10"/>
          <p:cNvSpPr/>
          <p:nvPr/>
        </p:nvSpPr>
        <p:spPr>
          <a:xfrm>
            <a:off x="722376" y="2670048"/>
            <a:ext cx="5070348" cy="566928"/>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ard:0"/>
          <p:cNvSpPr txBox="1"/>
          <p:nvPr/>
        </p:nvSpPr>
        <p:spPr>
          <a:xfrm>
            <a:off x="850392" y="2670048"/>
            <a:ext cx="2433767" cy="566928"/>
          </a:xfrm>
          <a:prstGeom prst="rect">
            <a:avLst/>
          </a:prstGeom>
          <a:noFill/>
        </p:spPr>
        <p:txBody>
          <a:bodyPr wrap="square" lIns="36576" tIns="36576" rIns="36576" bIns="36576" anchor="ctr"/>
          <a:lstStyle/>
          <a:p>
            <a:pPr algn="l">
              <a:spcBef>
                <a:spcPts val="0"/>
              </a:spcBef>
              <a:spcAft>
                <a:spcPts val="0"/>
              </a:spcAft>
            </a:pPr>
            <a:r>
              <a:rPr sz="1400" b="1" i="0">
                <a:solidFill>
                  <a:srgbClr val="231F20"/>
                </a:solidFill>
                <a:latin typeface="Calibri"/>
                <a:ea typeface="Calibri"/>
                <a:cs typeface="Calibri"/>
              </a:rPr>
              <a:t>Work-queue count</a:t>
            </a:r>
          </a:p>
        </p:txBody>
      </p:sp>
      <p:sp>
        <p:nvSpPr>
          <p:cNvPr id="13" name="card:0"/>
          <p:cNvSpPr txBox="1"/>
          <p:nvPr/>
        </p:nvSpPr>
        <p:spPr>
          <a:xfrm>
            <a:off x="3284159" y="2670048"/>
            <a:ext cx="2433767" cy="566928"/>
          </a:xfrm>
          <a:prstGeom prst="rect">
            <a:avLst/>
          </a:prstGeom>
          <a:noFill/>
        </p:spPr>
        <p:txBody>
          <a:bodyPr wrap="square" lIns="36576" tIns="36576" rIns="36576" bIns="36576" anchor="ctr"/>
          <a:lstStyle/>
          <a:p>
            <a:pPr algn="l">
              <a:spcBef>
                <a:spcPts val="0"/>
              </a:spcBef>
              <a:spcAft>
                <a:spcPts val="0"/>
              </a:spcAft>
            </a:pPr>
            <a:r>
              <a:rPr sz="1400" b="0" i="0">
                <a:solidFill>
                  <a:srgbClr val="231F20"/>
                </a:solidFill>
                <a:latin typeface="Calibri"/>
                <a:ea typeface="Calibri"/>
                <a:cs typeface="Calibri"/>
              </a:rPr>
              <a:t>196</a:t>
            </a:r>
          </a:p>
        </p:txBody>
      </p:sp>
      <p:sp>
        <p:nvSpPr>
          <p:cNvPr id="14" name="Rectangle 13"/>
          <p:cNvSpPr/>
          <p:nvPr/>
        </p:nvSpPr>
        <p:spPr>
          <a:xfrm>
            <a:off x="722376" y="3310128"/>
            <a:ext cx="5070348" cy="566928"/>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ard:0"/>
          <p:cNvSpPr txBox="1"/>
          <p:nvPr/>
        </p:nvSpPr>
        <p:spPr>
          <a:xfrm>
            <a:off x="850392" y="3310128"/>
            <a:ext cx="2433767" cy="566928"/>
          </a:xfrm>
          <a:prstGeom prst="rect">
            <a:avLst/>
          </a:prstGeom>
          <a:noFill/>
        </p:spPr>
        <p:txBody>
          <a:bodyPr wrap="square" lIns="36576" tIns="36576" rIns="36576" bIns="36576" anchor="ctr"/>
          <a:lstStyle/>
          <a:p>
            <a:pPr algn="l">
              <a:spcBef>
                <a:spcPts val="0"/>
              </a:spcBef>
              <a:spcAft>
                <a:spcPts val="0"/>
              </a:spcAft>
            </a:pPr>
            <a:r>
              <a:rPr sz="1400" b="1" i="0">
                <a:solidFill>
                  <a:srgbClr val="231F20"/>
                </a:solidFill>
                <a:latin typeface="Calibri"/>
                <a:ea typeface="Calibri"/>
                <a:cs typeface="Calibri"/>
              </a:rPr>
              <a:t>Packaged rows</a:t>
            </a:r>
          </a:p>
        </p:txBody>
      </p:sp>
      <p:sp>
        <p:nvSpPr>
          <p:cNvPr id="16" name="card:0"/>
          <p:cNvSpPr txBox="1"/>
          <p:nvPr/>
        </p:nvSpPr>
        <p:spPr>
          <a:xfrm>
            <a:off x="3284159" y="3310128"/>
            <a:ext cx="2433767" cy="566928"/>
          </a:xfrm>
          <a:prstGeom prst="rect">
            <a:avLst/>
          </a:prstGeom>
          <a:noFill/>
        </p:spPr>
        <p:txBody>
          <a:bodyPr wrap="square" lIns="36576" tIns="36576" rIns="36576" bIns="36576" anchor="ctr"/>
          <a:lstStyle/>
          <a:p>
            <a:pPr algn="l">
              <a:spcBef>
                <a:spcPts val="0"/>
              </a:spcBef>
              <a:spcAft>
                <a:spcPts val="0"/>
              </a:spcAft>
            </a:pPr>
            <a:r>
              <a:rPr sz="1400" b="0" i="0">
                <a:solidFill>
                  <a:srgbClr val="231F20"/>
                </a:solidFill>
                <a:latin typeface="Calibri"/>
                <a:ea typeface="Calibri"/>
                <a:cs typeface="Calibri"/>
              </a:rPr>
              <a:t>67</a:t>
            </a:r>
          </a:p>
        </p:txBody>
      </p:sp>
      <p:sp>
        <p:nvSpPr>
          <p:cNvPr id="17" name="afterline:0"/>
          <p:cNvSpPr txBox="1"/>
          <p:nvPr/>
        </p:nvSpPr>
        <p:spPr>
          <a:xfrm>
            <a:off x="685800" y="5559552"/>
            <a:ext cx="5234940" cy="777240"/>
          </a:xfrm>
          <a:prstGeom prst="rect">
            <a:avLst/>
          </a:prstGeom>
          <a:noFill/>
        </p:spPr>
        <p:txBody>
          <a:bodyPr wrap="square" lIns="0" tIns="36576" rIns="0" bIns="36576" anchor="t"/>
          <a:lstStyle/>
          <a:p>
            <a:pPr algn="l">
              <a:spcBef>
                <a:spcPts val="0"/>
              </a:spcBef>
              <a:spcAft>
                <a:spcPts val="0"/>
              </a:spcAft>
            </a:pPr>
            <a:r>
              <a:rPr sz="1400" b="0" i="0">
                <a:solidFill>
                  <a:srgbClr val="231F20"/>
                </a:solidFill>
                <a:latin typeface="Calibri"/>
                <a:ea typeface="Calibri"/>
                <a:cs typeface="Calibri"/>
              </a:rPr>
              <a:t>Ready.</a:t>
            </a:r>
          </a:p>
        </p:txBody>
      </p:sp>
      <p:sp>
        <p:nvSpPr>
          <p:cNvPr id="18" name="Rounded Rectangle 17"/>
          <p:cNvSpPr/>
          <p:nvPr/>
        </p:nvSpPr>
        <p:spPr>
          <a:xfrm>
            <a:off x="6176771" y="1463040"/>
            <a:ext cx="5509259" cy="3977639"/>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95059" y="1627632"/>
            <a:ext cx="64008" cy="3648456"/>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ard:1"/>
          <p:cNvSpPr txBox="1"/>
          <p:nvPr/>
        </p:nvSpPr>
        <p:spPr>
          <a:xfrm>
            <a:off x="6396227" y="1609344"/>
            <a:ext cx="5143499" cy="329184"/>
          </a:xfrm>
          <a:prstGeom prst="rect">
            <a:avLst/>
          </a:prstGeom>
          <a:noFill/>
        </p:spPr>
        <p:txBody>
          <a:bodyPr wrap="square" lIns="0" tIns="36576" rIns="0" bIns="36576" anchor="t"/>
          <a:lstStyle/>
          <a:p>
            <a:pPr algn="l">
              <a:spcBef>
                <a:spcPts val="0"/>
              </a:spcBef>
              <a:spcAft>
                <a:spcPts val="0"/>
              </a:spcAft>
            </a:pPr>
            <a:r>
              <a:rPr sz="1400" b="1" i="0">
                <a:solidFill>
                  <a:srgbClr val="666666"/>
                </a:solidFill>
                <a:latin typeface="Calibri"/>
                <a:ea typeface="Calibri"/>
                <a:cs typeface="Calibri"/>
              </a:rPr>
              <a:t>After</a:t>
            </a:r>
          </a:p>
        </p:txBody>
      </p:sp>
      <p:sp>
        <p:nvSpPr>
          <p:cNvPr id="21" name="Rectangle 20"/>
          <p:cNvSpPr/>
          <p:nvPr/>
        </p:nvSpPr>
        <p:spPr>
          <a:xfrm>
            <a:off x="6396227" y="2029968"/>
            <a:ext cx="5070348" cy="566928"/>
          </a:xfrm>
          <a:prstGeom prst="rect">
            <a:avLst/>
          </a:prstGeom>
          <a:solidFill>
            <a:srgbClr val="FCF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96227" y="2029968"/>
            <a:ext cx="73152" cy="566928"/>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ard:1"/>
          <p:cNvSpPr txBox="1"/>
          <p:nvPr/>
        </p:nvSpPr>
        <p:spPr>
          <a:xfrm>
            <a:off x="6524243" y="2029968"/>
            <a:ext cx="2433767" cy="566928"/>
          </a:xfrm>
          <a:prstGeom prst="rect">
            <a:avLst/>
          </a:prstGeom>
          <a:noFill/>
        </p:spPr>
        <p:txBody>
          <a:bodyPr wrap="square" lIns="36576" tIns="36576" rIns="36576" bIns="36576" anchor="ctr"/>
          <a:lstStyle/>
          <a:p>
            <a:pPr algn="l">
              <a:spcBef>
                <a:spcPts val="0"/>
              </a:spcBef>
              <a:spcAft>
                <a:spcPts val="0"/>
              </a:spcAft>
            </a:pPr>
            <a:r>
              <a:rPr sz="1400" b="1" i="0">
                <a:solidFill>
                  <a:srgbClr val="231F20"/>
                </a:solidFill>
                <a:latin typeface="Calibri"/>
                <a:ea typeface="Calibri"/>
                <a:cs typeface="Calibri"/>
              </a:rPr>
              <a:t>This delivery</a:t>
            </a:r>
          </a:p>
        </p:txBody>
      </p:sp>
      <p:sp>
        <p:nvSpPr>
          <p:cNvPr id="24" name="card:1"/>
          <p:cNvSpPr txBox="1"/>
          <p:nvPr/>
        </p:nvSpPr>
        <p:spPr>
          <a:xfrm>
            <a:off x="8958011" y="2029968"/>
            <a:ext cx="2433767" cy="566928"/>
          </a:xfrm>
          <a:prstGeom prst="rect">
            <a:avLst/>
          </a:prstGeom>
          <a:noFill/>
        </p:spPr>
        <p:txBody>
          <a:bodyPr wrap="square" lIns="36576" tIns="36576" rIns="36576" bIns="36576" anchor="ctr"/>
          <a:lstStyle/>
          <a:p>
            <a:pPr algn="l">
              <a:spcBef>
                <a:spcPts val="0"/>
              </a:spcBef>
              <a:spcAft>
                <a:spcPts val="0"/>
              </a:spcAft>
            </a:pPr>
            <a:r>
              <a:rPr sz="1400" b="0" i="0">
                <a:solidFill>
                  <a:srgbClr val="231F20"/>
                </a:solidFill>
                <a:latin typeface="Calibri"/>
                <a:ea typeface="Calibri"/>
                <a:cs typeface="Calibri"/>
              </a:rPr>
              <a:t>on the work queue</a:t>
            </a:r>
          </a:p>
        </p:txBody>
      </p:sp>
      <p:sp>
        <p:nvSpPr>
          <p:cNvPr id="25" name="Rectangle 24"/>
          <p:cNvSpPr/>
          <p:nvPr/>
        </p:nvSpPr>
        <p:spPr>
          <a:xfrm>
            <a:off x="6396227" y="2670048"/>
            <a:ext cx="5070348" cy="566928"/>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ard:1"/>
          <p:cNvSpPr txBox="1"/>
          <p:nvPr/>
        </p:nvSpPr>
        <p:spPr>
          <a:xfrm>
            <a:off x="6524243" y="2670048"/>
            <a:ext cx="2433767" cy="566928"/>
          </a:xfrm>
          <a:prstGeom prst="rect">
            <a:avLst/>
          </a:prstGeom>
          <a:noFill/>
        </p:spPr>
        <p:txBody>
          <a:bodyPr wrap="square" lIns="36576" tIns="36576" rIns="36576" bIns="36576" anchor="ctr"/>
          <a:lstStyle/>
          <a:p>
            <a:pPr algn="l">
              <a:spcBef>
                <a:spcPts val="0"/>
              </a:spcBef>
              <a:spcAft>
                <a:spcPts val="0"/>
              </a:spcAft>
            </a:pPr>
            <a:r>
              <a:rPr sz="1400" b="1" i="0">
                <a:solidFill>
                  <a:srgbClr val="231F20"/>
                </a:solidFill>
                <a:latin typeface="Calibri"/>
                <a:ea typeface="Calibri"/>
                <a:cs typeface="Calibri"/>
              </a:rPr>
              <a:t>Work-queue count</a:t>
            </a:r>
          </a:p>
        </p:txBody>
      </p:sp>
      <p:sp>
        <p:nvSpPr>
          <p:cNvPr id="27" name="card:1"/>
          <p:cNvSpPr txBox="1"/>
          <p:nvPr/>
        </p:nvSpPr>
        <p:spPr>
          <a:xfrm>
            <a:off x="8958011" y="2670048"/>
            <a:ext cx="2433767" cy="566928"/>
          </a:xfrm>
          <a:prstGeom prst="rect">
            <a:avLst/>
          </a:prstGeom>
          <a:noFill/>
        </p:spPr>
        <p:txBody>
          <a:bodyPr wrap="square" lIns="36576" tIns="36576" rIns="36576" bIns="36576" anchor="ctr"/>
          <a:lstStyle/>
          <a:p>
            <a:pPr algn="l">
              <a:spcBef>
                <a:spcPts val="0"/>
              </a:spcBef>
              <a:spcAft>
                <a:spcPts val="0"/>
              </a:spcAft>
            </a:pPr>
            <a:r>
              <a:rPr sz="1400" b="0" i="0">
                <a:solidFill>
                  <a:srgbClr val="231F20"/>
                </a:solidFill>
                <a:latin typeface="Calibri"/>
                <a:ea typeface="Calibri"/>
                <a:cs typeface="Calibri"/>
              </a:rPr>
              <a:t>197</a:t>
            </a:r>
          </a:p>
        </p:txBody>
      </p:sp>
      <p:sp>
        <p:nvSpPr>
          <p:cNvPr id="28" name="Rectangle 27"/>
          <p:cNvSpPr/>
          <p:nvPr/>
        </p:nvSpPr>
        <p:spPr>
          <a:xfrm>
            <a:off x="6396227" y="3310128"/>
            <a:ext cx="5070348" cy="566928"/>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ard:1"/>
          <p:cNvSpPr txBox="1"/>
          <p:nvPr/>
        </p:nvSpPr>
        <p:spPr>
          <a:xfrm>
            <a:off x="6524243" y="3310128"/>
            <a:ext cx="2433767" cy="566928"/>
          </a:xfrm>
          <a:prstGeom prst="rect">
            <a:avLst/>
          </a:prstGeom>
          <a:noFill/>
        </p:spPr>
        <p:txBody>
          <a:bodyPr wrap="square" lIns="36576" tIns="36576" rIns="36576" bIns="36576" anchor="ctr"/>
          <a:lstStyle/>
          <a:p>
            <a:pPr algn="l">
              <a:spcBef>
                <a:spcPts val="0"/>
              </a:spcBef>
              <a:spcAft>
                <a:spcPts val="0"/>
              </a:spcAft>
            </a:pPr>
            <a:r>
              <a:rPr sz="1400" b="1" i="0">
                <a:solidFill>
                  <a:srgbClr val="231F20"/>
                </a:solidFill>
                <a:latin typeface="Calibri"/>
                <a:ea typeface="Calibri"/>
                <a:cs typeface="Calibri"/>
              </a:rPr>
              <a:t>Packaged rows</a:t>
            </a:r>
          </a:p>
        </p:txBody>
      </p:sp>
      <p:sp>
        <p:nvSpPr>
          <p:cNvPr id="30" name="card:1"/>
          <p:cNvSpPr txBox="1"/>
          <p:nvPr/>
        </p:nvSpPr>
        <p:spPr>
          <a:xfrm>
            <a:off x="8958011" y="3310128"/>
            <a:ext cx="2433767" cy="566928"/>
          </a:xfrm>
          <a:prstGeom prst="rect">
            <a:avLst/>
          </a:prstGeom>
          <a:noFill/>
        </p:spPr>
        <p:txBody>
          <a:bodyPr wrap="square" lIns="36576" tIns="36576" rIns="36576" bIns="36576" anchor="ctr"/>
          <a:lstStyle/>
          <a:p>
            <a:pPr algn="l">
              <a:spcBef>
                <a:spcPts val="0"/>
              </a:spcBef>
              <a:spcAft>
                <a:spcPts val="0"/>
              </a:spcAft>
            </a:pPr>
            <a:r>
              <a:rPr sz="1400" b="0" i="0">
                <a:solidFill>
                  <a:srgbClr val="231F20"/>
                </a:solidFill>
                <a:latin typeface="Calibri"/>
                <a:ea typeface="Calibri"/>
                <a:cs typeface="Calibri"/>
              </a:rPr>
              <a:t>67</a:t>
            </a:r>
          </a:p>
        </p:txBody>
      </p:sp>
      <p:sp>
        <p:nvSpPr>
          <p:cNvPr id="31" name="afterline:1"/>
          <p:cNvSpPr txBox="1"/>
          <p:nvPr/>
        </p:nvSpPr>
        <p:spPr>
          <a:xfrm>
            <a:off x="6359651" y="5559552"/>
            <a:ext cx="5234940" cy="777240"/>
          </a:xfrm>
          <a:prstGeom prst="rect">
            <a:avLst/>
          </a:prstGeom>
          <a:noFill/>
        </p:spPr>
        <p:txBody>
          <a:bodyPr wrap="square" lIns="0" tIns="36576" rIns="0" bIns="36576" anchor="t"/>
          <a:lstStyle/>
          <a:p>
            <a:pPr algn="l">
              <a:spcBef>
                <a:spcPts val="0"/>
              </a:spcBef>
              <a:spcAft>
                <a:spcPts val="0"/>
              </a:spcAft>
            </a:pPr>
            <a:r>
              <a:rPr sz="1400" b="0" i="0">
                <a:solidFill>
                  <a:srgbClr val="231F20"/>
                </a:solidFill>
                <a:latin typeface="Calibri"/>
                <a:ea typeface="Calibri"/>
                <a:cs typeface="Calibri"/>
              </a:rPr>
              <a:t>Work-queue count is 197. Packaged replay count is 67.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8</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The role is named before the click.</a:t>
            </a:r>
          </a:p>
        </p:txBody>
      </p:sp>
      <p:sp>
        <p:nvSpPr>
          <p:cNvPr id="5" name="Rounded Rectangle 4"/>
          <p:cNvSpPr/>
          <p:nvPr/>
        </p:nvSpPr>
        <p:spPr>
          <a:xfrm>
            <a:off x="502920" y="1554480"/>
            <a:ext cx="5509259" cy="41605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1719072"/>
            <a:ext cx="64008" cy="3831335"/>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76771" y="1554480"/>
            <a:ext cx="5509259" cy="41605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5059" y="1719072"/>
            <a:ext cx="64008" cy="3831335"/>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ard:left"/>
          <p:cNvSpPr txBox="1"/>
          <p:nvPr/>
        </p:nvSpPr>
        <p:spPr>
          <a:xfrm>
            <a:off x="722376" y="1874519"/>
            <a:ext cx="5125212" cy="3474720"/>
          </a:xfrm>
          <a:prstGeom prst="rect">
            <a:avLst/>
          </a:prstGeom>
          <a:noFill/>
        </p:spPr>
        <p:txBody>
          <a:bodyPr wrap="square" lIns="54864" tIns="36576" rIns="54864" bIns="36576" anchor="ctr"/>
          <a:lstStyle/>
          <a:p>
            <a:pPr algn="l">
              <a:spcBef>
                <a:spcPts val="0"/>
              </a:spcBef>
              <a:spcAft>
                <a:spcPts val="0"/>
              </a:spcAft>
            </a:pPr>
            <a:r>
              <a:rPr sz="1500" b="1" i="0">
                <a:solidFill>
                  <a:srgbClr val="231F20"/>
                </a:solidFill>
                <a:latin typeface="Calibri"/>
                <a:ea typeface="Calibri"/>
                <a:cs typeface="Calibri"/>
              </a:rPr>
              <a:t>Before the click</a:t>
            </a:r>
          </a:p>
          <a:p>
            <a:pPr algn="l">
              <a:spcBef>
                <a:spcPts val="0"/>
              </a:spcBef>
              <a:spcAft>
                <a:spcPts val="0"/>
              </a:spcAft>
            </a:pPr>
            <a:r>
              <a:rPr sz="1600" b="0" i="0">
                <a:solidFill>
                  <a:srgbClr val="4B4B4B"/>
                </a:solidFill>
                <a:latin typeface="Calibri"/>
                <a:ea typeface="Calibri"/>
                <a:cs typeface="Calibri"/>
              </a:rPr>
              <a:t>Drop is recorded only by RT-05 Operations Analyst.</a:t>
            </a:r>
          </a:p>
        </p:txBody>
      </p:sp>
      <p:sp>
        <p:nvSpPr>
          <p:cNvPr id="10" name="card:right"/>
          <p:cNvSpPr txBox="1"/>
          <p:nvPr/>
        </p:nvSpPr>
        <p:spPr>
          <a:xfrm>
            <a:off x="6396227" y="1874519"/>
            <a:ext cx="5125212" cy="3474720"/>
          </a:xfrm>
          <a:prstGeom prst="rect">
            <a:avLst/>
          </a:prstGeom>
          <a:noFill/>
        </p:spPr>
        <p:txBody>
          <a:bodyPr wrap="square" lIns="54864" tIns="36576" rIns="54864" bIns="36576" anchor="ctr"/>
          <a:lstStyle/>
          <a:p>
            <a:pPr algn="l">
              <a:spcBef>
                <a:spcPts val="0"/>
              </a:spcBef>
              <a:spcAft>
                <a:spcPts val="0"/>
              </a:spcAft>
            </a:pPr>
            <a:r>
              <a:rPr sz="1500" b="1" i="0">
                <a:solidFill>
                  <a:srgbClr val="231F20"/>
                </a:solidFill>
                <a:latin typeface="Calibri"/>
                <a:ea typeface="Calibri"/>
                <a:cs typeface="Calibri"/>
              </a:rPr>
              <a:t>After the click</a:t>
            </a:r>
          </a:p>
          <a:p>
            <a:pPr algn="l">
              <a:spcBef>
                <a:spcPts val="0"/>
              </a:spcBef>
              <a:spcAft>
                <a:spcPts val="0"/>
              </a:spcAft>
            </a:pPr>
            <a:r>
              <a:rPr sz="1600" b="0" i="0">
                <a:solidFill>
                  <a:srgbClr val="231F20"/>
                </a:solidFill>
                <a:latin typeface="Calibri"/>
                <a:ea typeface="Calibri"/>
                <a:cs typeface="Calibri"/>
              </a:rPr>
              <a:t>Refused. Confirm drop waits for RT-05. The current role is RT-01.</a:t>
            </a:r>
          </a:p>
          <a:p>
            <a:pPr algn="l">
              <a:spcBef>
                <a:spcPts val="0"/>
              </a:spcBef>
              <a:spcAft>
                <a:spcPts val="0"/>
              </a:spcAft>
            </a:pPr>
            <a:r>
              <a:rPr sz="1600" b="0" i="0">
                <a:solidFill>
                  <a:srgbClr val="4B4B4B"/>
                </a:solidFill>
                <a:latin typeface="Calibri"/>
                <a:ea typeface="Calibri"/>
                <a:cs typeface="Calibri"/>
              </a:rPr>
              <a:t>RT-05 dropped the duplicate.</a:t>
            </a:r>
          </a:p>
        </p:txBody>
      </p:sp>
      <p:sp>
        <p:nvSpPr>
          <p:cNvPr id="11" name="duty"/>
          <p:cNvSpPr txBox="1"/>
          <p:nvPr/>
        </p:nvSpPr>
        <p:spPr>
          <a:xfrm>
            <a:off x="502920" y="5870448"/>
            <a:ext cx="11155680" cy="365760"/>
          </a:xfrm>
          <a:prstGeom prst="rect">
            <a:avLst/>
          </a:prstGeom>
          <a:noFill/>
        </p:spPr>
        <p:txBody>
          <a:bodyPr wrap="square" lIns="0" tIns="36576" rIns="0" bIns="36576" anchor="t"/>
          <a:lstStyle/>
          <a:p>
            <a:pPr algn="l">
              <a:spcBef>
                <a:spcPts val="0"/>
              </a:spcBef>
              <a:spcAft>
                <a:spcPts val="0"/>
              </a:spcAft>
            </a:pPr>
            <a:r>
              <a:rPr sz="1400" b="0" i="0">
                <a:solidFill>
                  <a:srgbClr val="666666"/>
                </a:solidFill>
                <a:latin typeface="Calibri"/>
                <a:ea typeface="Calibri"/>
                <a:cs typeface="Calibri"/>
              </a:rPr>
              <a:t>One person reviews. Another person drops.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1" name="Connector 10"/>
          <p:cNvCxnSpPr/>
          <p:nvPr/>
        </p:nvCxnSpPr>
        <p:spPr>
          <a:xfrm>
            <a:off x="502920" y="2423160"/>
            <a:ext cx="1554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57400" y="2423160"/>
            <a:ext cx="2148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206240" y="2423160"/>
            <a:ext cx="32461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452359" y="2423160"/>
            <a:ext cx="233172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784080" y="2423160"/>
            <a:ext cx="1901952"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2920" y="3044952"/>
            <a:ext cx="1554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057400" y="3044952"/>
            <a:ext cx="2148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206240" y="3044952"/>
            <a:ext cx="32461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52359" y="3044952"/>
            <a:ext cx="233172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784080" y="3044952"/>
            <a:ext cx="1901952"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02920" y="3666744"/>
            <a:ext cx="1554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057400" y="3666744"/>
            <a:ext cx="2148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206240" y="3666744"/>
            <a:ext cx="32461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452359" y="3666744"/>
            <a:ext cx="233172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784080" y="3666744"/>
            <a:ext cx="1901952"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02920" y="4288536"/>
            <a:ext cx="1554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057400" y="4288536"/>
            <a:ext cx="2148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206240" y="4288536"/>
            <a:ext cx="32461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452359" y="4288536"/>
            <a:ext cx="233172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784080" y="4288536"/>
            <a:ext cx="1901952"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2920" y="4910328"/>
            <a:ext cx="1554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057400" y="4910328"/>
            <a:ext cx="2148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206240" y="4910328"/>
            <a:ext cx="32461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452359" y="4910328"/>
            <a:ext cx="233172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784080" y="4910328"/>
            <a:ext cx="1901952"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02920" y="5532120"/>
            <a:ext cx="1554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2057400" y="5532120"/>
            <a:ext cx="2148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206240" y="5532120"/>
            <a:ext cx="32461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452359" y="5532120"/>
            <a:ext cx="233172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784080" y="5532120"/>
            <a:ext cx="1901952"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02920" y="6153912"/>
            <a:ext cx="15544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2057400" y="6153912"/>
            <a:ext cx="2148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206240" y="6153912"/>
            <a:ext cx="32461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452359" y="6153912"/>
            <a:ext cx="2331721"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784080" y="6153912"/>
            <a:ext cx="1901952"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9</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Every work area is the same kind of page.</a:t>
            </a:r>
          </a:p>
        </p:txBody>
      </p:sp>
      <p:sp>
        <p:nvSpPr>
          <p:cNvPr id="5" name="table"/>
          <p:cNvSpPr/>
          <p:nvPr/>
        </p:nvSpPr>
        <p:spPr>
          <a:xfrm>
            <a:off x="502920" y="1417320"/>
            <a:ext cx="155448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Work area</a:t>
            </a:r>
          </a:p>
        </p:txBody>
      </p:sp>
      <p:sp>
        <p:nvSpPr>
          <p:cNvPr id="6" name="table"/>
          <p:cNvSpPr/>
          <p:nvPr/>
        </p:nvSpPr>
        <p:spPr>
          <a:xfrm>
            <a:off x="2057400" y="1417320"/>
            <a:ext cx="214884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What you read</a:t>
            </a:r>
          </a:p>
        </p:txBody>
      </p:sp>
      <p:sp>
        <p:nvSpPr>
          <p:cNvPr id="7" name="table"/>
          <p:cNvSpPr/>
          <p:nvPr/>
        </p:nvSpPr>
        <p:spPr>
          <a:xfrm>
            <a:off x="4206240" y="1417320"/>
            <a:ext cx="324612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Primary action</a:t>
            </a:r>
          </a:p>
        </p:txBody>
      </p:sp>
      <p:sp>
        <p:nvSpPr>
          <p:cNvPr id="8" name="table"/>
          <p:cNvSpPr/>
          <p:nvPr/>
        </p:nvSpPr>
        <p:spPr>
          <a:xfrm>
            <a:off x="7452359" y="1417320"/>
            <a:ext cx="233172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Who may decide</a:t>
            </a:r>
          </a:p>
        </p:txBody>
      </p:sp>
      <p:sp>
        <p:nvSpPr>
          <p:cNvPr id="9" name="table"/>
          <p:cNvSpPr/>
          <p:nvPr/>
        </p:nvSpPr>
        <p:spPr>
          <a:xfrm>
            <a:off x="9784080" y="1417320"/>
            <a:ext cx="1901952"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What changes</a:t>
            </a:r>
          </a:p>
        </p:txBody>
      </p:sp>
      <p:sp>
        <p:nvSpPr>
          <p:cNvPr id="10" name="table"/>
          <p:cNvSpPr/>
          <p:nvPr/>
        </p:nvSpPr>
        <p:spPr>
          <a:xfrm>
            <a:off x="502920" y="1801368"/>
            <a:ext cx="155448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Replay</a:t>
            </a:r>
          </a:p>
        </p:txBody>
      </p:sp>
      <p:sp>
        <p:nvSpPr>
          <p:cNvPr id="12" name="table"/>
          <p:cNvSpPr/>
          <p:nvPr/>
        </p:nvSpPr>
        <p:spPr>
          <a:xfrm>
            <a:off x="2057400" y="1801368"/>
            <a:ext cx="21488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19:09 and 20:09</a:t>
            </a:r>
          </a:p>
        </p:txBody>
      </p:sp>
      <p:sp>
        <p:nvSpPr>
          <p:cNvPr id="14" name="table"/>
          <p:cNvSpPr/>
          <p:nvPr/>
        </p:nvSpPr>
        <p:spPr>
          <a:xfrm>
            <a:off x="4206240" y="1801368"/>
            <a:ext cx="324612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Review this delivery</a:t>
            </a:r>
          </a:p>
        </p:txBody>
      </p:sp>
      <p:sp>
        <p:nvSpPr>
          <p:cNvPr id="16" name="table"/>
          <p:cNvSpPr/>
          <p:nvPr/>
        </p:nvSpPr>
        <p:spPr>
          <a:xfrm>
            <a:off x="7452359" y="1801368"/>
            <a:ext cx="233172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Any role. RT-05 drops</a:t>
            </a:r>
          </a:p>
        </p:txBody>
      </p:sp>
      <p:sp>
        <p:nvSpPr>
          <p:cNvPr id="18" name="table"/>
          <p:cNvSpPr/>
          <p:nvPr/>
        </p:nvSpPr>
        <p:spPr>
          <a:xfrm>
            <a:off x="9784080" y="1801368"/>
            <a:ext cx="1901952"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Queue 196 to 197</a:t>
            </a:r>
          </a:p>
        </p:txBody>
      </p:sp>
      <p:sp>
        <p:nvSpPr>
          <p:cNvPr id="20" name="table"/>
          <p:cNvSpPr/>
          <p:nvPr/>
        </p:nvSpPr>
        <p:spPr>
          <a:xfrm>
            <a:off x="502920" y="2423160"/>
            <a:ext cx="155448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Recipe</a:t>
            </a:r>
          </a:p>
        </p:txBody>
      </p:sp>
      <p:sp>
        <p:nvSpPr>
          <p:cNvPr id="22" name="table"/>
          <p:cNvSpPr/>
          <p:nvPr/>
        </p:nvSpPr>
        <p:spPr>
          <a:xfrm>
            <a:off x="2057400" y="2423160"/>
            <a:ext cx="214884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Dispatch R02, tool R01</a:t>
            </a:r>
          </a:p>
        </p:txBody>
      </p:sp>
      <p:sp>
        <p:nvSpPr>
          <p:cNvPr id="24" name="table"/>
          <p:cNvSpPr/>
          <p:nvPr/>
        </p:nvSpPr>
        <p:spPr>
          <a:xfrm>
            <a:off x="4206240" y="2423160"/>
            <a:ext cx="324612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Explain this mismatch</a:t>
            </a:r>
          </a:p>
        </p:txBody>
      </p:sp>
      <p:sp>
        <p:nvSpPr>
          <p:cNvPr id="26" name="table"/>
          <p:cNvSpPr/>
          <p:nvPr/>
        </p:nvSpPr>
        <p:spPr>
          <a:xfrm>
            <a:off x="7452359" y="2423160"/>
            <a:ext cx="233172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Any role. RT-03 holds</a:t>
            </a:r>
          </a:p>
        </p:txBody>
      </p:sp>
      <p:sp>
        <p:nvSpPr>
          <p:cNvPr id="28" name="table"/>
          <p:cNvSpPr/>
          <p:nvPr/>
        </p:nvSpPr>
        <p:spPr>
          <a:xfrm>
            <a:off x="9784080" y="2423160"/>
            <a:ext cx="1901952"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Hold row</a:t>
            </a:r>
          </a:p>
        </p:txBody>
      </p:sp>
      <p:sp>
        <p:nvSpPr>
          <p:cNvPr id="30" name="table"/>
          <p:cNvSpPr/>
          <p:nvPr/>
        </p:nvSpPr>
        <p:spPr>
          <a:xfrm>
            <a:off x="502920" y="3044952"/>
            <a:ext cx="155448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Clocks</a:t>
            </a:r>
          </a:p>
        </p:txBody>
      </p:sp>
      <p:sp>
        <p:nvSpPr>
          <p:cNvPr id="32" name="table"/>
          <p:cNvSpPr/>
          <p:nvPr/>
        </p:nvSpPr>
        <p:spPr>
          <a:xfrm>
            <a:off x="2057400" y="3044952"/>
            <a:ext cx="21488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Two clock fields</a:t>
            </a:r>
          </a:p>
        </p:txBody>
      </p:sp>
      <p:sp>
        <p:nvSpPr>
          <p:cNvPr id="34" name="table"/>
          <p:cNvSpPr/>
          <p:nvPr/>
        </p:nvSpPr>
        <p:spPr>
          <a:xfrm>
            <a:off x="4206240" y="3044952"/>
            <a:ext cx="324612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Place this event on the timeline</a:t>
            </a:r>
          </a:p>
        </p:txBody>
      </p:sp>
      <p:sp>
        <p:nvSpPr>
          <p:cNvPr id="36" name="table"/>
          <p:cNvSpPr/>
          <p:nvPr/>
        </p:nvSpPr>
        <p:spPr>
          <a:xfrm>
            <a:off x="7452359" y="3044952"/>
            <a:ext cx="233172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Any signed-in role</a:t>
            </a:r>
          </a:p>
        </p:txBody>
      </p:sp>
      <p:sp>
        <p:nvSpPr>
          <p:cNvPr id="38" name="table"/>
          <p:cNvSpPr/>
          <p:nvPr/>
        </p:nvSpPr>
        <p:spPr>
          <a:xfrm>
            <a:off x="9784080" y="3044952"/>
            <a:ext cx="1901952"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Event time applied</a:t>
            </a:r>
          </a:p>
        </p:txBody>
      </p:sp>
      <p:sp>
        <p:nvSpPr>
          <p:cNvPr id="40" name="table"/>
          <p:cNvSpPr/>
          <p:nvPr/>
        </p:nvSpPr>
        <p:spPr>
          <a:xfrm>
            <a:off x="502920" y="3666744"/>
            <a:ext cx="155448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Policy</a:t>
            </a:r>
          </a:p>
        </p:txBody>
      </p:sp>
      <p:sp>
        <p:nvSpPr>
          <p:cNvPr id="42" name="table"/>
          <p:cNvSpPr/>
          <p:nvPr/>
        </p:nvSpPr>
        <p:spPr>
          <a:xfrm>
            <a:off x="2057400" y="3666744"/>
            <a:ext cx="214884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Four policies in force</a:t>
            </a:r>
          </a:p>
        </p:txBody>
      </p:sp>
      <p:sp>
        <p:nvSpPr>
          <p:cNvPr id="44" name="table"/>
          <p:cNvSpPr/>
          <p:nvPr/>
        </p:nvSpPr>
        <p:spPr>
          <a:xfrm>
            <a:off x="4206240" y="3666744"/>
            <a:ext cx="324612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Ask which policy applies</a:t>
            </a:r>
          </a:p>
        </p:txBody>
      </p:sp>
      <p:sp>
        <p:nvSpPr>
          <p:cNvPr id="46" name="table"/>
          <p:cNvSpPr/>
          <p:nvPr/>
        </p:nvSpPr>
        <p:spPr>
          <a:xfrm>
            <a:off x="7452359" y="3666744"/>
            <a:ext cx="233172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Any role. RT-04 records</a:t>
            </a:r>
          </a:p>
        </p:txBody>
      </p:sp>
      <p:sp>
        <p:nvSpPr>
          <p:cNvPr id="48" name="table"/>
          <p:cNvSpPr/>
          <p:nvPr/>
        </p:nvSpPr>
        <p:spPr>
          <a:xfrm>
            <a:off x="9784080" y="3666744"/>
            <a:ext cx="1901952"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Choice keep-wait</a:t>
            </a:r>
          </a:p>
        </p:txBody>
      </p:sp>
      <p:sp>
        <p:nvSpPr>
          <p:cNvPr id="50" name="table"/>
          <p:cNvSpPr/>
          <p:nvPr/>
        </p:nvSpPr>
        <p:spPr>
          <a:xfrm>
            <a:off x="502920" y="4288536"/>
            <a:ext cx="155448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Outage</a:t>
            </a:r>
          </a:p>
        </p:txBody>
      </p:sp>
      <p:sp>
        <p:nvSpPr>
          <p:cNvPr id="52" name="table"/>
          <p:cNvSpPr/>
          <p:nvPr/>
        </p:nvSpPr>
        <p:spPr>
          <a:xfrm>
            <a:off x="2057400" y="4288536"/>
            <a:ext cx="21488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Owner field empty</a:t>
            </a:r>
          </a:p>
        </p:txBody>
      </p:sp>
      <p:sp>
        <p:nvSpPr>
          <p:cNvPr id="54" name="table"/>
          <p:cNvSpPr/>
          <p:nvPr/>
        </p:nvSpPr>
        <p:spPr>
          <a:xfrm>
            <a:off x="4206240" y="4288536"/>
            <a:ext cx="324612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Check the upstream link</a:t>
            </a:r>
          </a:p>
        </p:txBody>
      </p:sp>
      <p:sp>
        <p:nvSpPr>
          <p:cNvPr id="56" name="table"/>
          <p:cNvSpPr/>
          <p:nvPr/>
        </p:nvSpPr>
        <p:spPr>
          <a:xfrm>
            <a:off x="7452359" y="4288536"/>
            <a:ext cx="233172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Any role. RT-06 owns</a:t>
            </a:r>
          </a:p>
        </p:txBody>
      </p:sp>
      <p:sp>
        <p:nvSpPr>
          <p:cNvPr id="58" name="table"/>
          <p:cNvSpPr/>
          <p:nvPr/>
        </p:nvSpPr>
        <p:spPr>
          <a:xfrm>
            <a:off x="9784080" y="4288536"/>
            <a:ext cx="1901952"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Attempt count</a:t>
            </a:r>
          </a:p>
        </p:txBody>
      </p:sp>
      <p:sp>
        <p:nvSpPr>
          <p:cNvPr id="60" name="table"/>
          <p:cNvSpPr/>
          <p:nvPr/>
        </p:nvSpPr>
        <p:spPr>
          <a:xfrm>
            <a:off x="502920" y="4910328"/>
            <a:ext cx="155448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Rule trace</a:t>
            </a:r>
          </a:p>
        </p:txBody>
      </p:sp>
      <p:sp>
        <p:nvSpPr>
          <p:cNvPr id="62" name="table"/>
          <p:cNvSpPr/>
          <p:nvPr/>
        </p:nvSpPr>
        <p:spPr>
          <a:xfrm>
            <a:off x="2057400" y="4910328"/>
            <a:ext cx="214884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Five steps on B</a:t>
            </a:r>
          </a:p>
        </p:txBody>
      </p:sp>
      <p:sp>
        <p:nvSpPr>
          <p:cNvPr id="64" name="table"/>
          <p:cNvSpPr/>
          <p:nvPr/>
        </p:nvSpPr>
        <p:spPr>
          <a:xfrm>
            <a:off x="4206240" y="4910328"/>
            <a:ext cx="324612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Show where this rule came from</a:t>
            </a:r>
          </a:p>
        </p:txBody>
      </p:sp>
      <p:sp>
        <p:nvSpPr>
          <p:cNvPr id="66" name="table"/>
          <p:cNvSpPr/>
          <p:nvPr/>
        </p:nvSpPr>
        <p:spPr>
          <a:xfrm>
            <a:off x="7452359" y="4910328"/>
            <a:ext cx="2331720"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Any role on B</a:t>
            </a:r>
          </a:p>
        </p:txBody>
      </p:sp>
      <p:sp>
        <p:nvSpPr>
          <p:cNvPr id="68" name="table"/>
          <p:cNvSpPr/>
          <p:nvPr/>
        </p:nvSpPr>
        <p:spPr>
          <a:xfrm>
            <a:off x="9784080" y="4910328"/>
            <a:ext cx="1901952" cy="6217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Ordered steps</a:t>
            </a:r>
          </a:p>
        </p:txBody>
      </p:sp>
      <p:sp>
        <p:nvSpPr>
          <p:cNvPr id="70" name="table"/>
          <p:cNvSpPr/>
          <p:nvPr/>
        </p:nvSpPr>
        <p:spPr>
          <a:xfrm>
            <a:off x="502920" y="5532120"/>
            <a:ext cx="155448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Compare</a:t>
            </a:r>
          </a:p>
        </p:txBody>
      </p:sp>
      <p:sp>
        <p:nvSpPr>
          <p:cNvPr id="72" name="table"/>
          <p:cNvSpPr/>
          <p:nvPr/>
        </p:nvSpPr>
        <p:spPr>
          <a:xfrm>
            <a:off x="2057400" y="5532120"/>
            <a:ext cx="214884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Both queue counts</a:t>
            </a:r>
          </a:p>
        </p:txBody>
      </p:sp>
      <p:sp>
        <p:nvSpPr>
          <p:cNvPr id="74" name="table"/>
          <p:cNvSpPr/>
          <p:nvPr/>
        </p:nvSpPr>
        <p:spPr>
          <a:xfrm>
            <a:off x="4206240" y="5532120"/>
            <a:ext cx="324612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Compare this case</a:t>
            </a:r>
          </a:p>
        </p:txBody>
      </p:sp>
      <p:sp>
        <p:nvSpPr>
          <p:cNvPr id="76" name="table"/>
          <p:cNvSpPr/>
          <p:nvPr/>
        </p:nvSpPr>
        <p:spPr>
          <a:xfrm>
            <a:off x="7452359" y="5532120"/>
            <a:ext cx="233172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Any signed-in role</a:t>
            </a:r>
          </a:p>
        </p:txBody>
      </p:sp>
      <p:sp>
        <p:nvSpPr>
          <p:cNvPr id="78" name="table"/>
          <p:cNvSpPr/>
          <p:nvPr/>
        </p:nvSpPr>
        <p:spPr>
          <a:xfrm>
            <a:off x="9784080" y="5532120"/>
            <a:ext cx="1901952"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Both counts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10</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Every click answers in one sentence.</a:t>
            </a:r>
          </a:p>
        </p:txBody>
      </p:sp>
      <p:sp>
        <p:nvSpPr>
          <p:cNvPr id="5" name="Rectangle 4"/>
          <p:cNvSpPr/>
          <p:nvPr/>
        </p:nvSpPr>
        <p:spPr>
          <a:xfrm>
            <a:off x="502920" y="1554480"/>
            <a:ext cx="11183112" cy="960120"/>
          </a:xfrm>
          <a:prstGeom prst="rect">
            <a:avLst/>
          </a:prstGeom>
          <a:solidFill>
            <a:srgbClr val="FCF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54480"/>
            <a:ext cx="73152" cy="960120"/>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band"/>
          <p:cNvSpPr txBox="1"/>
          <p:nvPr/>
        </p:nvSpPr>
        <p:spPr>
          <a:xfrm>
            <a:off x="713232" y="1554480"/>
            <a:ext cx="10789920" cy="960120"/>
          </a:xfrm>
          <a:prstGeom prst="rect">
            <a:avLst/>
          </a:prstGeom>
          <a:noFill/>
        </p:spPr>
        <p:txBody>
          <a:bodyPr wrap="square" lIns="54864" tIns="36576" rIns="54864" bIns="36576" anchor="ctr"/>
          <a:lstStyle/>
          <a:p>
            <a:pPr algn="l">
              <a:spcBef>
                <a:spcPts val="0"/>
              </a:spcBef>
              <a:spcAft>
                <a:spcPts val="0"/>
              </a:spcAft>
            </a:pPr>
            <a:r>
              <a:rPr sz="1600" b="1" i="0">
                <a:solidFill>
                  <a:srgbClr val="231F20"/>
                </a:solidFill>
                <a:latin typeface="Calibri"/>
                <a:ea typeface="Calibri"/>
                <a:cs typeface="Calibri"/>
              </a:rPr>
              <a:t>In flight</a:t>
            </a:r>
            <a:r>
              <a:rPr sz="1600" b="0" i="0">
                <a:solidFill>
                  <a:srgbClr val="231F20"/>
                </a:solidFill>
                <a:latin typeface="Calibri"/>
                <a:ea typeface="Calibri"/>
                <a:cs typeface="Calibri"/>
              </a:rPr>
              <a:t>  Reading the saved explanation.</a:t>
            </a:r>
          </a:p>
        </p:txBody>
      </p:sp>
      <p:sp>
        <p:nvSpPr>
          <p:cNvPr id="8" name="Rectangle 7"/>
          <p:cNvSpPr/>
          <p:nvPr/>
        </p:nvSpPr>
        <p:spPr>
          <a:xfrm>
            <a:off x="502920" y="2624328"/>
            <a:ext cx="11183112" cy="96012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2624328"/>
            <a:ext cx="73152" cy="960120"/>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band"/>
          <p:cNvSpPr txBox="1"/>
          <p:nvPr/>
        </p:nvSpPr>
        <p:spPr>
          <a:xfrm>
            <a:off x="713232" y="2624328"/>
            <a:ext cx="10789920" cy="960120"/>
          </a:xfrm>
          <a:prstGeom prst="rect">
            <a:avLst/>
          </a:prstGeom>
          <a:noFill/>
        </p:spPr>
        <p:txBody>
          <a:bodyPr wrap="square" lIns="54864" tIns="36576" rIns="54864" bIns="36576" anchor="ctr"/>
          <a:lstStyle/>
          <a:p>
            <a:pPr algn="l">
              <a:spcBef>
                <a:spcPts val="0"/>
              </a:spcBef>
              <a:spcAft>
                <a:spcPts val="0"/>
              </a:spcAft>
            </a:pPr>
            <a:r>
              <a:rPr sz="1600" b="1" i="0">
                <a:solidFill>
                  <a:srgbClr val="231F20"/>
                </a:solidFill>
                <a:latin typeface="Calibri"/>
                <a:ea typeface="Calibri"/>
                <a:cs typeface="Calibri"/>
              </a:rPr>
              <a:t>Refused.</a:t>
            </a:r>
            <a:r>
              <a:rPr sz="1600" b="0" i="0">
                <a:solidFill>
                  <a:srgbClr val="231F20"/>
                </a:solidFill>
                <a:latin typeface="Calibri"/>
                <a:ea typeface="Calibri"/>
                <a:cs typeface="Calibri"/>
              </a:rPr>
              <a:t>  Confirm drop waits for RT-05. The current role is RT-01.</a:t>
            </a:r>
          </a:p>
        </p:txBody>
      </p:sp>
      <p:sp>
        <p:nvSpPr>
          <p:cNvPr id="11" name="Rectangle 10"/>
          <p:cNvSpPr/>
          <p:nvPr/>
        </p:nvSpPr>
        <p:spPr>
          <a:xfrm>
            <a:off x="502920" y="3694176"/>
            <a:ext cx="11183112" cy="960120"/>
          </a:xfrm>
          <a:prstGeom prst="rect">
            <a:avLst/>
          </a:prstGeom>
          <a:solidFill>
            <a:srgbClr val="FCF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3694176"/>
            <a:ext cx="73152" cy="960120"/>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band"/>
          <p:cNvSpPr txBox="1"/>
          <p:nvPr/>
        </p:nvSpPr>
        <p:spPr>
          <a:xfrm>
            <a:off x="713232" y="3694176"/>
            <a:ext cx="10789920" cy="960120"/>
          </a:xfrm>
          <a:prstGeom prst="rect">
            <a:avLst/>
          </a:prstGeom>
          <a:noFill/>
        </p:spPr>
        <p:txBody>
          <a:bodyPr wrap="square" lIns="54864" tIns="36576" rIns="54864" bIns="36576" anchor="ctr"/>
          <a:lstStyle/>
          <a:p>
            <a:pPr algn="l">
              <a:spcBef>
                <a:spcPts val="0"/>
              </a:spcBef>
              <a:spcAft>
                <a:spcPts val="0"/>
              </a:spcAft>
            </a:pPr>
            <a:r>
              <a:rPr sz="1600" b="1" i="0">
                <a:solidFill>
                  <a:srgbClr val="231F20"/>
                </a:solidFill>
                <a:latin typeface="Calibri"/>
                <a:ea typeface="Calibri"/>
                <a:cs typeface="Calibri"/>
              </a:rPr>
              <a:t>Succeeded</a:t>
            </a:r>
            <a:r>
              <a:rPr sz="1600" b="0" i="0">
                <a:solidFill>
                  <a:srgbClr val="231F20"/>
                </a:solidFill>
                <a:latin typeface="Calibri"/>
                <a:ea typeface="Calibri"/>
                <a:cs typeface="Calibri"/>
              </a:rPr>
              <a:t>  The second delivery is on the work queue.</a:t>
            </a:r>
          </a:p>
        </p:txBody>
      </p:sp>
      <p:sp>
        <p:nvSpPr>
          <p:cNvPr id="14" name="Rectangle 13"/>
          <p:cNvSpPr/>
          <p:nvPr/>
        </p:nvSpPr>
        <p:spPr>
          <a:xfrm>
            <a:off x="502920" y="4764024"/>
            <a:ext cx="11183112" cy="96012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4764024"/>
            <a:ext cx="73152" cy="960120"/>
          </a:xfrm>
          <a:prstGeom prst="rect">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band"/>
          <p:cNvSpPr txBox="1"/>
          <p:nvPr/>
        </p:nvSpPr>
        <p:spPr>
          <a:xfrm>
            <a:off x="713232" y="4764024"/>
            <a:ext cx="10789920" cy="960120"/>
          </a:xfrm>
          <a:prstGeom prst="rect">
            <a:avLst/>
          </a:prstGeom>
          <a:noFill/>
        </p:spPr>
        <p:txBody>
          <a:bodyPr wrap="square" lIns="54864" tIns="36576" rIns="54864" bIns="36576" anchor="ctr"/>
          <a:lstStyle/>
          <a:p>
            <a:pPr algn="l">
              <a:spcBef>
                <a:spcPts val="0"/>
              </a:spcBef>
              <a:spcAft>
                <a:spcPts val="0"/>
              </a:spcAft>
            </a:pPr>
            <a:r>
              <a:rPr sz="1600" b="1" i="0">
                <a:solidFill>
                  <a:srgbClr val="231F20"/>
                </a:solidFill>
                <a:latin typeface="Calibri"/>
                <a:ea typeface="Calibri"/>
                <a:cs typeface="Calibri"/>
              </a:rPr>
              <a:t>Already done</a:t>
            </a:r>
            <a:r>
              <a:rPr sz="1600" b="0" i="0">
                <a:solidFill>
                  <a:srgbClr val="231F20"/>
                </a:solidFill>
                <a:latin typeface="Calibri"/>
                <a:ea typeface="Calibri"/>
                <a:cs typeface="Calibri"/>
              </a:rPr>
              <a:t>  The duplicate is already off the queue.</a:t>
            </a:r>
          </a:p>
        </p:txBody>
      </p:sp>
      <p:sp>
        <p:nvSpPr>
          <p:cNvPr id="17" name="band-note"/>
          <p:cNvSpPr txBox="1"/>
          <p:nvPr/>
        </p:nvSpPr>
        <p:spPr>
          <a:xfrm>
            <a:off x="502920" y="5989320"/>
            <a:ext cx="11155680" cy="365760"/>
          </a:xfrm>
          <a:prstGeom prst="rect">
            <a:avLst/>
          </a:prstGeom>
          <a:noFill/>
        </p:spPr>
        <p:txBody>
          <a:bodyPr wrap="square" lIns="0" tIns="36576" rIns="0" bIns="36576" anchor="t"/>
          <a:lstStyle/>
          <a:p>
            <a:pPr algn="l">
              <a:spcBef>
                <a:spcPts val="0"/>
              </a:spcBef>
              <a:spcAft>
                <a:spcPts val="0"/>
              </a:spcAft>
            </a:pPr>
            <a:r>
              <a:rPr sz="1400" b="0" i="0">
                <a:solidFill>
                  <a:srgbClr val="666666"/>
                </a:solidFill>
                <a:latin typeface="Calibri"/>
                <a:ea typeface="Calibri"/>
                <a:cs typeface="Calibri"/>
              </a:rPr>
              <a:t>Explanation and audit appear only after a click fills them.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11</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Three kinds of state stay apart.</a:t>
            </a:r>
          </a:p>
        </p:txBody>
      </p:sp>
      <p:sp>
        <p:nvSpPr>
          <p:cNvPr id="5" name="Rounded Rectangle 4"/>
          <p:cNvSpPr/>
          <p:nvPr/>
        </p:nvSpPr>
        <p:spPr>
          <a:xfrm>
            <a:off x="502920" y="1691640"/>
            <a:ext cx="3617976" cy="3977639"/>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1856232"/>
            <a:ext cx="64008" cy="364845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rd:0"/>
          <p:cNvSpPr txBox="1"/>
          <p:nvPr/>
        </p:nvSpPr>
        <p:spPr>
          <a:xfrm>
            <a:off x="722376" y="2011680"/>
            <a:ext cx="3233928" cy="3108960"/>
          </a:xfrm>
          <a:prstGeom prst="rect">
            <a:avLst/>
          </a:prstGeom>
          <a:noFill/>
        </p:spPr>
        <p:txBody>
          <a:bodyPr wrap="square" lIns="54864" tIns="36576" rIns="54864" bIns="36576" anchor="t"/>
          <a:lstStyle/>
          <a:p>
            <a:pPr algn="l">
              <a:spcBef>
                <a:spcPts val="0"/>
              </a:spcBef>
              <a:spcAft>
                <a:spcPts val="0"/>
              </a:spcAft>
            </a:pPr>
            <a:r>
              <a:rPr sz="1400" b="1" i="0">
                <a:solidFill>
                  <a:srgbClr val="666666"/>
                </a:solidFill>
                <a:latin typeface="Calibri"/>
                <a:ea typeface="Calibri"/>
                <a:cs typeface="Calibri"/>
              </a:rPr>
              <a:t>View</a:t>
            </a:r>
          </a:p>
          <a:p>
            <a:pPr algn="l">
              <a:spcBef>
                <a:spcPts val="0"/>
              </a:spcBef>
              <a:spcAft>
                <a:spcPts val="0"/>
              </a:spcAft>
            </a:pPr>
            <a:r>
              <a:rPr sz="1600" b="1" i="0">
                <a:solidFill>
                  <a:srgbClr val="231F20"/>
                </a:solidFill>
                <a:latin typeface="Calibri"/>
                <a:ea typeface="Calibri"/>
                <a:cs typeface="Calibri"/>
              </a:rPr>
              <a:t>A tab change clears the result.</a:t>
            </a:r>
          </a:p>
          <a:p>
            <a:pPr algn="l">
              <a:spcBef>
                <a:spcPts val="0"/>
              </a:spcBef>
              <a:spcAft>
                <a:spcPts val="0"/>
              </a:spcAft>
            </a:pPr>
            <a:r>
              <a:rPr sz="1600" b="0" i="0">
                <a:solidFill>
                  <a:srgbClr val="4B4B4B"/>
                </a:solidFill>
                <a:latin typeface="Calibri"/>
                <a:ea typeface="Calibri"/>
                <a:cs typeface="Calibri"/>
              </a:rPr>
              <a:t>A slow answer stays off the next tab.</a:t>
            </a:r>
          </a:p>
        </p:txBody>
      </p:sp>
      <p:sp>
        <p:nvSpPr>
          <p:cNvPr id="8" name="Rounded Rectangle 7"/>
          <p:cNvSpPr/>
          <p:nvPr/>
        </p:nvSpPr>
        <p:spPr>
          <a:xfrm>
            <a:off x="4285488" y="1691640"/>
            <a:ext cx="3617976" cy="3977639"/>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03775" y="1856232"/>
            <a:ext cx="64008" cy="364845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ard:1"/>
          <p:cNvSpPr txBox="1"/>
          <p:nvPr/>
        </p:nvSpPr>
        <p:spPr>
          <a:xfrm>
            <a:off x="4504944" y="2011680"/>
            <a:ext cx="3233928" cy="3108960"/>
          </a:xfrm>
          <a:prstGeom prst="rect">
            <a:avLst/>
          </a:prstGeom>
          <a:noFill/>
        </p:spPr>
        <p:txBody>
          <a:bodyPr wrap="square" lIns="54864" tIns="36576" rIns="54864" bIns="36576" anchor="t"/>
          <a:lstStyle/>
          <a:p>
            <a:pPr algn="l">
              <a:spcBef>
                <a:spcPts val="0"/>
              </a:spcBef>
              <a:spcAft>
                <a:spcPts val="0"/>
              </a:spcAft>
            </a:pPr>
            <a:r>
              <a:rPr sz="1400" b="1" i="0">
                <a:solidFill>
                  <a:srgbClr val="666666"/>
                </a:solidFill>
                <a:latin typeface="Calibri"/>
                <a:ea typeface="Calibri"/>
                <a:cs typeface="Calibri"/>
              </a:rPr>
              <a:t>Session</a:t>
            </a:r>
          </a:p>
          <a:p>
            <a:pPr algn="l">
              <a:spcBef>
                <a:spcPts val="0"/>
              </a:spcBef>
              <a:spcAft>
                <a:spcPts val="0"/>
              </a:spcAft>
            </a:pPr>
            <a:r>
              <a:rPr sz="1600" b="1" i="0">
                <a:solidFill>
                  <a:srgbClr val="231F20"/>
                </a:solidFill>
                <a:latin typeface="Calibri"/>
                <a:ea typeface="Calibri"/>
                <a:cs typeface="Calibri"/>
              </a:rPr>
              <a:t>The case overlay stays put.</a:t>
            </a:r>
          </a:p>
          <a:p>
            <a:pPr algn="l">
              <a:spcBef>
                <a:spcPts val="0"/>
              </a:spcBef>
              <a:spcAft>
                <a:spcPts val="0"/>
              </a:spcAft>
            </a:pPr>
            <a:r>
              <a:rPr sz="1600" b="0" i="0">
                <a:solidFill>
                  <a:srgbClr val="4B4B4B"/>
                </a:solidFill>
                <a:latin typeface="Calibri"/>
                <a:ea typeface="Calibri"/>
                <a:cs typeface="Calibri"/>
              </a:rPr>
              <a:t>A dropped delivery still reads dropped.</a:t>
            </a:r>
          </a:p>
        </p:txBody>
      </p:sp>
      <p:sp>
        <p:nvSpPr>
          <p:cNvPr id="11" name="Rounded Rectangle 10"/>
          <p:cNvSpPr/>
          <p:nvPr/>
        </p:nvSpPr>
        <p:spPr>
          <a:xfrm>
            <a:off x="8068056" y="1691640"/>
            <a:ext cx="3617976" cy="3977639"/>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086344" y="1856232"/>
            <a:ext cx="64008" cy="3648456"/>
          </a:xfrm>
          <a:prstGeom prst="rect">
            <a:avLst/>
          </a:prstGeom>
          <a:solidFill>
            <a:srgbClr val="7200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ard:2"/>
          <p:cNvSpPr txBox="1"/>
          <p:nvPr/>
        </p:nvSpPr>
        <p:spPr>
          <a:xfrm>
            <a:off x="8287512" y="2011680"/>
            <a:ext cx="3233928" cy="3108960"/>
          </a:xfrm>
          <a:prstGeom prst="rect">
            <a:avLst/>
          </a:prstGeom>
          <a:noFill/>
        </p:spPr>
        <p:txBody>
          <a:bodyPr wrap="square" lIns="54864" tIns="36576" rIns="54864" bIns="36576" anchor="t"/>
          <a:lstStyle/>
          <a:p>
            <a:pPr algn="l">
              <a:spcBef>
                <a:spcPts val="0"/>
              </a:spcBef>
              <a:spcAft>
                <a:spcPts val="0"/>
              </a:spcAft>
            </a:pPr>
            <a:r>
              <a:rPr sz="1400" b="1" i="0">
                <a:solidFill>
                  <a:srgbClr val="666666"/>
                </a:solidFill>
                <a:latin typeface="Calibri"/>
                <a:ea typeface="Calibri"/>
                <a:cs typeface="Calibri"/>
              </a:rPr>
              <a:t>Record</a:t>
            </a:r>
          </a:p>
          <a:p>
            <a:pPr algn="l">
              <a:spcBef>
                <a:spcPts val="0"/>
              </a:spcBef>
              <a:spcAft>
                <a:spcPts val="0"/>
              </a:spcAft>
            </a:pPr>
            <a:r>
              <a:rPr sz="1600" b="1" i="0">
                <a:solidFill>
                  <a:srgbClr val="231F20"/>
                </a:solidFill>
                <a:latin typeface="Calibri"/>
                <a:ea typeface="Calibri"/>
                <a:cs typeface="Calibri"/>
              </a:rPr>
              <a:t>Packaged files stay as loaded.</a:t>
            </a:r>
          </a:p>
          <a:p>
            <a:pPr algn="l">
              <a:spcBef>
                <a:spcPts val="0"/>
              </a:spcBef>
              <a:spcAft>
                <a:spcPts val="0"/>
              </a:spcAft>
            </a:pPr>
            <a:r>
              <a:rPr sz="1600" b="0" i="0">
                <a:solidFill>
                  <a:srgbClr val="4B4B4B"/>
                </a:solidFill>
                <a:latin typeface="Calibri"/>
                <a:ea typeface="Calibri"/>
                <a:cs typeface="Calibri"/>
              </a:rPr>
              <a:t>Replay rows stay 67.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12</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The page names where the sentence came from.</a:t>
            </a:r>
          </a:p>
        </p:txBody>
      </p:sp>
      <p:sp>
        <p:nvSpPr>
          <p:cNvPr id="5" name="pill-label"/>
          <p:cNvSpPr/>
          <p:nvPr/>
        </p:nvSpPr>
        <p:spPr>
          <a:xfrm>
            <a:off x="502920" y="1508760"/>
            <a:ext cx="1965960" cy="329184"/>
          </a:xfrm>
          <a:prstGeom prst="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Bef>
                <a:spcPts val="0"/>
              </a:spcBef>
              <a:spcAft>
                <a:spcPts val="0"/>
              </a:spcAft>
            </a:pPr>
            <a:r>
              <a:rPr sz="900" b="1" i="0">
                <a:solidFill>
                  <a:srgbClr val="ED1C24"/>
                </a:solidFill>
                <a:latin typeface="Calibri"/>
                <a:ea typeface="Calibri"/>
                <a:cs typeface="Calibri"/>
              </a:rPr>
              <a:t>Azure OpenAI</a:t>
            </a:r>
          </a:p>
        </p:txBody>
      </p:sp>
      <p:sp>
        <p:nvSpPr>
          <p:cNvPr id="6" name="pill-label"/>
          <p:cNvSpPr/>
          <p:nvPr/>
        </p:nvSpPr>
        <p:spPr>
          <a:xfrm>
            <a:off x="2615184" y="1508760"/>
            <a:ext cx="1417320" cy="329184"/>
          </a:xfrm>
          <a:prstGeom prst="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Bef>
                <a:spcPts val="0"/>
              </a:spcBef>
              <a:spcAft>
                <a:spcPts val="0"/>
              </a:spcAft>
            </a:pPr>
            <a:r>
              <a:rPr sz="900" b="1" i="0">
                <a:solidFill>
                  <a:srgbClr val="ED1C24"/>
                </a:solidFill>
                <a:latin typeface="Calibri"/>
                <a:ea typeface="Calibri"/>
                <a:cs typeface="Calibri"/>
              </a:rPr>
              <a:t>Replay file</a:t>
            </a:r>
          </a:p>
        </p:txBody>
      </p:sp>
      <p:sp>
        <p:nvSpPr>
          <p:cNvPr id="7" name="pill-label"/>
          <p:cNvSpPr/>
          <p:nvPr/>
        </p:nvSpPr>
        <p:spPr>
          <a:xfrm>
            <a:off x="4178808" y="1508760"/>
            <a:ext cx="1737360" cy="329184"/>
          </a:xfrm>
          <a:prstGeom prst="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Bef>
                <a:spcPts val="0"/>
              </a:spcBef>
              <a:spcAft>
                <a:spcPts val="0"/>
              </a:spcAft>
            </a:pPr>
            <a:r>
              <a:rPr sz="900" b="1" i="0">
                <a:solidFill>
                  <a:srgbClr val="ED1C24"/>
                </a:solidFill>
                <a:latin typeface="Calibri"/>
                <a:ea typeface="Calibri"/>
                <a:cs typeface="Calibri"/>
              </a:rPr>
              <a:t>Lake statement</a:t>
            </a:r>
          </a:p>
        </p:txBody>
      </p:sp>
      <p:sp>
        <p:nvSpPr>
          <p:cNvPr id="8" name="Rounded Rectangle 7"/>
          <p:cNvSpPr/>
          <p:nvPr/>
        </p:nvSpPr>
        <p:spPr>
          <a:xfrm>
            <a:off x="502920" y="2240280"/>
            <a:ext cx="3617976" cy="33832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1208" y="2404872"/>
            <a:ext cx="64008" cy="305409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ard:0"/>
          <p:cNvSpPr txBox="1"/>
          <p:nvPr/>
        </p:nvSpPr>
        <p:spPr>
          <a:xfrm>
            <a:off x="722376" y="2560320"/>
            <a:ext cx="3233928" cy="2560320"/>
          </a:xfrm>
          <a:prstGeom prst="rect">
            <a:avLst/>
          </a:prstGeom>
          <a:noFill/>
        </p:spPr>
        <p:txBody>
          <a:bodyPr wrap="square" lIns="54864" tIns="36576" rIns="54864" bIns="36576" anchor="t"/>
          <a:lstStyle/>
          <a:p>
            <a:pPr algn="l">
              <a:spcBef>
                <a:spcPts val="0"/>
              </a:spcBef>
              <a:spcAft>
                <a:spcPts val="0"/>
              </a:spcAft>
            </a:pPr>
            <a:r>
              <a:rPr sz="1500" b="1" i="0">
                <a:solidFill>
                  <a:srgbClr val="231F20"/>
                </a:solidFill>
                <a:latin typeface="Calibri"/>
                <a:ea typeface="Calibri"/>
                <a:cs typeface="Calibri"/>
              </a:rPr>
              <a:t>Cash</a:t>
            </a:r>
          </a:p>
          <a:p>
            <a:pPr algn="l">
              <a:spcBef>
                <a:spcPts val="0"/>
              </a:spcBef>
              <a:spcAft>
                <a:spcPts val="0"/>
              </a:spcAft>
            </a:pPr>
            <a:r>
              <a:rPr sz="1600" b="0" i="0">
                <a:solidFill>
                  <a:srgbClr val="4B4B4B"/>
                </a:solidFill>
                <a:latin typeface="Calibri"/>
                <a:ea typeface="Calibri"/>
                <a:cs typeface="Calibri"/>
              </a:rPr>
              <a:t>ROI stays educational. No cash amount is claimed.</a:t>
            </a:r>
          </a:p>
        </p:txBody>
      </p:sp>
      <p:sp>
        <p:nvSpPr>
          <p:cNvPr id="11" name="Rounded Rectangle 10"/>
          <p:cNvSpPr/>
          <p:nvPr/>
        </p:nvSpPr>
        <p:spPr>
          <a:xfrm>
            <a:off x="4285488" y="2240280"/>
            <a:ext cx="3617976" cy="33832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03775" y="2404872"/>
            <a:ext cx="64008" cy="305409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ard:1"/>
          <p:cNvSpPr txBox="1"/>
          <p:nvPr/>
        </p:nvSpPr>
        <p:spPr>
          <a:xfrm>
            <a:off x="4504944" y="2560320"/>
            <a:ext cx="3233928" cy="2560320"/>
          </a:xfrm>
          <a:prstGeom prst="rect">
            <a:avLst/>
          </a:prstGeom>
          <a:noFill/>
        </p:spPr>
        <p:txBody>
          <a:bodyPr wrap="square" lIns="54864" tIns="36576" rIns="54864" bIns="36576" anchor="t"/>
          <a:lstStyle/>
          <a:p>
            <a:pPr algn="l">
              <a:spcBef>
                <a:spcPts val="0"/>
              </a:spcBef>
              <a:spcAft>
                <a:spcPts val="0"/>
              </a:spcAft>
            </a:pPr>
            <a:r>
              <a:rPr sz="1500" b="1" i="0">
                <a:solidFill>
                  <a:srgbClr val="231F20"/>
                </a:solidFill>
                <a:latin typeface="Calibri"/>
                <a:ea typeface="Calibri"/>
                <a:cs typeface="Calibri"/>
              </a:rPr>
              <a:t>Runtime</a:t>
            </a:r>
          </a:p>
          <a:p>
            <a:pPr algn="l">
              <a:spcBef>
                <a:spcPts val="0"/>
              </a:spcBef>
              <a:spcAft>
                <a:spcPts val="0"/>
              </a:spcAft>
            </a:pPr>
            <a:r>
              <a:rPr sz="1600" b="0" i="0">
                <a:solidFill>
                  <a:srgbClr val="4B4B4B"/>
                </a:solidFill>
                <a:latin typeface="Calibri"/>
                <a:ea typeface="Calibri"/>
                <a:cs typeface="Calibri"/>
              </a:rPr>
              <a:t>The mode is replay. Azure was not run.</a:t>
            </a:r>
          </a:p>
        </p:txBody>
      </p:sp>
      <p:sp>
        <p:nvSpPr>
          <p:cNvPr id="14" name="Rounded Rectangle 13"/>
          <p:cNvSpPr/>
          <p:nvPr/>
        </p:nvSpPr>
        <p:spPr>
          <a:xfrm>
            <a:off x="8068056" y="2240280"/>
            <a:ext cx="3617976" cy="33832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86344" y="2404872"/>
            <a:ext cx="64008" cy="305409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ard:2"/>
          <p:cNvSpPr txBox="1"/>
          <p:nvPr/>
        </p:nvSpPr>
        <p:spPr>
          <a:xfrm>
            <a:off x="8287512" y="2560320"/>
            <a:ext cx="3233928" cy="2560320"/>
          </a:xfrm>
          <a:prstGeom prst="rect">
            <a:avLst/>
          </a:prstGeom>
          <a:noFill/>
        </p:spPr>
        <p:txBody>
          <a:bodyPr wrap="square" lIns="54864" tIns="36576" rIns="54864" bIns="36576" anchor="t"/>
          <a:lstStyle/>
          <a:p>
            <a:pPr algn="l">
              <a:spcBef>
                <a:spcPts val="0"/>
              </a:spcBef>
              <a:spcAft>
                <a:spcPts val="0"/>
              </a:spcAft>
            </a:pPr>
            <a:r>
              <a:rPr sz="1500" b="1" i="0">
                <a:solidFill>
                  <a:srgbClr val="231F20"/>
                </a:solidFill>
                <a:latin typeface="Calibri"/>
                <a:ea typeface="Calibri"/>
                <a:cs typeface="Calibri"/>
              </a:rPr>
              <a:t>Owner</a:t>
            </a:r>
          </a:p>
          <a:p>
            <a:pPr algn="l">
              <a:spcBef>
                <a:spcPts val="0"/>
              </a:spcBef>
              <a:spcAft>
                <a:spcPts val="0"/>
              </a:spcAft>
            </a:pPr>
            <a:r>
              <a:rPr sz="1600" b="0" i="0">
                <a:solidFill>
                  <a:srgbClr val="4B4B4B"/>
                </a:solidFill>
                <a:latin typeface="Calibri"/>
                <a:ea typeface="Calibri"/>
                <a:cs typeface="Calibri"/>
              </a:rPr>
              <a:t>INC-2025-014 owner stays empty.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13</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Seven moves finish the live path.</a:t>
            </a:r>
          </a:p>
        </p:txBody>
      </p:sp>
      <p:sp>
        <p:nvSpPr>
          <p:cNvPr id="5" name="move"/>
          <p:cNvSpPr/>
          <p:nvPr/>
        </p:nvSpPr>
        <p:spPr>
          <a:xfrm>
            <a:off x="502920" y="1353312"/>
            <a:ext cx="402336" cy="402336"/>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231F20"/>
                </a:solidFill>
                <a:latin typeface="Calibri"/>
                <a:ea typeface="Calibri"/>
                <a:cs typeface="Calibri"/>
              </a:rPr>
              <a:t>1</a:t>
            </a:r>
          </a:p>
        </p:txBody>
      </p:sp>
      <p:sp>
        <p:nvSpPr>
          <p:cNvPr id="6" name="move"/>
          <p:cNvSpPr txBox="1"/>
          <p:nvPr/>
        </p:nvSpPr>
        <p:spPr>
          <a:xfrm>
            <a:off x="1051560" y="1353312"/>
            <a:ext cx="6035040" cy="402336"/>
          </a:xfrm>
          <a:prstGeom prst="rect">
            <a:avLst/>
          </a:prstGeom>
          <a:noFill/>
        </p:spPr>
        <p:txBody>
          <a:bodyPr wrap="square" lIns="0" tIns="36576" rIns="0" bIns="36576" anchor="ctr"/>
          <a:lstStyle/>
          <a:p>
            <a:pPr algn="l">
              <a:spcBef>
                <a:spcPts val="0"/>
              </a:spcBef>
              <a:spcAft>
                <a:spcPts val="0"/>
              </a:spcAft>
            </a:pPr>
            <a:r>
              <a:rPr sz="1600" b="1" i="0">
                <a:solidFill>
                  <a:srgbClr val="231F20"/>
                </a:solidFill>
                <a:latin typeface="Calibri"/>
                <a:ea typeface="Calibri"/>
                <a:cs typeface="Calibri"/>
              </a:rPr>
              <a:t>Open the Replay tab</a:t>
            </a:r>
          </a:p>
        </p:txBody>
      </p:sp>
      <p:sp>
        <p:nvSpPr>
          <p:cNvPr id="7" name="move"/>
          <p:cNvSpPr txBox="1"/>
          <p:nvPr/>
        </p:nvSpPr>
        <p:spPr>
          <a:xfrm>
            <a:off x="7040880" y="1353312"/>
            <a:ext cx="4480560" cy="402336"/>
          </a:xfrm>
          <a:prstGeom prst="rect">
            <a:avLst/>
          </a:prstGeom>
          <a:noFill/>
        </p:spPr>
        <p:txBody>
          <a:bodyPr wrap="square" lIns="0" tIns="36576" rIns="0" bIns="36576" anchor="ctr"/>
          <a:lstStyle/>
          <a:p>
            <a:pPr algn="r">
              <a:spcBef>
                <a:spcPts val="0"/>
              </a:spcBef>
              <a:spcAft>
                <a:spcPts val="0"/>
              </a:spcAft>
            </a:pPr>
            <a:r>
              <a:rPr sz="1300" b="0" i="0">
                <a:solidFill>
                  <a:srgbClr val="666666"/>
                </a:solidFill>
                <a:latin typeface="Calibri"/>
                <a:ea typeface="Calibri"/>
                <a:cs typeface="Calibri"/>
              </a:rPr>
              <a:t>Point at C00001646</a:t>
            </a:r>
          </a:p>
        </p:txBody>
      </p:sp>
      <p:sp>
        <p:nvSpPr>
          <p:cNvPr id="8" name="move"/>
          <p:cNvSpPr/>
          <p:nvPr/>
        </p:nvSpPr>
        <p:spPr>
          <a:xfrm>
            <a:off x="502920" y="2029967"/>
            <a:ext cx="402336" cy="402336"/>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231F20"/>
                </a:solidFill>
                <a:latin typeface="Calibri"/>
                <a:ea typeface="Calibri"/>
                <a:cs typeface="Calibri"/>
              </a:rPr>
              <a:t>2</a:t>
            </a:r>
          </a:p>
        </p:txBody>
      </p:sp>
      <p:sp>
        <p:nvSpPr>
          <p:cNvPr id="9" name="move"/>
          <p:cNvSpPr txBox="1"/>
          <p:nvPr/>
        </p:nvSpPr>
        <p:spPr>
          <a:xfrm>
            <a:off x="1051560" y="2029967"/>
            <a:ext cx="6035040" cy="402336"/>
          </a:xfrm>
          <a:prstGeom prst="rect">
            <a:avLst/>
          </a:prstGeom>
          <a:noFill/>
        </p:spPr>
        <p:txBody>
          <a:bodyPr wrap="square" lIns="0" tIns="36576" rIns="0" bIns="36576" anchor="ctr"/>
          <a:lstStyle/>
          <a:p>
            <a:pPr algn="l">
              <a:spcBef>
                <a:spcPts val="0"/>
              </a:spcBef>
              <a:spcAft>
                <a:spcPts val="0"/>
              </a:spcAft>
            </a:pPr>
            <a:r>
              <a:rPr sz="1600" b="1" i="0">
                <a:solidFill>
                  <a:srgbClr val="231F20"/>
                </a:solidFill>
                <a:latin typeface="Calibri"/>
                <a:ea typeface="Calibri"/>
                <a:cs typeface="Calibri"/>
              </a:rPr>
              <a:t>Read the situation</a:t>
            </a:r>
          </a:p>
        </p:txBody>
      </p:sp>
      <p:sp>
        <p:nvSpPr>
          <p:cNvPr id="10" name="move"/>
          <p:cNvSpPr txBox="1"/>
          <p:nvPr/>
        </p:nvSpPr>
        <p:spPr>
          <a:xfrm>
            <a:off x="7040880" y="2029967"/>
            <a:ext cx="4480560" cy="402336"/>
          </a:xfrm>
          <a:prstGeom prst="rect">
            <a:avLst/>
          </a:prstGeom>
          <a:noFill/>
        </p:spPr>
        <p:txBody>
          <a:bodyPr wrap="square" lIns="0" tIns="36576" rIns="0" bIns="36576" anchor="ctr"/>
          <a:lstStyle/>
          <a:p>
            <a:pPr algn="r">
              <a:spcBef>
                <a:spcPts val="0"/>
              </a:spcBef>
              <a:spcAft>
                <a:spcPts val="0"/>
              </a:spcAft>
            </a:pPr>
            <a:r>
              <a:rPr sz="1300" b="0" i="0">
                <a:solidFill>
                  <a:srgbClr val="666666"/>
                </a:solidFill>
                <a:latin typeface="Calibri"/>
                <a:ea typeface="Calibri"/>
                <a:cs typeface="Calibri"/>
              </a:rPr>
              <a:t>Point at 19:09 and 20:09</a:t>
            </a:r>
          </a:p>
        </p:txBody>
      </p:sp>
      <p:sp>
        <p:nvSpPr>
          <p:cNvPr id="11" name="move"/>
          <p:cNvSpPr/>
          <p:nvPr/>
        </p:nvSpPr>
        <p:spPr>
          <a:xfrm>
            <a:off x="502920" y="2706624"/>
            <a:ext cx="402336" cy="402336"/>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231F20"/>
                </a:solidFill>
                <a:latin typeface="Calibri"/>
                <a:ea typeface="Calibri"/>
                <a:cs typeface="Calibri"/>
              </a:rPr>
              <a:t>3</a:t>
            </a:r>
          </a:p>
        </p:txBody>
      </p:sp>
      <p:sp>
        <p:nvSpPr>
          <p:cNvPr id="12" name="move"/>
          <p:cNvSpPr txBox="1"/>
          <p:nvPr/>
        </p:nvSpPr>
        <p:spPr>
          <a:xfrm>
            <a:off x="1051560" y="2706624"/>
            <a:ext cx="6035040" cy="402336"/>
          </a:xfrm>
          <a:prstGeom prst="rect">
            <a:avLst/>
          </a:prstGeom>
          <a:noFill/>
        </p:spPr>
        <p:txBody>
          <a:bodyPr wrap="square" lIns="0" tIns="36576" rIns="0" bIns="36576" anchor="ctr"/>
          <a:lstStyle/>
          <a:p>
            <a:pPr algn="l">
              <a:spcBef>
                <a:spcPts val="0"/>
              </a:spcBef>
              <a:spcAft>
                <a:spcPts val="0"/>
              </a:spcAft>
            </a:pPr>
            <a:r>
              <a:rPr sz="1600" b="1" i="0">
                <a:solidFill>
                  <a:srgbClr val="231F20"/>
                </a:solidFill>
                <a:latin typeface="Calibri"/>
                <a:ea typeface="Calibri"/>
                <a:cs typeface="Calibri"/>
              </a:rPr>
              <a:t>Click Review this delivery</a:t>
            </a:r>
          </a:p>
        </p:txBody>
      </p:sp>
      <p:sp>
        <p:nvSpPr>
          <p:cNvPr id="13" name="move"/>
          <p:cNvSpPr txBox="1"/>
          <p:nvPr/>
        </p:nvSpPr>
        <p:spPr>
          <a:xfrm>
            <a:off x="7040880" y="2706624"/>
            <a:ext cx="4480560" cy="402336"/>
          </a:xfrm>
          <a:prstGeom prst="rect">
            <a:avLst/>
          </a:prstGeom>
          <a:noFill/>
        </p:spPr>
        <p:txBody>
          <a:bodyPr wrap="square" lIns="0" tIns="36576" rIns="0" bIns="36576" anchor="ctr"/>
          <a:lstStyle/>
          <a:p>
            <a:pPr algn="r">
              <a:spcBef>
                <a:spcPts val="0"/>
              </a:spcBef>
              <a:spcAft>
                <a:spcPts val="0"/>
              </a:spcAft>
            </a:pPr>
            <a:r>
              <a:rPr sz="1300" b="0" i="0">
                <a:solidFill>
                  <a:srgbClr val="666666"/>
                </a:solidFill>
                <a:latin typeface="Calibri"/>
                <a:ea typeface="Calibri"/>
                <a:cs typeface="Calibri"/>
              </a:rPr>
              <a:t>Point at count 197</a:t>
            </a:r>
          </a:p>
        </p:txBody>
      </p:sp>
      <p:sp>
        <p:nvSpPr>
          <p:cNvPr id="14" name="move"/>
          <p:cNvSpPr/>
          <p:nvPr/>
        </p:nvSpPr>
        <p:spPr>
          <a:xfrm>
            <a:off x="502920" y="3383279"/>
            <a:ext cx="402336" cy="402336"/>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231F20"/>
                </a:solidFill>
                <a:latin typeface="Calibri"/>
                <a:ea typeface="Calibri"/>
                <a:cs typeface="Calibri"/>
              </a:rPr>
              <a:t>4</a:t>
            </a:r>
          </a:p>
        </p:txBody>
      </p:sp>
      <p:sp>
        <p:nvSpPr>
          <p:cNvPr id="15" name="move"/>
          <p:cNvSpPr txBox="1"/>
          <p:nvPr/>
        </p:nvSpPr>
        <p:spPr>
          <a:xfrm>
            <a:off x="1051560" y="3383279"/>
            <a:ext cx="6035040" cy="402336"/>
          </a:xfrm>
          <a:prstGeom prst="rect">
            <a:avLst/>
          </a:prstGeom>
          <a:noFill/>
        </p:spPr>
        <p:txBody>
          <a:bodyPr wrap="square" lIns="0" tIns="36576" rIns="0" bIns="36576" anchor="ctr"/>
          <a:lstStyle/>
          <a:p>
            <a:pPr algn="l">
              <a:spcBef>
                <a:spcPts val="0"/>
              </a:spcBef>
              <a:spcAft>
                <a:spcPts val="0"/>
              </a:spcAft>
            </a:pPr>
            <a:r>
              <a:rPr sz="1600" b="1" i="0">
                <a:solidFill>
                  <a:srgbClr val="231F20"/>
                </a:solidFill>
                <a:latin typeface="Calibri"/>
                <a:ea typeface="Calibri"/>
                <a:cs typeface="Calibri"/>
              </a:rPr>
              <a:t>Click Drop as RT-01</a:t>
            </a:r>
          </a:p>
        </p:txBody>
      </p:sp>
      <p:sp>
        <p:nvSpPr>
          <p:cNvPr id="16" name="move"/>
          <p:cNvSpPr txBox="1"/>
          <p:nvPr/>
        </p:nvSpPr>
        <p:spPr>
          <a:xfrm>
            <a:off x="7040880" y="3383279"/>
            <a:ext cx="4480560" cy="402336"/>
          </a:xfrm>
          <a:prstGeom prst="rect">
            <a:avLst/>
          </a:prstGeom>
          <a:noFill/>
        </p:spPr>
        <p:txBody>
          <a:bodyPr wrap="square" lIns="0" tIns="36576" rIns="0" bIns="36576" anchor="ctr"/>
          <a:lstStyle/>
          <a:p>
            <a:pPr algn="r">
              <a:spcBef>
                <a:spcPts val="0"/>
              </a:spcBef>
              <a:spcAft>
                <a:spcPts val="0"/>
              </a:spcAft>
            </a:pPr>
            <a:r>
              <a:rPr sz="1300" b="0" i="0">
                <a:solidFill>
                  <a:srgbClr val="666666"/>
                </a:solidFill>
                <a:latin typeface="Calibri"/>
                <a:ea typeface="Calibri"/>
                <a:cs typeface="Calibri"/>
              </a:rPr>
              <a:t>Point at Refused</a:t>
            </a:r>
          </a:p>
        </p:txBody>
      </p:sp>
      <p:sp>
        <p:nvSpPr>
          <p:cNvPr id="17" name="move"/>
          <p:cNvSpPr/>
          <p:nvPr/>
        </p:nvSpPr>
        <p:spPr>
          <a:xfrm>
            <a:off x="502920" y="4059935"/>
            <a:ext cx="402336" cy="402336"/>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231F20"/>
                </a:solidFill>
                <a:latin typeface="Calibri"/>
                <a:ea typeface="Calibri"/>
                <a:cs typeface="Calibri"/>
              </a:rPr>
              <a:t>5</a:t>
            </a:r>
          </a:p>
        </p:txBody>
      </p:sp>
      <p:sp>
        <p:nvSpPr>
          <p:cNvPr id="18" name="move"/>
          <p:cNvSpPr txBox="1"/>
          <p:nvPr/>
        </p:nvSpPr>
        <p:spPr>
          <a:xfrm>
            <a:off x="1051560" y="4059935"/>
            <a:ext cx="6035040" cy="402336"/>
          </a:xfrm>
          <a:prstGeom prst="rect">
            <a:avLst/>
          </a:prstGeom>
          <a:noFill/>
        </p:spPr>
        <p:txBody>
          <a:bodyPr wrap="square" lIns="0" tIns="36576" rIns="0" bIns="36576" anchor="ctr"/>
          <a:lstStyle/>
          <a:p>
            <a:pPr algn="l">
              <a:spcBef>
                <a:spcPts val="0"/>
              </a:spcBef>
              <a:spcAft>
                <a:spcPts val="0"/>
              </a:spcAft>
            </a:pPr>
            <a:r>
              <a:rPr sz="1600" b="1" i="0">
                <a:solidFill>
                  <a:srgbClr val="231F20"/>
                </a:solidFill>
                <a:latin typeface="Calibri"/>
                <a:ea typeface="Calibri"/>
                <a:cs typeface="Calibri"/>
              </a:rPr>
              <a:t>Switch the role to RT-05</a:t>
            </a:r>
          </a:p>
        </p:txBody>
      </p:sp>
      <p:sp>
        <p:nvSpPr>
          <p:cNvPr id="19" name="move"/>
          <p:cNvSpPr txBox="1"/>
          <p:nvPr/>
        </p:nvSpPr>
        <p:spPr>
          <a:xfrm>
            <a:off x="7040880" y="4059935"/>
            <a:ext cx="4480560" cy="402336"/>
          </a:xfrm>
          <a:prstGeom prst="rect">
            <a:avLst/>
          </a:prstGeom>
          <a:noFill/>
        </p:spPr>
        <p:txBody>
          <a:bodyPr wrap="square" lIns="0" tIns="36576" rIns="0" bIns="36576" anchor="ctr"/>
          <a:lstStyle/>
          <a:p>
            <a:pPr algn="r">
              <a:spcBef>
                <a:spcPts val="0"/>
              </a:spcBef>
              <a:spcAft>
                <a:spcPts val="0"/>
              </a:spcAft>
            </a:pPr>
            <a:r>
              <a:rPr sz="1300" b="0" i="0">
                <a:solidFill>
                  <a:srgbClr val="666666"/>
                </a:solidFill>
                <a:latin typeface="Calibri"/>
                <a:ea typeface="Calibri"/>
                <a:cs typeface="Calibri"/>
              </a:rPr>
              <a:t>Point at the role picker</a:t>
            </a:r>
          </a:p>
        </p:txBody>
      </p:sp>
      <p:sp>
        <p:nvSpPr>
          <p:cNvPr id="20" name="move"/>
          <p:cNvSpPr/>
          <p:nvPr/>
        </p:nvSpPr>
        <p:spPr>
          <a:xfrm>
            <a:off x="502920" y="4736592"/>
            <a:ext cx="402336" cy="402336"/>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231F20"/>
                </a:solidFill>
                <a:latin typeface="Calibri"/>
                <a:ea typeface="Calibri"/>
                <a:cs typeface="Calibri"/>
              </a:rPr>
              <a:t>6</a:t>
            </a:r>
          </a:p>
        </p:txBody>
      </p:sp>
      <p:sp>
        <p:nvSpPr>
          <p:cNvPr id="21" name="move"/>
          <p:cNvSpPr txBox="1"/>
          <p:nvPr/>
        </p:nvSpPr>
        <p:spPr>
          <a:xfrm>
            <a:off x="1051560" y="4736592"/>
            <a:ext cx="6035040" cy="402336"/>
          </a:xfrm>
          <a:prstGeom prst="rect">
            <a:avLst/>
          </a:prstGeom>
          <a:noFill/>
        </p:spPr>
        <p:txBody>
          <a:bodyPr wrap="square" lIns="0" tIns="36576" rIns="0" bIns="36576" anchor="ctr"/>
          <a:lstStyle/>
          <a:p>
            <a:pPr algn="l">
              <a:spcBef>
                <a:spcPts val="0"/>
              </a:spcBef>
              <a:spcAft>
                <a:spcPts val="0"/>
              </a:spcAft>
            </a:pPr>
            <a:r>
              <a:rPr sz="1600" b="1" i="0">
                <a:solidFill>
                  <a:srgbClr val="231F20"/>
                </a:solidFill>
                <a:latin typeface="Calibri"/>
                <a:ea typeface="Calibri"/>
                <a:cs typeface="Calibri"/>
              </a:rPr>
              <a:t>Click Drop this duplicate</a:t>
            </a:r>
          </a:p>
        </p:txBody>
      </p:sp>
      <p:sp>
        <p:nvSpPr>
          <p:cNvPr id="22" name="move"/>
          <p:cNvSpPr txBox="1"/>
          <p:nvPr/>
        </p:nvSpPr>
        <p:spPr>
          <a:xfrm>
            <a:off x="7040880" y="4736592"/>
            <a:ext cx="4480560" cy="402336"/>
          </a:xfrm>
          <a:prstGeom prst="rect">
            <a:avLst/>
          </a:prstGeom>
          <a:noFill/>
        </p:spPr>
        <p:txBody>
          <a:bodyPr wrap="square" lIns="0" tIns="36576" rIns="0" bIns="36576" anchor="ctr"/>
          <a:lstStyle/>
          <a:p>
            <a:pPr algn="r">
              <a:spcBef>
                <a:spcPts val="0"/>
              </a:spcBef>
              <a:spcAft>
                <a:spcPts val="0"/>
              </a:spcAft>
            </a:pPr>
            <a:r>
              <a:rPr sz="1300" b="0" i="0">
                <a:solidFill>
                  <a:srgbClr val="666666"/>
                </a:solidFill>
                <a:latin typeface="Calibri"/>
                <a:ea typeface="Calibri"/>
                <a:cs typeface="Calibri"/>
              </a:rPr>
              <a:t>Point at dropped and 67</a:t>
            </a:r>
          </a:p>
        </p:txBody>
      </p:sp>
      <p:sp>
        <p:nvSpPr>
          <p:cNvPr id="23" name="move"/>
          <p:cNvSpPr/>
          <p:nvPr/>
        </p:nvSpPr>
        <p:spPr>
          <a:xfrm>
            <a:off x="502920" y="5413248"/>
            <a:ext cx="402336" cy="402336"/>
          </a:xfrm>
          <a:prstGeom prst="ellipse">
            <a:avLst/>
          </a:prstGeom>
          <a:solidFill>
            <a:srgbClr val="FFFFFF"/>
          </a:solidFill>
          <a:ln w="17780">
            <a:solidFill>
              <a:srgbClr val="ED1C24"/>
            </a:solid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231F20"/>
                </a:solidFill>
                <a:latin typeface="Calibri"/>
                <a:ea typeface="Calibri"/>
                <a:cs typeface="Calibri"/>
              </a:rPr>
              <a:t>7</a:t>
            </a:r>
          </a:p>
        </p:txBody>
      </p:sp>
      <p:sp>
        <p:nvSpPr>
          <p:cNvPr id="24" name="move"/>
          <p:cNvSpPr txBox="1"/>
          <p:nvPr/>
        </p:nvSpPr>
        <p:spPr>
          <a:xfrm>
            <a:off x="1051560" y="5413248"/>
            <a:ext cx="6035040" cy="402336"/>
          </a:xfrm>
          <a:prstGeom prst="rect">
            <a:avLst/>
          </a:prstGeom>
          <a:noFill/>
        </p:spPr>
        <p:txBody>
          <a:bodyPr wrap="square" lIns="0" tIns="36576" rIns="0" bIns="36576" anchor="ctr"/>
          <a:lstStyle/>
          <a:p>
            <a:pPr algn="l">
              <a:spcBef>
                <a:spcPts val="0"/>
              </a:spcBef>
              <a:spcAft>
                <a:spcPts val="0"/>
              </a:spcAft>
            </a:pPr>
            <a:r>
              <a:rPr sz="1600" b="1" i="0">
                <a:solidFill>
                  <a:srgbClr val="231F20"/>
                </a:solidFill>
                <a:latin typeface="Calibri"/>
                <a:ea typeface="Calibri"/>
                <a:cs typeface="Calibri"/>
              </a:rPr>
              <a:t>Open the Recipe tab</a:t>
            </a:r>
          </a:p>
        </p:txBody>
      </p:sp>
      <p:sp>
        <p:nvSpPr>
          <p:cNvPr id="25" name="move"/>
          <p:cNvSpPr txBox="1"/>
          <p:nvPr/>
        </p:nvSpPr>
        <p:spPr>
          <a:xfrm>
            <a:off x="7040880" y="5413248"/>
            <a:ext cx="4480560" cy="402336"/>
          </a:xfrm>
          <a:prstGeom prst="rect">
            <a:avLst/>
          </a:prstGeom>
          <a:noFill/>
        </p:spPr>
        <p:txBody>
          <a:bodyPr wrap="square" lIns="0" tIns="36576" rIns="0" bIns="36576" anchor="ctr"/>
          <a:lstStyle/>
          <a:p>
            <a:pPr algn="r">
              <a:spcBef>
                <a:spcPts val="0"/>
              </a:spcBef>
              <a:spcAft>
                <a:spcPts val="0"/>
              </a:spcAft>
            </a:pPr>
            <a:r>
              <a:rPr sz="1300" b="0" i="0">
                <a:solidFill>
                  <a:srgbClr val="666666"/>
                </a:solidFill>
                <a:latin typeface="Calibri"/>
                <a:ea typeface="Calibri"/>
                <a:cs typeface="Calibri"/>
              </a:rPr>
              <a:t>Point at Ready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14</a:t>
            </a:r>
          </a:p>
        </p:txBody>
      </p:sp>
      <p:sp>
        <p:nvSpPr>
          <p:cNvPr id="4" name="title"/>
          <p:cNvSpPr txBox="1"/>
          <p:nvPr/>
        </p:nvSpPr>
        <p:spPr>
          <a:xfrm>
            <a:off x="502920" y="1828800"/>
            <a:ext cx="10515600" cy="1463040"/>
          </a:xfrm>
          <a:prstGeom prst="rect">
            <a:avLst/>
          </a:prstGeom>
          <a:noFill/>
        </p:spPr>
        <p:txBody>
          <a:bodyPr wrap="square" lIns="0" tIns="36576" rIns="0" bIns="36576" anchor="t"/>
          <a:lstStyle/>
          <a:p>
            <a:pPr algn="l">
              <a:spcBef>
                <a:spcPts val="0"/>
              </a:spcBef>
              <a:spcAft>
                <a:spcPts val="0"/>
              </a:spcAft>
            </a:pPr>
            <a:r>
              <a:rPr sz="2800" b="1" i="0">
                <a:solidFill>
                  <a:srgbClr val="231F20"/>
                </a:solidFill>
                <a:latin typeface="Calibri"/>
                <a:ea typeface="Calibri"/>
                <a:cs typeface="Calibri"/>
              </a:rPr>
              <a:t>The reviewer can finish this case on the page.</a:t>
            </a:r>
          </a:p>
        </p:txBody>
      </p:sp>
      <p:sp>
        <p:nvSpPr>
          <p:cNvPr id="5" name="Rounded Rectangle 4"/>
          <p:cNvSpPr/>
          <p:nvPr/>
        </p:nvSpPr>
        <p:spPr>
          <a:xfrm>
            <a:off x="502920" y="4663440"/>
            <a:ext cx="3617976" cy="14173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4828031"/>
            <a:ext cx="64008" cy="108813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eq"/>
          <p:cNvSpPr/>
          <p:nvPr/>
        </p:nvSpPr>
        <p:spPr>
          <a:xfrm>
            <a:off x="704088" y="4864607"/>
            <a:ext cx="365760" cy="365760"/>
          </a:xfrm>
          <a:prstGeom prst="ellipse">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1</a:t>
            </a:r>
          </a:p>
        </p:txBody>
      </p:sp>
      <p:sp>
        <p:nvSpPr>
          <p:cNvPr id="8" name="card:0"/>
          <p:cNvSpPr txBox="1"/>
          <p:nvPr/>
        </p:nvSpPr>
        <p:spPr>
          <a:xfrm>
            <a:off x="1161288" y="4828031"/>
            <a:ext cx="2795016" cy="1051560"/>
          </a:xfrm>
          <a:prstGeom prst="rect">
            <a:avLst/>
          </a:prstGeom>
          <a:noFill/>
        </p:spPr>
        <p:txBody>
          <a:bodyPr wrap="square" lIns="36576" tIns="36576" rIns="36576" bIns="36576" anchor="ctr"/>
          <a:lstStyle/>
          <a:p>
            <a:pPr algn="l">
              <a:spcBef>
                <a:spcPts val="0"/>
              </a:spcBef>
              <a:spcAft>
                <a:spcPts val="0"/>
              </a:spcAft>
            </a:pPr>
            <a:r>
              <a:rPr sz="1400" b="0" i="0">
                <a:solidFill>
                  <a:srgbClr val="231F20"/>
                </a:solidFill>
                <a:latin typeface="Calibri"/>
                <a:ea typeface="Calibri"/>
                <a:cs typeface="Calibri"/>
              </a:rPr>
              <a:t>Review and drop finish on Replay.</a:t>
            </a:r>
          </a:p>
        </p:txBody>
      </p:sp>
      <p:sp>
        <p:nvSpPr>
          <p:cNvPr id="9" name="Rounded Rectangle 8"/>
          <p:cNvSpPr/>
          <p:nvPr/>
        </p:nvSpPr>
        <p:spPr>
          <a:xfrm>
            <a:off x="4285488" y="4663440"/>
            <a:ext cx="3617976" cy="14173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03775" y="4828031"/>
            <a:ext cx="64008" cy="108813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eq"/>
          <p:cNvSpPr/>
          <p:nvPr/>
        </p:nvSpPr>
        <p:spPr>
          <a:xfrm>
            <a:off x="4486656" y="4864607"/>
            <a:ext cx="365760" cy="365760"/>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2</a:t>
            </a:r>
          </a:p>
        </p:txBody>
      </p:sp>
      <p:sp>
        <p:nvSpPr>
          <p:cNvPr id="12" name="card:1"/>
          <p:cNvSpPr txBox="1"/>
          <p:nvPr/>
        </p:nvSpPr>
        <p:spPr>
          <a:xfrm>
            <a:off x="4943856" y="4828031"/>
            <a:ext cx="2795016" cy="1051560"/>
          </a:xfrm>
          <a:prstGeom prst="rect">
            <a:avLst/>
          </a:prstGeom>
          <a:noFill/>
        </p:spPr>
        <p:txBody>
          <a:bodyPr wrap="square" lIns="36576" tIns="36576" rIns="36576" bIns="36576" anchor="ctr"/>
          <a:lstStyle/>
          <a:p>
            <a:pPr algn="l">
              <a:spcBef>
                <a:spcPts val="0"/>
              </a:spcBef>
              <a:spcAft>
                <a:spcPts val="0"/>
              </a:spcAft>
            </a:pPr>
            <a:r>
              <a:rPr sz="1400" b="0" i="0">
                <a:solidFill>
                  <a:srgbClr val="231F20"/>
                </a:solidFill>
                <a:latin typeface="Calibri"/>
                <a:ea typeface="Calibri"/>
                <a:cs typeface="Calibri"/>
              </a:rPr>
              <a:t>The queue count changes on screen.</a:t>
            </a:r>
          </a:p>
        </p:txBody>
      </p:sp>
      <p:sp>
        <p:nvSpPr>
          <p:cNvPr id="13" name="Rounded Rectangle 12"/>
          <p:cNvSpPr/>
          <p:nvPr/>
        </p:nvSpPr>
        <p:spPr>
          <a:xfrm>
            <a:off x="8068056" y="4663440"/>
            <a:ext cx="3617976" cy="14173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86344" y="4828031"/>
            <a:ext cx="64008" cy="1088136"/>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eq"/>
          <p:cNvSpPr/>
          <p:nvPr/>
        </p:nvSpPr>
        <p:spPr>
          <a:xfrm>
            <a:off x="8269224" y="4864607"/>
            <a:ext cx="365760" cy="365760"/>
          </a:xfrm>
          <a:prstGeom prst="ellipse">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600" b="1" i="0">
                <a:solidFill>
                  <a:srgbClr val="FFFFFF"/>
                </a:solidFill>
                <a:latin typeface="Calibri"/>
                <a:ea typeface="Calibri"/>
                <a:cs typeface="Calibri"/>
              </a:rPr>
              <a:t>3</a:t>
            </a:r>
          </a:p>
        </p:txBody>
      </p:sp>
      <p:sp>
        <p:nvSpPr>
          <p:cNvPr id="16" name="card:2"/>
          <p:cNvSpPr txBox="1"/>
          <p:nvPr/>
        </p:nvSpPr>
        <p:spPr>
          <a:xfrm>
            <a:off x="8726424" y="4828031"/>
            <a:ext cx="2795016" cy="1051560"/>
          </a:xfrm>
          <a:prstGeom prst="rect">
            <a:avLst/>
          </a:prstGeom>
          <a:noFill/>
        </p:spPr>
        <p:txBody>
          <a:bodyPr wrap="square" lIns="36576" tIns="36576" rIns="36576" bIns="36576" anchor="ctr"/>
          <a:lstStyle/>
          <a:p>
            <a:pPr algn="l">
              <a:spcBef>
                <a:spcPts val="0"/>
              </a:spcBef>
              <a:spcAft>
                <a:spcPts val="0"/>
              </a:spcAft>
            </a:pPr>
            <a:r>
              <a:rPr sz="1400" b="0" i="0">
                <a:solidFill>
                  <a:srgbClr val="231F20"/>
                </a:solidFill>
                <a:latin typeface="Calibri"/>
                <a:ea typeface="Calibri"/>
                <a:cs typeface="Calibri"/>
              </a:rPr>
              <a:t>Refusal names RT-01. Count 67 stays.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15</a:t>
            </a:r>
          </a:p>
        </p:txBody>
      </p:sp>
      <p:sp>
        <p:nvSpPr>
          <p:cNvPr id="4" name="pill-label"/>
          <p:cNvSpPr/>
          <p:nvPr/>
        </p:nvSpPr>
        <p:spPr>
          <a:xfrm>
            <a:off x="502920" y="2148840"/>
            <a:ext cx="1051560" cy="329184"/>
          </a:xfrm>
          <a:prstGeom prst="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Bef>
                <a:spcPts val="0"/>
              </a:spcBef>
              <a:spcAft>
                <a:spcPts val="0"/>
              </a:spcAft>
            </a:pPr>
            <a:r>
              <a:rPr sz="900" b="1" i="0">
                <a:solidFill>
                  <a:srgbClr val="ED1C24"/>
                </a:solidFill>
                <a:latin typeface="Calibri"/>
                <a:ea typeface="Calibri"/>
                <a:cs typeface="Calibri"/>
              </a:rPr>
              <a:t>Demo</a:t>
            </a:r>
          </a:p>
        </p:txBody>
      </p:sp>
      <p:sp>
        <p:nvSpPr>
          <p:cNvPr id="5" name="title"/>
          <p:cNvSpPr txBox="1"/>
          <p:nvPr/>
        </p:nvSpPr>
        <p:spPr>
          <a:xfrm>
            <a:off x="502920" y="2697480"/>
            <a:ext cx="10241280" cy="128016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These slides hold the measured paper walk.</a:t>
            </a:r>
          </a:p>
        </p:txBody>
      </p:sp>
      <p:sp>
        <p:nvSpPr>
          <p:cNvPr id="6" name="support"/>
          <p:cNvSpPr txBox="1"/>
          <p:nvPr/>
        </p:nvSpPr>
        <p:spPr>
          <a:xfrm>
            <a:off x="502920" y="4069080"/>
            <a:ext cx="9601200" cy="731520"/>
          </a:xfrm>
          <a:prstGeom prst="rect">
            <a:avLst/>
          </a:prstGeom>
          <a:noFill/>
        </p:spPr>
        <p:txBody>
          <a:bodyPr wrap="square" lIns="0" tIns="36576" rIns="0" bIns="36576" anchor="t"/>
          <a:lstStyle/>
          <a:p>
            <a:pPr algn="l">
              <a:spcBef>
                <a:spcPts val="0"/>
              </a:spcBef>
              <a:spcAft>
                <a:spcPts val="0"/>
              </a:spcAft>
            </a:pPr>
            <a:r>
              <a:rPr sz="1600" b="0" i="0">
                <a:solidFill>
                  <a:srgbClr val="666666"/>
                </a:solidFill>
                <a:latin typeface="Calibri"/>
                <a:ea typeface="Calibri"/>
                <a:cs typeface="Calibri"/>
              </a:rPr>
              <a:t>Open them when a reviewer asks for the counts behind the console.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 name="Connector 8"/>
          <p:cNvCxnSpPr/>
          <p:nvPr/>
        </p:nvCxnSpPr>
        <p:spPr>
          <a:xfrm>
            <a:off x="502920" y="2231136"/>
            <a:ext cx="31089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611880" y="2231136"/>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903720" y="2231136"/>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02920" y="2706624"/>
            <a:ext cx="31089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611880" y="2706624"/>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903720" y="2706624"/>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2920" y="3182112"/>
            <a:ext cx="31089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11880" y="3182112"/>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03720" y="3182112"/>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02920" y="3657600"/>
            <a:ext cx="31089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11880" y="3657600"/>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903720" y="3657600"/>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2920" y="4133087"/>
            <a:ext cx="31089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611880" y="4133087"/>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903720" y="4133087"/>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02920" y="4608575"/>
            <a:ext cx="31089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11880" y="4608575"/>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903720" y="4608575"/>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02920" y="5084064"/>
            <a:ext cx="31089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611880" y="5084064"/>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903720" y="5084064"/>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2920" y="5559552"/>
            <a:ext cx="31089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611880" y="5559552"/>
            <a:ext cx="329184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903720" y="5559552"/>
            <a:ext cx="20116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16</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Feeds, rules, and reports disagree on the counts.</a:t>
            </a:r>
          </a:p>
        </p:txBody>
      </p:sp>
      <p:sp>
        <p:nvSpPr>
          <p:cNvPr id="5" name="table"/>
          <p:cNvSpPr/>
          <p:nvPr/>
        </p:nvSpPr>
        <p:spPr>
          <a:xfrm>
            <a:off x="502920" y="1371600"/>
            <a:ext cx="310896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Defect</a:t>
            </a:r>
          </a:p>
        </p:txBody>
      </p:sp>
      <p:sp>
        <p:nvSpPr>
          <p:cNvPr id="6" name="table"/>
          <p:cNvSpPr/>
          <p:nvPr/>
        </p:nvSpPr>
        <p:spPr>
          <a:xfrm>
            <a:off x="3611880" y="1371600"/>
            <a:ext cx="329184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Count</a:t>
            </a:r>
          </a:p>
        </p:txBody>
      </p:sp>
      <p:sp>
        <p:nvSpPr>
          <p:cNvPr id="7" name="table"/>
          <p:cNvSpPr/>
          <p:nvPr/>
        </p:nvSpPr>
        <p:spPr>
          <a:xfrm>
            <a:off x="6903720" y="1371600"/>
            <a:ext cx="201168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Honesty</a:t>
            </a:r>
          </a:p>
        </p:txBody>
      </p:sp>
      <p:sp>
        <p:nvSpPr>
          <p:cNvPr id="8" name="table"/>
          <p:cNvSpPr/>
          <p:nvPr/>
        </p:nvSpPr>
        <p:spPr>
          <a:xfrm>
            <a:off x="502920" y="1755648"/>
            <a:ext cx="310896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Recipe mismatch</a:t>
            </a:r>
          </a:p>
        </p:txBody>
      </p:sp>
      <p:sp>
        <p:nvSpPr>
          <p:cNvPr id="10" name="table"/>
          <p:cNvSpPr/>
          <p:nvPr/>
        </p:nvSpPr>
        <p:spPr>
          <a:xfrm>
            <a:off x="3611880" y="1755648"/>
            <a:ext cx="32918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91 of 125 steps</a:t>
            </a:r>
          </a:p>
        </p:txBody>
      </p:sp>
      <p:sp>
        <p:nvSpPr>
          <p:cNvPr id="12" name="table"/>
          <p:cNvSpPr/>
          <p:nvPr/>
        </p:nvSpPr>
        <p:spPr>
          <a:xfrm>
            <a:off x="6903720" y="1755648"/>
            <a:ext cx="201168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14" name="table"/>
          <p:cNvSpPr/>
          <p:nvPr/>
        </p:nvSpPr>
        <p:spPr>
          <a:xfrm>
            <a:off x="502920" y="2231136"/>
            <a:ext cx="310896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Replay feeds</a:t>
            </a:r>
          </a:p>
        </p:txBody>
      </p:sp>
      <p:sp>
        <p:nvSpPr>
          <p:cNvPr id="16" name="table"/>
          <p:cNvSpPr/>
          <p:nvPr/>
        </p:nvSpPr>
        <p:spPr>
          <a:xfrm>
            <a:off x="3611880" y="2231136"/>
            <a:ext cx="329184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67 REPLAY rows</a:t>
            </a:r>
          </a:p>
        </p:txBody>
      </p:sp>
      <p:sp>
        <p:nvSpPr>
          <p:cNvPr id="18" name="table"/>
          <p:cNvSpPr/>
          <p:nvPr/>
        </p:nvSpPr>
        <p:spPr>
          <a:xfrm>
            <a:off x="6903720" y="2231136"/>
            <a:ext cx="201168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20" name="table"/>
          <p:cNvSpPr/>
          <p:nvPr/>
        </p:nvSpPr>
        <p:spPr>
          <a:xfrm>
            <a:off x="502920" y="2706624"/>
            <a:ext cx="310896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Mixed clocks</a:t>
            </a:r>
          </a:p>
        </p:txBody>
      </p:sp>
      <p:sp>
        <p:nvSpPr>
          <p:cNvPr id="22" name="table"/>
          <p:cNvSpPr/>
          <p:nvPr/>
        </p:nvSpPr>
        <p:spPr>
          <a:xfrm>
            <a:off x="3611880" y="2706624"/>
            <a:ext cx="32918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11,985 of 12,500</a:t>
            </a:r>
          </a:p>
        </p:txBody>
      </p:sp>
      <p:sp>
        <p:nvSpPr>
          <p:cNvPr id="24" name="table"/>
          <p:cNvSpPr/>
          <p:nvPr/>
        </p:nvSpPr>
        <p:spPr>
          <a:xfrm>
            <a:off x="6903720" y="2706624"/>
            <a:ext cx="201168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26" name="table"/>
          <p:cNvSpPr/>
          <p:nvPr/>
        </p:nvSpPr>
        <p:spPr>
          <a:xfrm>
            <a:off x="502920" y="3182112"/>
            <a:ext cx="310896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Four rule programs</a:t>
            </a:r>
          </a:p>
        </p:txBody>
      </p:sp>
      <p:sp>
        <p:nvSpPr>
          <p:cNvPr id="28" name="table"/>
          <p:cNvSpPr/>
          <p:nvPr/>
        </p:nvSpPr>
        <p:spPr>
          <a:xfrm>
            <a:off x="3611880" y="3182112"/>
            <a:ext cx="329184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2,090 REVIEW objects</a:t>
            </a:r>
          </a:p>
        </p:txBody>
      </p:sp>
      <p:sp>
        <p:nvSpPr>
          <p:cNvPr id="30" name="table"/>
          <p:cNvSpPr/>
          <p:nvPr/>
        </p:nvSpPr>
        <p:spPr>
          <a:xfrm>
            <a:off x="6903720" y="3182112"/>
            <a:ext cx="201168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32" name="table"/>
          <p:cNvSpPr/>
          <p:nvPr/>
        </p:nvSpPr>
        <p:spPr>
          <a:xfrm>
            <a:off x="502920" y="3657600"/>
            <a:ext cx="310896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Open and closed</a:t>
            </a:r>
          </a:p>
        </p:txBody>
      </p:sp>
      <p:sp>
        <p:nvSpPr>
          <p:cNvPr id="34" name="table"/>
          <p:cNvSpPr/>
          <p:nvPr/>
        </p:nvSpPr>
        <p:spPr>
          <a:xfrm>
            <a:off x="3611880" y="3657600"/>
            <a:ext cx="32918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89 of 125 open</a:t>
            </a:r>
          </a:p>
        </p:txBody>
      </p:sp>
      <p:sp>
        <p:nvSpPr>
          <p:cNvPr id="36" name="table"/>
          <p:cNvSpPr/>
          <p:nvPr/>
        </p:nvSpPr>
        <p:spPr>
          <a:xfrm>
            <a:off x="6903720" y="3657600"/>
            <a:ext cx="201168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38" name="table"/>
          <p:cNvSpPr/>
          <p:nvPr/>
        </p:nvSpPr>
        <p:spPr>
          <a:xfrm>
            <a:off x="502920" y="4133087"/>
            <a:ext cx="310896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Overlapping policies</a:t>
            </a:r>
          </a:p>
        </p:txBody>
      </p:sp>
      <p:sp>
        <p:nvSpPr>
          <p:cNvPr id="40" name="table"/>
          <p:cNvSpPr/>
          <p:nvPr/>
        </p:nvSpPr>
        <p:spPr>
          <a:xfrm>
            <a:off x="3611880" y="4133087"/>
            <a:ext cx="329184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34 active rows</a:t>
            </a:r>
          </a:p>
        </p:txBody>
      </p:sp>
      <p:sp>
        <p:nvSpPr>
          <p:cNvPr id="42" name="table"/>
          <p:cNvSpPr/>
          <p:nvPr/>
        </p:nvSpPr>
        <p:spPr>
          <a:xfrm>
            <a:off x="6903720" y="4133087"/>
            <a:ext cx="201168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44" name="table"/>
          <p:cNvSpPr/>
          <p:nvPr/>
        </p:nvSpPr>
        <p:spPr>
          <a:xfrm>
            <a:off x="502920" y="4608576"/>
            <a:ext cx="310896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Untrusted notes</a:t>
            </a:r>
          </a:p>
        </p:txBody>
      </p:sp>
      <p:sp>
        <p:nvSpPr>
          <p:cNvPr id="46" name="table"/>
          <p:cNvSpPr/>
          <p:nvPr/>
        </p:nvSpPr>
        <p:spPr>
          <a:xfrm>
            <a:off x="3611880" y="4608576"/>
            <a:ext cx="329184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86 partner feeds</a:t>
            </a:r>
          </a:p>
        </p:txBody>
      </p:sp>
      <p:sp>
        <p:nvSpPr>
          <p:cNvPr id="48" name="table"/>
          <p:cNvSpPr/>
          <p:nvPr/>
        </p:nvSpPr>
        <p:spPr>
          <a:xfrm>
            <a:off x="6903720" y="4608576"/>
            <a:ext cx="201168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50" name="table"/>
          <p:cNvSpPr/>
          <p:nvPr/>
        </p:nvSpPr>
        <p:spPr>
          <a:xfrm>
            <a:off x="502920" y="5084064"/>
            <a:ext cx="310896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Missing owners</a:t>
            </a:r>
          </a:p>
        </p:txBody>
      </p:sp>
      <p:sp>
        <p:nvSpPr>
          <p:cNvPr id="52" name="table"/>
          <p:cNvSpPr/>
          <p:nvPr/>
        </p:nvSpPr>
        <p:spPr>
          <a:xfrm>
            <a:off x="3611880" y="5084064"/>
            <a:ext cx="329184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695 unassigned tasks</a:t>
            </a:r>
          </a:p>
        </p:txBody>
      </p:sp>
      <p:sp>
        <p:nvSpPr>
          <p:cNvPr id="54" name="table"/>
          <p:cNvSpPr/>
          <p:nvPr/>
        </p:nvSpPr>
        <p:spPr>
          <a:xfrm>
            <a:off x="6903720" y="5084064"/>
            <a:ext cx="201168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56" name="table-note"/>
          <p:cNvSpPr txBox="1"/>
          <p:nvPr/>
        </p:nvSpPr>
        <p:spPr>
          <a:xfrm>
            <a:off x="502920" y="5806440"/>
            <a:ext cx="10972800" cy="365760"/>
          </a:xfrm>
          <a:prstGeom prst="rect">
            <a:avLst/>
          </a:prstGeom>
          <a:noFill/>
        </p:spPr>
        <p:txBody>
          <a:bodyPr wrap="square" lIns="0" tIns="36576" rIns="0" bIns="36576" anchor="t"/>
          <a:lstStyle/>
          <a:p>
            <a:pPr algn="l">
              <a:spcBef>
                <a:spcPts val="0"/>
              </a:spcBef>
              <a:spcAft>
                <a:spcPts val="0"/>
              </a:spcAft>
            </a:pPr>
            <a:r>
              <a:rPr sz="1400" b="0" i="0">
                <a:solidFill>
                  <a:srgbClr val="666666"/>
                </a:solidFill>
                <a:latin typeface="Calibri"/>
                <a:ea typeface="Calibri"/>
                <a:cs typeface="Calibri"/>
              </a:rPr>
              <a:t>Cycle time and aged backlog are Unknown.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17</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Two applications share the work and stay apart.</a:t>
            </a:r>
          </a:p>
        </p:txBody>
      </p:sp>
      <p:sp>
        <p:nvSpPr>
          <p:cNvPr id="5" name="Rounded Rectangle 4"/>
          <p:cNvSpPr/>
          <p:nvPr/>
        </p:nvSpPr>
        <p:spPr>
          <a:xfrm>
            <a:off x="502920" y="1600200"/>
            <a:ext cx="3617976" cy="23317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1764792"/>
            <a:ext cx="64008" cy="200253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rd:0"/>
          <p:cNvSpPr txBox="1"/>
          <p:nvPr/>
        </p:nvSpPr>
        <p:spPr>
          <a:xfrm>
            <a:off x="704088" y="1920240"/>
            <a:ext cx="3252216" cy="1645920"/>
          </a:xfrm>
          <a:prstGeom prst="rect">
            <a:avLst/>
          </a:prstGeom>
          <a:noFill/>
        </p:spPr>
        <p:txBody>
          <a:bodyPr wrap="square" lIns="54864" tIns="36576" rIns="54864" bIns="36576" anchor="t"/>
          <a:lstStyle/>
          <a:p>
            <a:pPr algn="l">
              <a:spcBef>
                <a:spcPts val="0"/>
              </a:spcBef>
              <a:spcAft>
                <a:spcPts val="0"/>
              </a:spcAft>
            </a:pPr>
            <a:r>
              <a:rPr sz="1500" b="1" i="0">
                <a:solidFill>
                  <a:srgbClr val="231F20"/>
                </a:solidFill>
                <a:latin typeface="Calibri"/>
                <a:ea typeface="Calibri"/>
                <a:cs typeface="Calibri"/>
              </a:rPr>
              <a:t>Application A</a:t>
            </a:r>
          </a:p>
          <a:p>
            <a:pPr algn="l">
              <a:spcBef>
                <a:spcPts val="0"/>
              </a:spcBef>
              <a:spcAft>
                <a:spcPts val="0"/>
              </a:spcAft>
            </a:pPr>
            <a:r>
              <a:rPr sz="1600" b="0" i="0">
                <a:solidFill>
                  <a:srgbClr val="4B4B4B"/>
                </a:solidFill>
                <a:latin typeface="Calibri"/>
                <a:ea typeface="Calibri"/>
                <a:cs typeface="Calibri"/>
              </a:rPr>
              <a:t>Rebuilt program on this console.</a:t>
            </a:r>
          </a:p>
        </p:txBody>
      </p:sp>
      <p:sp>
        <p:nvSpPr>
          <p:cNvPr id="8" name="Rounded Rectangle 7"/>
          <p:cNvSpPr/>
          <p:nvPr/>
        </p:nvSpPr>
        <p:spPr>
          <a:xfrm>
            <a:off x="4285488" y="1600200"/>
            <a:ext cx="3617976" cy="23317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03775" y="1764792"/>
            <a:ext cx="64008" cy="200253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ard:1"/>
          <p:cNvSpPr txBox="1"/>
          <p:nvPr/>
        </p:nvSpPr>
        <p:spPr>
          <a:xfrm>
            <a:off x="4486656" y="1920240"/>
            <a:ext cx="3252216" cy="1645920"/>
          </a:xfrm>
          <a:prstGeom prst="rect">
            <a:avLst/>
          </a:prstGeom>
          <a:noFill/>
        </p:spPr>
        <p:txBody>
          <a:bodyPr wrap="square" lIns="54864" tIns="36576" rIns="54864" bIns="36576" anchor="t"/>
          <a:lstStyle/>
          <a:p>
            <a:pPr algn="l">
              <a:spcBef>
                <a:spcPts val="0"/>
              </a:spcBef>
              <a:spcAft>
                <a:spcPts val="0"/>
              </a:spcAft>
            </a:pPr>
            <a:r>
              <a:rPr sz="1500" b="1" i="0">
                <a:solidFill>
                  <a:srgbClr val="231F20"/>
                </a:solidFill>
                <a:latin typeface="Calibri"/>
                <a:ea typeface="Calibri"/>
                <a:cs typeface="Calibri"/>
              </a:rPr>
              <a:t>Application B</a:t>
            </a:r>
          </a:p>
          <a:p>
            <a:pPr algn="l">
              <a:spcBef>
                <a:spcPts val="0"/>
              </a:spcBef>
              <a:spcAft>
                <a:spcPts val="0"/>
              </a:spcAft>
            </a:pPr>
            <a:r>
              <a:rPr sz="1600" b="0" i="0">
                <a:solidFill>
                  <a:srgbClr val="4B4B4B"/>
                </a:solidFill>
                <a:latin typeface="Calibri"/>
                <a:ea typeface="Calibri"/>
                <a:cs typeface="Calibri"/>
              </a:rPr>
              <a:t>Reads the Context Lake only.</a:t>
            </a:r>
          </a:p>
        </p:txBody>
      </p:sp>
      <p:sp>
        <p:nvSpPr>
          <p:cNvPr id="11" name="Rounded Rectangle 10"/>
          <p:cNvSpPr/>
          <p:nvPr/>
        </p:nvSpPr>
        <p:spPr>
          <a:xfrm>
            <a:off x="8068056" y="1600200"/>
            <a:ext cx="3617976" cy="233172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086344" y="1764792"/>
            <a:ext cx="64008" cy="2002536"/>
          </a:xfrm>
          <a:prstGeom prst="rect">
            <a:avLst/>
          </a:prstGeom>
          <a:solidFill>
            <a:srgbClr val="EFB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ard:2"/>
          <p:cNvSpPr txBox="1"/>
          <p:nvPr/>
        </p:nvSpPr>
        <p:spPr>
          <a:xfrm>
            <a:off x="8269224" y="1920240"/>
            <a:ext cx="3252216" cy="1645920"/>
          </a:xfrm>
          <a:prstGeom prst="rect">
            <a:avLst/>
          </a:prstGeom>
          <a:noFill/>
        </p:spPr>
        <p:txBody>
          <a:bodyPr wrap="square" lIns="54864" tIns="36576" rIns="54864" bIns="36576" anchor="t"/>
          <a:lstStyle/>
          <a:p>
            <a:pPr algn="l">
              <a:spcBef>
                <a:spcPts val="0"/>
              </a:spcBef>
              <a:spcAft>
                <a:spcPts val="0"/>
              </a:spcAft>
            </a:pPr>
            <a:r>
              <a:rPr sz="1500" b="1" i="0">
                <a:solidFill>
                  <a:srgbClr val="231F20"/>
                </a:solidFill>
                <a:latin typeface="Calibri"/>
                <a:ea typeface="Calibri"/>
                <a:cs typeface="Calibri"/>
              </a:rPr>
              <a:t>Boundary</a:t>
            </a:r>
          </a:p>
          <a:p>
            <a:pPr algn="l">
              <a:spcBef>
                <a:spcPts val="0"/>
              </a:spcBef>
              <a:spcAft>
                <a:spcPts val="0"/>
              </a:spcAft>
            </a:pPr>
            <a:r>
              <a:rPr sz="1600" b="0" i="0">
                <a:solidFill>
                  <a:srgbClr val="4B4B4B"/>
                </a:solidFill>
                <a:latin typeface="Calibri"/>
                <a:ea typeface="Calibri"/>
                <a:cs typeface="Calibri"/>
              </a:rPr>
              <a:t>The servers do not call each other.</a:t>
            </a:r>
          </a:p>
        </p:txBody>
      </p:sp>
      <p:sp>
        <p:nvSpPr>
          <p:cNvPr id="14" name="support"/>
          <p:cNvSpPr txBox="1"/>
          <p:nvPr/>
        </p:nvSpPr>
        <p:spPr>
          <a:xfrm>
            <a:off x="502920" y="4206240"/>
            <a:ext cx="11155680" cy="1463040"/>
          </a:xfrm>
          <a:prstGeom prst="rect">
            <a:avLst/>
          </a:prstGeom>
          <a:noFill/>
        </p:spPr>
        <p:txBody>
          <a:bodyPr wrap="square" lIns="0" tIns="36576" rIns="0" bIns="36576" anchor="t"/>
          <a:lstStyle/>
          <a:p>
            <a:pPr algn="l">
              <a:spcBef>
                <a:spcPts val="0"/>
              </a:spcBef>
              <a:spcAft>
                <a:spcPts val="0"/>
              </a:spcAft>
            </a:pPr>
            <a:r>
              <a:rPr sz="1600" b="0" i="0">
                <a:solidFill>
                  <a:srgbClr val="231F20"/>
                </a:solidFill>
                <a:latin typeface="Calibri"/>
                <a:ea typeface="Calibri"/>
                <a:cs typeface="Calibri"/>
              </a:rPr>
              <a:t>The lake holds 148 items, 180 edges, and 267 terms. REAL.</a:t>
            </a:r>
          </a:p>
          <a:p>
            <a:pPr algn="l">
              <a:spcBef>
                <a:spcPts val="0"/>
              </a:spcBef>
              <a:spcAft>
                <a:spcPts val="0"/>
              </a:spcAft>
            </a:pPr>
            <a:r>
              <a:rPr sz="1600" b="0" i="0">
                <a:solidFill>
                  <a:srgbClr val="231F20"/>
                </a:solidFill>
                <a:latin typeface="Calibri"/>
                <a:ea typeface="Calibri"/>
                <a:cs typeface="Calibri"/>
              </a:rPr>
              <a:t>The model can draft a sentence. It has no write tool.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0" name="Connector 9"/>
          <p:cNvCxnSpPr/>
          <p:nvPr/>
        </p:nvCxnSpPr>
        <p:spPr>
          <a:xfrm>
            <a:off x="502920" y="2578608"/>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788920" y="2578608"/>
            <a:ext cx="24688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257800" y="2578608"/>
            <a:ext cx="41148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372600" y="2578608"/>
            <a:ext cx="1371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02920" y="3218688"/>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788920" y="3218688"/>
            <a:ext cx="24688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257800" y="3218688"/>
            <a:ext cx="41148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372600" y="3218688"/>
            <a:ext cx="1371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02920" y="3858768"/>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788920" y="3858768"/>
            <a:ext cx="24688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257800" y="3858768"/>
            <a:ext cx="41148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372600" y="3858768"/>
            <a:ext cx="1371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02920" y="4498848"/>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788920" y="4498848"/>
            <a:ext cx="24688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57800" y="4498848"/>
            <a:ext cx="41148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372600" y="4498848"/>
            <a:ext cx="1371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02920" y="5138928"/>
            <a:ext cx="22860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788920" y="5138928"/>
            <a:ext cx="24688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57800" y="5138928"/>
            <a:ext cx="41148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372600" y="5138928"/>
            <a:ext cx="137160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18</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The same five cases are open on both consoles.</a:t>
            </a:r>
          </a:p>
        </p:txBody>
      </p:sp>
      <p:sp>
        <p:nvSpPr>
          <p:cNvPr id="5" name="table"/>
          <p:cNvSpPr/>
          <p:nvPr/>
        </p:nvSpPr>
        <p:spPr>
          <a:xfrm>
            <a:off x="502920" y="1554480"/>
            <a:ext cx="228600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Case</a:t>
            </a:r>
          </a:p>
        </p:txBody>
      </p:sp>
      <p:sp>
        <p:nvSpPr>
          <p:cNvPr id="6" name="table"/>
          <p:cNvSpPr/>
          <p:nvPr/>
        </p:nvSpPr>
        <p:spPr>
          <a:xfrm>
            <a:off x="2788920" y="1554480"/>
            <a:ext cx="246888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Object</a:t>
            </a:r>
          </a:p>
        </p:txBody>
      </p:sp>
      <p:sp>
        <p:nvSpPr>
          <p:cNvPr id="7" name="table"/>
          <p:cNvSpPr/>
          <p:nvPr/>
        </p:nvSpPr>
        <p:spPr>
          <a:xfrm>
            <a:off x="5257800" y="1554480"/>
            <a:ext cx="411480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On the page</a:t>
            </a:r>
          </a:p>
        </p:txBody>
      </p:sp>
      <p:sp>
        <p:nvSpPr>
          <p:cNvPr id="8" name="table"/>
          <p:cNvSpPr/>
          <p:nvPr/>
        </p:nvSpPr>
        <p:spPr>
          <a:xfrm>
            <a:off x="9372600" y="1554480"/>
            <a:ext cx="137160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Honesty</a:t>
            </a:r>
          </a:p>
        </p:txBody>
      </p:sp>
      <p:sp>
        <p:nvSpPr>
          <p:cNvPr id="9" name="table"/>
          <p:cNvSpPr/>
          <p:nvPr/>
        </p:nvSpPr>
        <p:spPr>
          <a:xfrm>
            <a:off x="502920" y="1938528"/>
            <a:ext cx="22860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Replay inflation</a:t>
            </a:r>
          </a:p>
        </p:txBody>
      </p:sp>
      <p:sp>
        <p:nvSpPr>
          <p:cNvPr id="11" name="table"/>
          <p:cNvSpPr/>
          <p:nvPr/>
        </p:nvSpPr>
        <p:spPr>
          <a:xfrm>
            <a:off x="2788920" y="1938528"/>
            <a:ext cx="246888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REPLAY-000000000</a:t>
            </a:r>
          </a:p>
        </p:txBody>
      </p:sp>
      <p:sp>
        <p:nvSpPr>
          <p:cNvPr id="13" name="table"/>
          <p:cNvSpPr/>
          <p:nvPr/>
        </p:nvSpPr>
        <p:spPr>
          <a:xfrm>
            <a:off x="5257800" y="1938528"/>
            <a:ext cx="41148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Second delivery. Drop waits for RT-05</a:t>
            </a:r>
          </a:p>
        </p:txBody>
      </p:sp>
      <p:sp>
        <p:nvSpPr>
          <p:cNvPr id="15" name="table"/>
          <p:cNvSpPr/>
          <p:nvPr/>
        </p:nvSpPr>
        <p:spPr>
          <a:xfrm>
            <a:off x="9372600" y="1938528"/>
            <a:ext cx="13716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17" name="table"/>
          <p:cNvSpPr/>
          <p:nvPr/>
        </p:nvSpPr>
        <p:spPr>
          <a:xfrm>
            <a:off x="502920" y="2578608"/>
            <a:ext cx="22860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Recipe mismatch</a:t>
            </a:r>
          </a:p>
        </p:txBody>
      </p:sp>
      <p:sp>
        <p:nvSpPr>
          <p:cNvPr id="19" name="table"/>
          <p:cNvSpPr/>
          <p:nvPr/>
        </p:nvSpPr>
        <p:spPr>
          <a:xfrm>
            <a:off x="2788920" y="2578608"/>
            <a:ext cx="246888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PS000000016</a:t>
            </a:r>
          </a:p>
        </p:txBody>
      </p:sp>
      <p:sp>
        <p:nvSpPr>
          <p:cNvPr id="21" name="table"/>
          <p:cNvSpPr/>
          <p:nvPr/>
        </p:nvSpPr>
        <p:spPr>
          <a:xfrm>
            <a:off x="5257800" y="2578608"/>
            <a:ext cx="41148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Dispatch R02 and tool R01</a:t>
            </a:r>
          </a:p>
        </p:txBody>
      </p:sp>
      <p:sp>
        <p:nvSpPr>
          <p:cNvPr id="23" name="table"/>
          <p:cNvSpPr/>
          <p:nvPr/>
        </p:nvSpPr>
        <p:spPr>
          <a:xfrm>
            <a:off x="9372600" y="2578608"/>
            <a:ext cx="13716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25" name="table"/>
          <p:cNvSpPr/>
          <p:nvPr/>
        </p:nvSpPr>
        <p:spPr>
          <a:xfrm>
            <a:off x="502920" y="3218688"/>
            <a:ext cx="22860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Two clocks</a:t>
            </a:r>
          </a:p>
        </p:txBody>
      </p:sp>
      <p:sp>
        <p:nvSpPr>
          <p:cNvPr id="27" name="table"/>
          <p:cNvSpPr/>
          <p:nvPr/>
        </p:nvSpPr>
        <p:spPr>
          <a:xfrm>
            <a:off x="2788920" y="3218688"/>
            <a:ext cx="246888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E-00000000</a:t>
            </a:r>
          </a:p>
        </p:txBody>
      </p:sp>
      <p:sp>
        <p:nvSpPr>
          <p:cNvPr id="29" name="table"/>
          <p:cNvSpPr/>
          <p:nvPr/>
        </p:nvSpPr>
        <p:spPr>
          <a:xfrm>
            <a:off x="5257800" y="3218688"/>
            <a:ext cx="41148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2020-12-30 and 2021-01-01</a:t>
            </a:r>
          </a:p>
        </p:txBody>
      </p:sp>
      <p:sp>
        <p:nvSpPr>
          <p:cNvPr id="31" name="table"/>
          <p:cNvSpPr/>
          <p:nvPr/>
        </p:nvSpPr>
        <p:spPr>
          <a:xfrm>
            <a:off x="9372600" y="3218688"/>
            <a:ext cx="13716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33" name="table"/>
          <p:cNvSpPr/>
          <p:nvPr/>
        </p:nvSpPr>
        <p:spPr>
          <a:xfrm>
            <a:off x="502920" y="3858768"/>
            <a:ext cx="22860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Policies</a:t>
            </a:r>
          </a:p>
        </p:txBody>
      </p:sp>
      <p:sp>
        <p:nvSpPr>
          <p:cNvPr id="35" name="table"/>
          <p:cNvSpPr/>
          <p:nvPr/>
        </p:nvSpPr>
        <p:spPr>
          <a:xfrm>
            <a:off x="2788920" y="3858768"/>
            <a:ext cx="246888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FAB-00000002</a:t>
            </a:r>
          </a:p>
        </p:txBody>
      </p:sp>
      <p:sp>
        <p:nvSpPr>
          <p:cNvPr id="37" name="table"/>
          <p:cNvSpPr/>
          <p:nvPr/>
        </p:nvSpPr>
        <p:spPr>
          <a:xfrm>
            <a:off x="5257800" y="3858768"/>
            <a:ext cx="41148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Four policies in force</a:t>
            </a:r>
          </a:p>
        </p:txBody>
      </p:sp>
      <p:sp>
        <p:nvSpPr>
          <p:cNvPr id="39" name="table"/>
          <p:cNvSpPr/>
          <p:nvPr/>
        </p:nvSpPr>
        <p:spPr>
          <a:xfrm>
            <a:off x="9372600" y="3858768"/>
            <a:ext cx="1371600"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41" name="table"/>
          <p:cNvSpPr/>
          <p:nvPr/>
        </p:nvSpPr>
        <p:spPr>
          <a:xfrm>
            <a:off x="502920" y="4498848"/>
            <a:ext cx="22860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Missing owner</a:t>
            </a:r>
          </a:p>
        </p:txBody>
      </p:sp>
      <p:sp>
        <p:nvSpPr>
          <p:cNvPr id="43" name="table"/>
          <p:cNvSpPr/>
          <p:nvPr/>
        </p:nvSpPr>
        <p:spPr>
          <a:xfrm>
            <a:off x="2788920" y="4498848"/>
            <a:ext cx="246888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INC-2025-014</a:t>
            </a:r>
          </a:p>
        </p:txBody>
      </p:sp>
      <p:sp>
        <p:nvSpPr>
          <p:cNvPr id="45" name="table"/>
          <p:cNvSpPr/>
          <p:nvPr/>
        </p:nvSpPr>
        <p:spPr>
          <a:xfrm>
            <a:off x="5257800" y="4498848"/>
            <a:ext cx="41148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Owner field empty</a:t>
            </a:r>
          </a:p>
        </p:txBody>
      </p:sp>
      <p:sp>
        <p:nvSpPr>
          <p:cNvPr id="47" name="table"/>
          <p:cNvSpPr/>
          <p:nvPr/>
        </p:nvSpPr>
        <p:spPr>
          <a:xfrm>
            <a:off x="9372600" y="4498848"/>
            <a:ext cx="13716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 name="Connector 8"/>
          <p:cNvCxnSpPr/>
          <p:nvPr/>
        </p:nvCxnSpPr>
        <p:spPr>
          <a:xfrm>
            <a:off x="502920" y="2157984"/>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520439" y="2157984"/>
            <a:ext cx="34747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995159" y="2157984"/>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02920" y="2578608"/>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520439" y="2578608"/>
            <a:ext cx="34747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995159" y="2578608"/>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2920" y="2999232"/>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520439" y="2999232"/>
            <a:ext cx="34747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95159" y="2999232"/>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02920" y="3419856"/>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20439" y="3419856"/>
            <a:ext cx="34747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995159" y="3419856"/>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2920" y="3840480"/>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520439" y="3840480"/>
            <a:ext cx="34747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995159" y="3840480"/>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02920" y="4261104"/>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520439" y="4261104"/>
            <a:ext cx="34747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995159" y="4261104"/>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02920" y="4681728"/>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520439" y="4681728"/>
            <a:ext cx="34747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995159" y="4681728"/>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2920" y="5102352"/>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520439" y="5102352"/>
            <a:ext cx="34747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995159" y="5102352"/>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02920" y="5522976"/>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520439" y="5522976"/>
            <a:ext cx="34747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995159" y="5522976"/>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02920" y="5943600"/>
            <a:ext cx="3017519"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520439" y="5943600"/>
            <a:ext cx="347472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995159" y="5943600"/>
            <a:ext cx="2194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19</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The packaged counts stayed on the same numbers.</a:t>
            </a:r>
          </a:p>
        </p:txBody>
      </p:sp>
      <p:sp>
        <p:nvSpPr>
          <p:cNvPr id="5" name="table"/>
          <p:cNvSpPr/>
          <p:nvPr/>
        </p:nvSpPr>
        <p:spPr>
          <a:xfrm>
            <a:off x="502920" y="1353312"/>
            <a:ext cx="301752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Measure</a:t>
            </a:r>
          </a:p>
        </p:txBody>
      </p:sp>
      <p:sp>
        <p:nvSpPr>
          <p:cNvPr id="6" name="table"/>
          <p:cNvSpPr/>
          <p:nvPr/>
        </p:nvSpPr>
        <p:spPr>
          <a:xfrm>
            <a:off x="3520439" y="1353312"/>
            <a:ext cx="347472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Value</a:t>
            </a:r>
          </a:p>
        </p:txBody>
      </p:sp>
      <p:sp>
        <p:nvSpPr>
          <p:cNvPr id="7" name="table"/>
          <p:cNvSpPr/>
          <p:nvPr/>
        </p:nvSpPr>
        <p:spPr>
          <a:xfrm>
            <a:off x="6995159" y="1353312"/>
            <a:ext cx="219456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Honesty</a:t>
            </a:r>
          </a:p>
        </p:txBody>
      </p:sp>
      <p:sp>
        <p:nvSpPr>
          <p:cNvPr id="8" name="table"/>
          <p:cNvSpPr/>
          <p:nvPr/>
        </p:nvSpPr>
        <p:spPr>
          <a:xfrm>
            <a:off x="502920" y="1737360"/>
            <a:ext cx="30175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Records</a:t>
            </a:r>
          </a:p>
        </p:txBody>
      </p:sp>
      <p:sp>
        <p:nvSpPr>
          <p:cNvPr id="10" name="table"/>
          <p:cNvSpPr/>
          <p:nvPr/>
        </p:nvSpPr>
        <p:spPr>
          <a:xfrm>
            <a:off x="3520439" y="1737360"/>
            <a:ext cx="34747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125</a:t>
            </a:r>
          </a:p>
        </p:txBody>
      </p:sp>
      <p:sp>
        <p:nvSpPr>
          <p:cNvPr id="12" name="table"/>
          <p:cNvSpPr/>
          <p:nvPr/>
        </p:nvSpPr>
        <p:spPr>
          <a:xfrm>
            <a:off x="6995159" y="1737360"/>
            <a:ext cx="21945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14" name="table"/>
          <p:cNvSpPr/>
          <p:nvPr/>
        </p:nvSpPr>
        <p:spPr>
          <a:xfrm>
            <a:off x="502920" y="2157984"/>
            <a:ext cx="30175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Open cases</a:t>
            </a:r>
          </a:p>
        </p:txBody>
      </p:sp>
      <p:sp>
        <p:nvSpPr>
          <p:cNvPr id="16" name="table"/>
          <p:cNvSpPr/>
          <p:nvPr/>
        </p:nvSpPr>
        <p:spPr>
          <a:xfrm>
            <a:off x="3520439" y="2157984"/>
            <a:ext cx="34747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89</a:t>
            </a:r>
          </a:p>
        </p:txBody>
      </p:sp>
      <p:sp>
        <p:nvSpPr>
          <p:cNvPr id="18" name="table"/>
          <p:cNvSpPr/>
          <p:nvPr/>
        </p:nvSpPr>
        <p:spPr>
          <a:xfrm>
            <a:off x="6995159" y="2157984"/>
            <a:ext cx="219456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20" name="table"/>
          <p:cNvSpPr/>
          <p:nvPr/>
        </p:nvSpPr>
        <p:spPr>
          <a:xfrm>
            <a:off x="502920" y="2578608"/>
            <a:ext cx="30175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Urgent cases</a:t>
            </a:r>
          </a:p>
        </p:txBody>
      </p:sp>
      <p:sp>
        <p:nvSpPr>
          <p:cNvPr id="22" name="table"/>
          <p:cNvSpPr/>
          <p:nvPr/>
        </p:nvSpPr>
        <p:spPr>
          <a:xfrm>
            <a:off x="3520439" y="2578608"/>
            <a:ext cx="34747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2</a:t>
            </a:r>
          </a:p>
        </p:txBody>
      </p:sp>
      <p:sp>
        <p:nvSpPr>
          <p:cNvPr id="24" name="table"/>
          <p:cNvSpPr/>
          <p:nvPr/>
        </p:nvSpPr>
        <p:spPr>
          <a:xfrm>
            <a:off x="6995159" y="2578608"/>
            <a:ext cx="21945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26" name="table"/>
          <p:cNvSpPr/>
          <p:nvPr/>
        </p:nvSpPr>
        <p:spPr>
          <a:xfrm>
            <a:off x="502920" y="2999232"/>
            <a:ext cx="30175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Sites</a:t>
            </a:r>
          </a:p>
        </p:txBody>
      </p:sp>
      <p:sp>
        <p:nvSpPr>
          <p:cNvPr id="28" name="table"/>
          <p:cNvSpPr/>
          <p:nvPr/>
        </p:nvSpPr>
        <p:spPr>
          <a:xfrm>
            <a:off x="3520439" y="2999232"/>
            <a:ext cx="34747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6</a:t>
            </a:r>
          </a:p>
        </p:txBody>
      </p:sp>
      <p:sp>
        <p:nvSpPr>
          <p:cNvPr id="30" name="table"/>
          <p:cNvSpPr/>
          <p:nvPr/>
        </p:nvSpPr>
        <p:spPr>
          <a:xfrm>
            <a:off x="6995159" y="2999232"/>
            <a:ext cx="219456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32" name="table"/>
          <p:cNvSpPr/>
          <p:nvPr/>
        </p:nvSpPr>
        <p:spPr>
          <a:xfrm>
            <a:off x="502920" y="3419856"/>
            <a:ext cx="30175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Mean amount</a:t>
            </a:r>
          </a:p>
        </p:txBody>
      </p:sp>
      <p:sp>
        <p:nvSpPr>
          <p:cNvPr id="34" name="table"/>
          <p:cNvSpPr/>
          <p:nvPr/>
        </p:nvSpPr>
        <p:spPr>
          <a:xfrm>
            <a:off x="3520439" y="3419856"/>
            <a:ext cx="34747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4982.61</a:t>
            </a:r>
          </a:p>
        </p:txBody>
      </p:sp>
      <p:sp>
        <p:nvSpPr>
          <p:cNvPr id="36" name="table"/>
          <p:cNvSpPr/>
          <p:nvPr/>
        </p:nvSpPr>
        <p:spPr>
          <a:xfrm>
            <a:off x="6995159" y="3419856"/>
            <a:ext cx="21945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SIMULATED</a:t>
            </a:r>
          </a:p>
        </p:txBody>
      </p:sp>
      <p:sp>
        <p:nvSpPr>
          <p:cNvPr id="38" name="table"/>
          <p:cNvSpPr/>
          <p:nvPr/>
        </p:nvSpPr>
        <p:spPr>
          <a:xfrm>
            <a:off x="502920" y="3840480"/>
            <a:ext cx="30175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Hours per case</a:t>
            </a:r>
          </a:p>
        </p:txBody>
      </p:sp>
      <p:sp>
        <p:nvSpPr>
          <p:cNvPr id="40" name="table"/>
          <p:cNvSpPr/>
          <p:nvPr/>
        </p:nvSpPr>
        <p:spPr>
          <a:xfrm>
            <a:off x="3520439" y="3840480"/>
            <a:ext cx="34747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0.603</a:t>
            </a:r>
          </a:p>
        </p:txBody>
      </p:sp>
      <p:sp>
        <p:nvSpPr>
          <p:cNvPr id="42" name="table"/>
          <p:cNvSpPr/>
          <p:nvPr/>
        </p:nvSpPr>
        <p:spPr>
          <a:xfrm>
            <a:off x="6995159" y="3840480"/>
            <a:ext cx="219456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SIMULATED</a:t>
            </a:r>
          </a:p>
        </p:txBody>
      </p:sp>
      <p:sp>
        <p:nvSpPr>
          <p:cNvPr id="44" name="table"/>
          <p:cNvSpPr/>
          <p:nvPr/>
        </p:nvSpPr>
        <p:spPr>
          <a:xfrm>
            <a:off x="502920" y="4261104"/>
            <a:ext cx="30175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Harness</a:t>
            </a:r>
          </a:p>
        </p:txBody>
      </p:sp>
      <p:sp>
        <p:nvSpPr>
          <p:cNvPr id="46" name="table"/>
          <p:cNvSpPr/>
          <p:nvPr/>
        </p:nvSpPr>
        <p:spPr>
          <a:xfrm>
            <a:off x="3520439" y="4261104"/>
            <a:ext cx="34747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12 matched, 2 differed</a:t>
            </a:r>
          </a:p>
        </p:txBody>
      </p:sp>
      <p:sp>
        <p:nvSpPr>
          <p:cNvPr id="48" name="table"/>
          <p:cNvSpPr/>
          <p:nvPr/>
        </p:nvSpPr>
        <p:spPr>
          <a:xfrm>
            <a:off x="6995159" y="4261104"/>
            <a:ext cx="21945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50" name="table"/>
          <p:cNvSpPr/>
          <p:nvPr/>
        </p:nvSpPr>
        <p:spPr>
          <a:xfrm>
            <a:off x="502920" y="4681728"/>
            <a:ext cx="30175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Freeze</a:t>
            </a:r>
          </a:p>
        </p:txBody>
      </p:sp>
      <p:sp>
        <p:nvSpPr>
          <p:cNvPr id="52" name="table"/>
          <p:cNvSpPr/>
          <p:nvPr/>
        </p:nvSpPr>
        <p:spPr>
          <a:xfrm>
            <a:off x="3520439" y="4681728"/>
            <a:ext cx="34747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42 of 42</a:t>
            </a:r>
          </a:p>
        </p:txBody>
      </p:sp>
      <p:sp>
        <p:nvSpPr>
          <p:cNvPr id="54" name="table"/>
          <p:cNvSpPr/>
          <p:nvPr/>
        </p:nvSpPr>
        <p:spPr>
          <a:xfrm>
            <a:off x="6995159" y="4681728"/>
            <a:ext cx="219456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56" name="table"/>
          <p:cNvSpPr/>
          <p:nvPr/>
        </p:nvSpPr>
        <p:spPr>
          <a:xfrm>
            <a:off x="502920" y="5102352"/>
            <a:ext cx="30175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Replay tokens shown</a:t>
            </a:r>
          </a:p>
        </p:txBody>
      </p:sp>
      <p:sp>
        <p:nvSpPr>
          <p:cNvPr id="58" name="table"/>
          <p:cNvSpPr/>
          <p:nvPr/>
        </p:nvSpPr>
        <p:spPr>
          <a:xfrm>
            <a:off x="3520439" y="5102352"/>
            <a:ext cx="347472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0 and 0</a:t>
            </a:r>
          </a:p>
        </p:txBody>
      </p:sp>
      <p:sp>
        <p:nvSpPr>
          <p:cNvPr id="60" name="table"/>
          <p:cNvSpPr/>
          <p:nvPr/>
        </p:nvSpPr>
        <p:spPr>
          <a:xfrm>
            <a:off x="6995159" y="5102352"/>
            <a:ext cx="219456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62" name="table"/>
          <p:cNvSpPr/>
          <p:nvPr/>
        </p:nvSpPr>
        <p:spPr>
          <a:xfrm>
            <a:off x="502920" y="5522976"/>
            <a:ext cx="30175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ROI</a:t>
            </a:r>
          </a:p>
        </p:txBody>
      </p:sp>
      <p:sp>
        <p:nvSpPr>
          <p:cNvPr id="64" name="table"/>
          <p:cNvSpPr/>
          <p:nvPr/>
        </p:nvSpPr>
        <p:spPr>
          <a:xfrm>
            <a:off x="3520439" y="5522976"/>
            <a:ext cx="347472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Educational</a:t>
            </a:r>
          </a:p>
        </p:txBody>
      </p:sp>
      <p:sp>
        <p:nvSpPr>
          <p:cNvPr id="66" name="table"/>
          <p:cNvSpPr/>
          <p:nvPr/>
        </p:nvSpPr>
        <p:spPr>
          <a:xfrm>
            <a:off x="6995159" y="5522976"/>
            <a:ext cx="2194560"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EDUCATIONAL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20</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A blocked note left the case as it was.</a:t>
            </a:r>
          </a:p>
        </p:txBody>
      </p:sp>
      <p:sp>
        <p:nvSpPr>
          <p:cNvPr id="5" name="Rounded Rectangle 4"/>
          <p:cNvSpPr/>
          <p:nvPr/>
        </p:nvSpPr>
        <p:spPr>
          <a:xfrm>
            <a:off x="502920" y="1600200"/>
            <a:ext cx="5509259" cy="35661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1764792"/>
            <a:ext cx="64008" cy="323697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76771" y="1600200"/>
            <a:ext cx="5509259" cy="356616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5059" y="1764792"/>
            <a:ext cx="64008" cy="323697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ard:left"/>
          <p:cNvSpPr txBox="1"/>
          <p:nvPr/>
        </p:nvSpPr>
        <p:spPr>
          <a:xfrm>
            <a:off x="722376" y="1874519"/>
            <a:ext cx="5125212" cy="2926080"/>
          </a:xfrm>
          <a:prstGeom prst="rect">
            <a:avLst/>
          </a:prstGeom>
          <a:noFill/>
        </p:spPr>
        <p:txBody>
          <a:bodyPr wrap="square" lIns="54864" tIns="36576" rIns="54864" bIns="36576" anchor="t"/>
          <a:lstStyle/>
          <a:p>
            <a:pPr algn="l">
              <a:spcBef>
                <a:spcPts val="0"/>
              </a:spcBef>
              <a:spcAft>
                <a:spcPts val="0"/>
              </a:spcAft>
            </a:pPr>
            <a:r>
              <a:rPr sz="1500" b="1" i="0">
                <a:solidFill>
                  <a:srgbClr val="231F20"/>
                </a:solidFill>
                <a:latin typeface="Calibri"/>
                <a:ea typeface="Calibri"/>
                <a:cs typeface="Calibri"/>
              </a:rPr>
              <a:t>Blocked note</a:t>
            </a:r>
          </a:p>
          <a:p>
            <a:pPr algn="l">
              <a:spcBef>
                <a:spcPts val="0"/>
              </a:spcBef>
              <a:spcAft>
                <a:spcPts val="0"/>
              </a:spcAft>
            </a:pPr>
            <a:r>
              <a:rPr sz="1600" b="0" i="0">
                <a:solidFill>
                  <a:srgbClr val="4B4B4B"/>
                </a:solidFill>
                <a:latin typeface="Calibri"/>
                <a:ea typeface="Calibri"/>
                <a:cs typeface="Calibri"/>
              </a:rPr>
              <a:t>Quotes plus approve returned BLOCK. Status stayed REPLAY.</a:t>
            </a:r>
          </a:p>
        </p:txBody>
      </p:sp>
      <p:sp>
        <p:nvSpPr>
          <p:cNvPr id="10" name="card:right"/>
          <p:cNvSpPr txBox="1"/>
          <p:nvPr/>
        </p:nvSpPr>
        <p:spPr>
          <a:xfrm>
            <a:off x="6396227" y="1874519"/>
            <a:ext cx="5125212" cy="2926080"/>
          </a:xfrm>
          <a:prstGeom prst="rect">
            <a:avLst/>
          </a:prstGeom>
          <a:noFill/>
        </p:spPr>
        <p:txBody>
          <a:bodyPr wrap="square" lIns="54864" tIns="36576" rIns="54864" bIns="36576" anchor="t"/>
          <a:lstStyle/>
          <a:p>
            <a:pPr algn="l">
              <a:spcBef>
                <a:spcPts val="0"/>
              </a:spcBef>
              <a:spcAft>
                <a:spcPts val="0"/>
              </a:spcAft>
            </a:pPr>
            <a:r>
              <a:rPr sz="1500" b="1" i="0">
                <a:solidFill>
                  <a:srgbClr val="231F20"/>
                </a:solidFill>
                <a:latin typeface="Calibri"/>
                <a:ea typeface="Calibri"/>
                <a:cs typeface="Calibri"/>
              </a:rPr>
              <a:t>Restart</a:t>
            </a:r>
          </a:p>
          <a:p>
            <a:pPr algn="l">
              <a:spcBef>
                <a:spcPts val="0"/>
              </a:spcBef>
              <a:spcAft>
                <a:spcPts val="0"/>
              </a:spcAft>
            </a:pPr>
            <a:r>
              <a:rPr sz="1600" b="0" i="0">
                <a:solidFill>
                  <a:srgbClr val="4B4B4B"/>
                </a:solidFill>
                <a:latin typeface="Calibri"/>
                <a:ea typeface="Calibri"/>
                <a:cs typeface="Calibri"/>
              </a:rPr>
              <a:t>The same correlation id stayed. The hold value stayed 0.</a:t>
            </a:r>
          </a:p>
        </p:txBody>
      </p:sp>
      <p:sp>
        <p:nvSpPr>
          <p:cNvPr id="11" name="support"/>
          <p:cNvSpPr txBox="1"/>
          <p:nvPr/>
        </p:nvSpPr>
        <p:spPr>
          <a:xfrm>
            <a:off x="502920" y="5394960"/>
            <a:ext cx="11155680" cy="822960"/>
          </a:xfrm>
          <a:prstGeom prst="rect">
            <a:avLst/>
          </a:prstGeom>
          <a:noFill/>
        </p:spPr>
        <p:txBody>
          <a:bodyPr wrap="square" lIns="0" tIns="36576" rIns="0" bIns="36576" anchor="t"/>
          <a:lstStyle/>
          <a:p>
            <a:pPr algn="l">
              <a:spcBef>
                <a:spcPts val="0"/>
              </a:spcBef>
              <a:spcAft>
                <a:spcPts val="0"/>
              </a:spcAft>
            </a:pPr>
            <a:r>
              <a:rPr sz="1600" b="0" i="0">
                <a:solidFill>
                  <a:srgbClr val="666666"/>
                </a:solidFill>
                <a:latin typeface="Calibri"/>
                <a:ea typeface="Calibri"/>
                <a:cs typeface="Calibri"/>
              </a:rPr>
              <a:t>These are prior results. This deck does not run a new post or a new kill.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8" name="Connector 7"/>
          <p:cNvCxnSpPr/>
          <p:nvPr/>
        </p:nvCxnSpPr>
        <p:spPr>
          <a:xfrm>
            <a:off x="502920" y="2642615"/>
            <a:ext cx="6766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269480" y="2642615"/>
            <a:ext cx="29260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 y="3300983"/>
            <a:ext cx="6766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269480" y="3300983"/>
            <a:ext cx="29260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02920" y="3959352"/>
            <a:ext cx="6766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269480" y="3959352"/>
            <a:ext cx="29260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02920" y="4617720"/>
            <a:ext cx="6766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269480" y="4617720"/>
            <a:ext cx="29260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02920" y="5276088"/>
            <a:ext cx="676656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269480" y="5276088"/>
            <a:ext cx="2926080" cy="0"/>
          </a:xfrm>
          <a:prstGeom prst="line">
            <a:avLst/>
          </a:prstGeom>
          <a:ln w="9525">
            <a:solidFill>
              <a:srgbClr val="E0E0E0"/>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21</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Five measured results close the paper walk.</a:t>
            </a:r>
          </a:p>
        </p:txBody>
      </p:sp>
      <p:sp>
        <p:nvSpPr>
          <p:cNvPr id="5" name="table"/>
          <p:cNvSpPr/>
          <p:nvPr/>
        </p:nvSpPr>
        <p:spPr>
          <a:xfrm>
            <a:off x="502920" y="1600200"/>
            <a:ext cx="676656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Result</a:t>
            </a:r>
          </a:p>
        </p:txBody>
      </p:sp>
      <p:sp>
        <p:nvSpPr>
          <p:cNvPr id="6" name="table"/>
          <p:cNvSpPr/>
          <p:nvPr/>
        </p:nvSpPr>
        <p:spPr>
          <a:xfrm>
            <a:off x="7269480" y="1600200"/>
            <a:ext cx="2926080" cy="384048"/>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FFFFFF"/>
                </a:solidFill>
                <a:latin typeface="Calibri"/>
                <a:ea typeface="Calibri"/>
                <a:cs typeface="Calibri"/>
              </a:rPr>
              <a:t>Honesty</a:t>
            </a:r>
          </a:p>
        </p:txBody>
      </p:sp>
      <p:sp>
        <p:nvSpPr>
          <p:cNvPr id="7" name="table"/>
          <p:cNvSpPr/>
          <p:nvPr/>
        </p:nvSpPr>
        <p:spPr>
          <a:xfrm>
            <a:off x="502920" y="1984248"/>
            <a:ext cx="676656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117 of 125 rejected</a:t>
            </a:r>
          </a:p>
        </p:txBody>
      </p:sp>
      <p:sp>
        <p:nvSpPr>
          <p:cNvPr id="9" name="table"/>
          <p:cNvSpPr/>
          <p:nvPr/>
        </p:nvSpPr>
        <p:spPr>
          <a:xfrm>
            <a:off x="7269480" y="1984248"/>
            <a:ext cx="292608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11" name="table"/>
          <p:cNvSpPr/>
          <p:nvPr/>
        </p:nvSpPr>
        <p:spPr>
          <a:xfrm>
            <a:off x="502920" y="2642615"/>
            <a:ext cx="676656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12 matched, 2 differed</a:t>
            </a:r>
          </a:p>
        </p:txBody>
      </p:sp>
      <p:sp>
        <p:nvSpPr>
          <p:cNvPr id="13" name="table"/>
          <p:cNvSpPr/>
          <p:nvPr/>
        </p:nvSpPr>
        <p:spPr>
          <a:xfrm>
            <a:off x="7269480" y="2642615"/>
            <a:ext cx="292608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15" name="table"/>
          <p:cNvSpPr/>
          <p:nvPr/>
        </p:nvSpPr>
        <p:spPr>
          <a:xfrm>
            <a:off x="502920" y="3300984"/>
            <a:ext cx="676656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Correlation id survived</a:t>
            </a:r>
          </a:p>
        </p:txBody>
      </p:sp>
      <p:sp>
        <p:nvSpPr>
          <p:cNvPr id="17" name="table"/>
          <p:cNvSpPr/>
          <p:nvPr/>
        </p:nvSpPr>
        <p:spPr>
          <a:xfrm>
            <a:off x="7269480" y="3300984"/>
            <a:ext cx="292608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19" name="table"/>
          <p:cNvSpPr/>
          <p:nvPr/>
        </p:nvSpPr>
        <p:spPr>
          <a:xfrm>
            <a:off x="502920" y="3959352"/>
            <a:ext cx="676656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BLOCK changed no record</a:t>
            </a:r>
          </a:p>
        </p:txBody>
      </p:sp>
      <p:sp>
        <p:nvSpPr>
          <p:cNvPr id="21" name="table"/>
          <p:cNvSpPr/>
          <p:nvPr/>
        </p:nvSpPr>
        <p:spPr>
          <a:xfrm>
            <a:off x="7269480" y="3959352"/>
            <a:ext cx="2926080" cy="6583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REAL</a:t>
            </a:r>
          </a:p>
        </p:txBody>
      </p:sp>
      <p:sp>
        <p:nvSpPr>
          <p:cNvPr id="23" name="table"/>
          <p:cNvSpPr/>
          <p:nvPr/>
        </p:nvSpPr>
        <p:spPr>
          <a:xfrm>
            <a:off x="502920" y="4617720"/>
            <a:ext cx="676656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1" i="0">
                <a:solidFill>
                  <a:srgbClr val="231F20"/>
                </a:solidFill>
                <a:latin typeface="Calibri"/>
                <a:ea typeface="Calibri"/>
                <a:cs typeface="Calibri"/>
              </a:rPr>
              <a:t>ROI stays educational</a:t>
            </a:r>
          </a:p>
        </p:txBody>
      </p:sp>
      <p:sp>
        <p:nvSpPr>
          <p:cNvPr id="25" name="table"/>
          <p:cNvSpPr/>
          <p:nvPr/>
        </p:nvSpPr>
        <p:spPr>
          <a:xfrm>
            <a:off x="7269480" y="4617720"/>
            <a:ext cx="292608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spcBef>
                <a:spcPts val="0"/>
              </a:spcBef>
              <a:spcAft>
                <a:spcPts val="0"/>
              </a:spcAft>
            </a:pPr>
            <a:r>
              <a:rPr sz="1300" b="0" i="0">
                <a:solidFill>
                  <a:srgbClr val="231F20"/>
                </a:solidFill>
                <a:latin typeface="Calibri"/>
                <a:ea typeface="Calibri"/>
                <a:cs typeface="Calibri"/>
              </a:rPr>
              <a:t>EDUCATIONAL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22</a:t>
            </a:r>
          </a:p>
        </p:txBody>
      </p:sp>
      <p:sp>
        <p:nvSpPr>
          <p:cNvPr id="4" name="pill-label"/>
          <p:cNvSpPr/>
          <p:nvPr/>
        </p:nvSpPr>
        <p:spPr>
          <a:xfrm>
            <a:off x="502920" y="2148840"/>
            <a:ext cx="2880360" cy="329184"/>
          </a:xfrm>
          <a:prstGeom prst="rect">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Bef>
                <a:spcPts val="0"/>
              </a:spcBef>
              <a:spcAft>
                <a:spcPts val="0"/>
              </a:spcAft>
            </a:pPr>
            <a:r>
              <a:rPr sz="900" b="1" i="0">
                <a:solidFill>
                  <a:srgbClr val="ED1C24"/>
                </a:solidFill>
                <a:latin typeface="Calibri"/>
                <a:ea typeface="Calibri"/>
                <a:cs typeface="Calibri"/>
              </a:rPr>
              <a:t>If you want the mechanism.</a:t>
            </a:r>
          </a:p>
        </p:txBody>
      </p:sp>
      <p:sp>
        <p:nvSpPr>
          <p:cNvPr id="5" name="title"/>
          <p:cNvSpPr txBox="1"/>
          <p:nvPr/>
        </p:nvSpPr>
        <p:spPr>
          <a:xfrm>
            <a:off x="502920" y="2697480"/>
            <a:ext cx="10241280" cy="137160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Three answers sit behind the spoken arc.</a:t>
            </a:r>
          </a:p>
        </p:txBody>
      </p:sp>
      <p:sp>
        <p:nvSpPr>
          <p:cNvPr id="6" name="support"/>
          <p:cNvSpPr txBox="1"/>
          <p:nvPr/>
        </p:nvSpPr>
        <p:spPr>
          <a:xfrm>
            <a:off x="502920" y="4114800"/>
            <a:ext cx="9601200" cy="731520"/>
          </a:xfrm>
          <a:prstGeom prst="rect">
            <a:avLst/>
          </a:prstGeom>
          <a:noFill/>
        </p:spPr>
        <p:txBody>
          <a:bodyPr wrap="square" lIns="0" tIns="36576" rIns="0" bIns="36576" anchor="t"/>
          <a:lstStyle/>
          <a:p>
            <a:pPr algn="l">
              <a:spcBef>
                <a:spcPts val="0"/>
              </a:spcBef>
              <a:spcAft>
                <a:spcPts val="0"/>
              </a:spcAft>
            </a:pPr>
            <a:r>
              <a:rPr sz="1600" b="0" i="0">
                <a:solidFill>
                  <a:srgbClr val="666666"/>
                </a:solidFill>
                <a:latin typeface="Calibri"/>
                <a:ea typeface="Calibri"/>
                <a:cs typeface="Calibri"/>
              </a:rPr>
              <a:t>The shell, the checks under the sheet, and one click.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23</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Both consoles share one shell.</a:t>
            </a:r>
          </a:p>
        </p:txBody>
      </p:sp>
      <p:sp>
        <p:nvSpPr>
          <p:cNvPr id="5" name="Rounded Rectangle 4"/>
          <p:cNvSpPr/>
          <p:nvPr/>
        </p:nvSpPr>
        <p:spPr>
          <a:xfrm>
            <a:off x="502920" y="1691640"/>
            <a:ext cx="3617976" cy="38404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1856232"/>
            <a:ext cx="64008" cy="3511296"/>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rd:0"/>
          <p:cNvSpPr txBox="1"/>
          <p:nvPr/>
        </p:nvSpPr>
        <p:spPr>
          <a:xfrm>
            <a:off x="722376" y="2057400"/>
            <a:ext cx="3233928" cy="2743200"/>
          </a:xfrm>
          <a:prstGeom prst="rect">
            <a:avLst/>
          </a:prstGeom>
          <a:noFill/>
        </p:spPr>
        <p:txBody>
          <a:bodyPr wrap="square" lIns="54864" tIns="36576" rIns="54864" bIns="36576" anchor="t"/>
          <a:lstStyle/>
          <a:p>
            <a:pPr algn="l">
              <a:spcBef>
                <a:spcPts val="0"/>
              </a:spcBef>
              <a:spcAft>
                <a:spcPts val="0"/>
              </a:spcAft>
            </a:pPr>
            <a:r>
              <a:rPr sz="1500" b="1" i="0">
                <a:solidFill>
                  <a:srgbClr val="231F20"/>
                </a:solidFill>
                <a:latin typeface="Calibri"/>
                <a:ea typeface="Calibri"/>
                <a:cs typeface="Calibri"/>
              </a:rPr>
              <a:t>Shared shell</a:t>
            </a:r>
          </a:p>
          <a:p>
            <a:pPr algn="l">
              <a:spcBef>
                <a:spcPts val="0"/>
              </a:spcBef>
              <a:spcAft>
                <a:spcPts val="0"/>
              </a:spcAft>
            </a:pPr>
            <a:r>
              <a:rPr sz="1600" b="0" i="0">
                <a:solidFill>
                  <a:srgbClr val="4B4B4B"/>
                </a:solidFill>
                <a:latin typeface="Calibri"/>
                <a:ea typeface="Calibri"/>
                <a:cs typeface="Calibri"/>
              </a:rPr>
              <a:t>Same bands, same tabs, same buttons.</a:t>
            </a:r>
          </a:p>
        </p:txBody>
      </p:sp>
      <p:sp>
        <p:nvSpPr>
          <p:cNvPr id="8" name="Rounded Rectangle 7"/>
          <p:cNvSpPr/>
          <p:nvPr/>
        </p:nvSpPr>
        <p:spPr>
          <a:xfrm>
            <a:off x="4285488" y="1691640"/>
            <a:ext cx="3617976" cy="38404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03775" y="1856232"/>
            <a:ext cx="64008" cy="3511296"/>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ard:1"/>
          <p:cNvSpPr txBox="1"/>
          <p:nvPr/>
        </p:nvSpPr>
        <p:spPr>
          <a:xfrm>
            <a:off x="4504944" y="2057400"/>
            <a:ext cx="3233928" cy="2743200"/>
          </a:xfrm>
          <a:prstGeom prst="rect">
            <a:avLst/>
          </a:prstGeom>
          <a:noFill/>
        </p:spPr>
        <p:txBody>
          <a:bodyPr wrap="square" lIns="54864" tIns="36576" rIns="54864" bIns="36576" anchor="t"/>
          <a:lstStyle/>
          <a:p>
            <a:pPr algn="l">
              <a:spcBef>
                <a:spcPts val="0"/>
              </a:spcBef>
              <a:spcAft>
                <a:spcPts val="0"/>
              </a:spcAft>
            </a:pPr>
            <a:r>
              <a:rPr sz="1500" b="1" i="0">
                <a:solidFill>
                  <a:srgbClr val="231F20"/>
                </a:solidFill>
                <a:latin typeface="Calibri"/>
                <a:ea typeface="Calibri"/>
                <a:cs typeface="Calibri"/>
              </a:rPr>
              <a:t>Rule path</a:t>
            </a:r>
          </a:p>
          <a:p>
            <a:pPr algn="l">
              <a:spcBef>
                <a:spcPts val="0"/>
              </a:spcBef>
              <a:spcAft>
                <a:spcPts val="0"/>
              </a:spcAft>
            </a:pPr>
            <a:r>
              <a:rPr sz="1600" b="0" i="0">
                <a:solidFill>
                  <a:srgbClr val="4B4B4B"/>
                </a:solidFill>
                <a:latin typeface="Calibri"/>
                <a:ea typeface="Calibri"/>
                <a:cs typeface="Calibri"/>
              </a:rPr>
              <a:t>Only Application B lists the five steps.</a:t>
            </a:r>
          </a:p>
        </p:txBody>
      </p:sp>
      <p:sp>
        <p:nvSpPr>
          <p:cNvPr id="11" name="Rounded Rectangle 10"/>
          <p:cNvSpPr/>
          <p:nvPr/>
        </p:nvSpPr>
        <p:spPr>
          <a:xfrm>
            <a:off x="8068056" y="1691640"/>
            <a:ext cx="3617976" cy="38404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086344" y="1856232"/>
            <a:ext cx="64008" cy="3511296"/>
          </a:xfrm>
          <a:prstGeom prst="rect">
            <a:avLst/>
          </a:prstGeom>
          <a:solidFill>
            <a:srgbClr val="7200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ard:2"/>
          <p:cNvSpPr txBox="1"/>
          <p:nvPr/>
        </p:nvSpPr>
        <p:spPr>
          <a:xfrm>
            <a:off x="8287512" y="2057400"/>
            <a:ext cx="3233928" cy="2743200"/>
          </a:xfrm>
          <a:prstGeom prst="rect">
            <a:avLst/>
          </a:prstGeom>
          <a:noFill/>
        </p:spPr>
        <p:txBody>
          <a:bodyPr wrap="square" lIns="54864" tIns="36576" rIns="54864" bIns="36576" anchor="t"/>
          <a:lstStyle/>
          <a:p>
            <a:pPr algn="l">
              <a:spcBef>
                <a:spcPts val="0"/>
              </a:spcBef>
              <a:spcAft>
                <a:spcPts val="0"/>
              </a:spcAft>
            </a:pPr>
            <a:r>
              <a:rPr sz="1500" b="1" i="0">
                <a:solidFill>
                  <a:srgbClr val="231F20"/>
                </a:solidFill>
                <a:latin typeface="Calibri"/>
                <a:ea typeface="Calibri"/>
                <a:cs typeface="Calibri"/>
              </a:rPr>
              <a:t>Second difference</a:t>
            </a:r>
          </a:p>
          <a:p>
            <a:pPr algn="l">
              <a:spcBef>
                <a:spcPts val="0"/>
              </a:spcBef>
              <a:spcAft>
                <a:spcPts val="0"/>
              </a:spcAft>
            </a:pPr>
            <a:r>
              <a:rPr sz="1600" b="0" i="0">
                <a:solidFill>
                  <a:srgbClr val="4B4B4B"/>
                </a:solidFill>
                <a:latin typeface="Calibri"/>
                <a:ea typeface="Calibri"/>
                <a:cs typeface="Calibri"/>
              </a:rPr>
              <a:t>The 50,000 label is proposed on B only.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24</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Secondary checks sit below the sheet.</a:t>
            </a:r>
          </a:p>
        </p:txBody>
      </p:sp>
      <p:sp>
        <p:nvSpPr>
          <p:cNvPr id="5" name="Rounded Rectangle 4"/>
          <p:cNvSpPr/>
          <p:nvPr/>
        </p:nvSpPr>
        <p:spPr>
          <a:xfrm>
            <a:off x="502920" y="1691640"/>
            <a:ext cx="11183112" cy="868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1208" y="1830628"/>
            <a:ext cx="64008" cy="590702"/>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rd:0"/>
          <p:cNvSpPr txBox="1"/>
          <p:nvPr/>
        </p:nvSpPr>
        <p:spPr>
          <a:xfrm>
            <a:off x="777240" y="1691640"/>
            <a:ext cx="10515600" cy="868680"/>
          </a:xfrm>
          <a:prstGeom prst="rect">
            <a:avLst/>
          </a:prstGeom>
          <a:noFill/>
        </p:spPr>
        <p:txBody>
          <a:bodyPr wrap="square" lIns="73152" tIns="36576" rIns="73152" bIns="36576" anchor="ctr"/>
          <a:lstStyle/>
          <a:p>
            <a:pPr algn="l">
              <a:spcBef>
                <a:spcPts val="0"/>
              </a:spcBef>
              <a:spcAft>
                <a:spcPts val="0"/>
              </a:spcAft>
            </a:pPr>
            <a:r>
              <a:rPr sz="1800" b="0" i="0">
                <a:solidFill>
                  <a:srgbClr val="231F20"/>
                </a:solidFill>
                <a:latin typeface="Calibri"/>
                <a:ea typeface="Calibri"/>
                <a:cs typeface="Calibri"/>
              </a:rPr>
              <a:t>Open the case with no identity</a:t>
            </a:r>
          </a:p>
        </p:txBody>
      </p:sp>
      <p:sp>
        <p:nvSpPr>
          <p:cNvPr id="8" name="Rounded Rectangle 7"/>
          <p:cNvSpPr/>
          <p:nvPr/>
        </p:nvSpPr>
        <p:spPr>
          <a:xfrm>
            <a:off x="502920" y="2743200"/>
            <a:ext cx="11183112" cy="868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1208" y="2882188"/>
            <a:ext cx="64008" cy="590702"/>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ard:1"/>
          <p:cNvSpPr txBox="1"/>
          <p:nvPr/>
        </p:nvSpPr>
        <p:spPr>
          <a:xfrm>
            <a:off x="777240" y="2743200"/>
            <a:ext cx="10515600" cy="868680"/>
          </a:xfrm>
          <a:prstGeom prst="rect">
            <a:avLst/>
          </a:prstGeom>
          <a:noFill/>
        </p:spPr>
        <p:txBody>
          <a:bodyPr wrap="square" lIns="73152" tIns="36576" rIns="73152" bIns="36576" anchor="ctr"/>
          <a:lstStyle/>
          <a:p>
            <a:pPr algn="l">
              <a:spcBef>
                <a:spcPts val="0"/>
              </a:spcBef>
              <a:spcAft>
                <a:spcPts val="0"/>
              </a:spcAft>
            </a:pPr>
            <a:r>
              <a:rPr sz="1800" b="0" i="0">
                <a:solidFill>
                  <a:srgbClr val="231F20"/>
                </a:solidFill>
                <a:latin typeface="Calibri"/>
                <a:ea typeface="Calibri"/>
                <a:cs typeface="Calibri"/>
              </a:rPr>
              <a:t>Try to approve from the feed note</a:t>
            </a:r>
          </a:p>
        </p:txBody>
      </p:sp>
      <p:sp>
        <p:nvSpPr>
          <p:cNvPr id="11" name="Rounded Rectangle 10"/>
          <p:cNvSpPr/>
          <p:nvPr/>
        </p:nvSpPr>
        <p:spPr>
          <a:xfrm>
            <a:off x="502920" y="3794760"/>
            <a:ext cx="11183112" cy="868680"/>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1208" y="3933748"/>
            <a:ext cx="64008" cy="590702"/>
          </a:xfrm>
          <a:prstGeom prst="rect">
            <a:avLst/>
          </a:prstGeom>
          <a:solidFill>
            <a:srgbClr val="231F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ard:2"/>
          <p:cNvSpPr txBox="1"/>
          <p:nvPr/>
        </p:nvSpPr>
        <p:spPr>
          <a:xfrm>
            <a:off x="777240" y="3794760"/>
            <a:ext cx="10515600" cy="868680"/>
          </a:xfrm>
          <a:prstGeom prst="rect">
            <a:avLst/>
          </a:prstGeom>
          <a:noFill/>
        </p:spPr>
        <p:txBody>
          <a:bodyPr wrap="square" lIns="73152" tIns="36576" rIns="73152" bIns="36576" anchor="ctr"/>
          <a:lstStyle/>
          <a:p>
            <a:pPr algn="l">
              <a:spcBef>
                <a:spcPts val="0"/>
              </a:spcBef>
              <a:spcAft>
                <a:spcPts val="0"/>
              </a:spcAft>
            </a:pPr>
            <a:r>
              <a:rPr sz="1800" b="0" i="0">
                <a:solidFill>
                  <a:srgbClr val="231F20"/>
                </a:solidFill>
                <a:latin typeface="Calibri"/>
                <a:ea typeface="Calibri"/>
                <a:cs typeface="Calibri"/>
              </a:rPr>
              <a:t>Take the next gateway message</a:t>
            </a:r>
          </a:p>
        </p:txBody>
      </p:sp>
      <p:sp>
        <p:nvSpPr>
          <p:cNvPr id="14" name="support"/>
          <p:cNvSpPr txBox="1"/>
          <p:nvPr/>
        </p:nvSpPr>
        <p:spPr>
          <a:xfrm>
            <a:off x="502920" y="5029200"/>
            <a:ext cx="11155680" cy="731520"/>
          </a:xfrm>
          <a:prstGeom prst="rect">
            <a:avLst/>
          </a:prstGeom>
          <a:noFill/>
        </p:spPr>
        <p:txBody>
          <a:bodyPr wrap="square" lIns="0" tIns="36576" rIns="0" bIns="36576" anchor="t"/>
          <a:lstStyle/>
          <a:p>
            <a:pPr algn="l">
              <a:spcBef>
                <a:spcPts val="0"/>
              </a:spcBef>
              <a:spcAft>
                <a:spcPts val="0"/>
              </a:spcAft>
            </a:pPr>
            <a:r>
              <a:rPr sz="1600" b="0" i="0">
                <a:solidFill>
                  <a:srgbClr val="666666"/>
                </a:solidFill>
                <a:latin typeface="Calibri"/>
                <a:ea typeface="Calibri"/>
                <a:cs typeface="Calibri"/>
              </a:rPr>
              <a:t>They sit under the sheet in quiet type. A work-area tab is Replay through Compare.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0" name="Connector 19"/>
          <p:cNvCxnSpPr/>
          <p:nvPr/>
        </p:nvCxnSpPr>
        <p:spPr>
          <a:xfrm>
            <a:off x="704088" y="1947672"/>
            <a:ext cx="0" cy="466343"/>
          </a:xfrm>
          <a:prstGeom prst="line">
            <a:avLst/>
          </a:prstGeom>
          <a:ln w="254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04088" y="2816352"/>
            <a:ext cx="0" cy="466344"/>
          </a:xfrm>
          <a:prstGeom prst="line">
            <a:avLst/>
          </a:prstGeom>
          <a:ln w="254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04088" y="3685032"/>
            <a:ext cx="0" cy="466344"/>
          </a:xfrm>
          <a:prstGeom prst="line">
            <a:avLst/>
          </a:prstGeom>
          <a:ln w="254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04088" y="4553712"/>
            <a:ext cx="0" cy="466344"/>
          </a:xfrm>
          <a:prstGeom prst="line">
            <a:avLst/>
          </a:prstGeom>
          <a:ln w="25400">
            <a:solidFill>
              <a:srgbClr val="D9D9D9"/>
            </a:solidFill>
          </a:ln>
        </p:spPr>
        <p:style>
          <a:lnRef idx="2">
            <a:schemeClr val="accent1"/>
          </a:lnRef>
          <a:fillRef idx="0">
            <a:schemeClr val="accent1"/>
          </a:fillRef>
          <a:effectRef idx="1">
            <a:schemeClr val="accent1"/>
          </a:effectRef>
          <a:fontRef idx="minor">
            <a:schemeClr val="tx1"/>
          </a:fontRef>
        </p:style>
      </p:cxnSp>
      <p:sp>
        <p:nvSpPr>
          <p:cNvPr id="2" name="footer-name"/>
          <p:cNvSpPr txBox="1"/>
          <p:nvPr/>
        </p:nvSpPr>
        <p:spPr>
          <a:xfrm>
            <a:off x="502920" y="6473952"/>
            <a:ext cx="5852160" cy="237744"/>
          </a:xfrm>
          <a:prstGeom prst="rect">
            <a:avLst/>
          </a:prstGeom>
          <a:noFill/>
        </p:spPr>
        <p:txBody>
          <a:bodyPr wrap="square" lIns="0" tIns="36576" rIns="0" bIns="36576" anchor="ctr"/>
          <a:lstStyle/>
          <a:p>
            <a:pPr algn="l">
              <a:spcBef>
                <a:spcPts val="0"/>
              </a:spcBef>
              <a:spcAft>
                <a:spcPts val="0"/>
              </a:spcAft>
            </a:pPr>
            <a:r>
              <a:rPr sz="1000" b="0" i="0">
                <a:solidFill>
                  <a:srgbClr val="666666"/>
                </a:solidFill>
                <a:latin typeface="Calibri"/>
                <a:ea typeface="Calibri"/>
                <a:cs typeface="Calibri"/>
              </a:rPr>
              <a:t>Fabpulse exception console</a:t>
            </a:r>
          </a:p>
        </p:txBody>
      </p:sp>
      <p:sp>
        <p:nvSpPr>
          <p:cNvPr id="3" name="footer-num"/>
          <p:cNvSpPr txBox="1"/>
          <p:nvPr/>
        </p:nvSpPr>
        <p:spPr>
          <a:xfrm>
            <a:off x="11292840" y="6473952"/>
            <a:ext cx="640080" cy="237744"/>
          </a:xfrm>
          <a:prstGeom prst="rect">
            <a:avLst/>
          </a:prstGeom>
          <a:noFill/>
        </p:spPr>
        <p:txBody>
          <a:bodyPr wrap="square" lIns="0" tIns="36576" rIns="0" bIns="36576" anchor="ctr"/>
          <a:lstStyle/>
          <a:p>
            <a:pPr algn="r">
              <a:spcBef>
                <a:spcPts val="0"/>
              </a:spcBef>
              <a:spcAft>
                <a:spcPts val="0"/>
              </a:spcAft>
            </a:pPr>
            <a:r>
              <a:rPr sz="1000" b="0" i="0">
                <a:solidFill>
                  <a:srgbClr val="777777"/>
                </a:solidFill>
                <a:latin typeface="Calibri"/>
                <a:ea typeface="Calibri"/>
                <a:cs typeface="Calibri"/>
              </a:rPr>
              <a:t>25</a:t>
            </a:r>
          </a:p>
        </p:txBody>
      </p:sp>
      <p:sp>
        <p:nvSpPr>
          <p:cNvPr id="4" name="title"/>
          <p:cNvSpPr txBox="1"/>
          <p:nvPr/>
        </p:nvSpPr>
        <p:spPr>
          <a:xfrm>
            <a:off x="502920" y="347472"/>
            <a:ext cx="11155680" cy="868680"/>
          </a:xfrm>
          <a:prstGeom prst="rect">
            <a:avLst/>
          </a:prstGeom>
          <a:noFill/>
        </p:spPr>
        <p:txBody>
          <a:bodyPr wrap="square" lIns="0" tIns="36576" rIns="0" bIns="36576" anchor="t"/>
          <a:lstStyle/>
          <a:p>
            <a:pPr algn="l">
              <a:spcBef>
                <a:spcPts val="0"/>
              </a:spcBef>
              <a:spcAft>
                <a:spcPts val="0"/>
              </a:spcAft>
            </a:pPr>
            <a:r>
              <a:rPr sz="2600" b="1" i="0">
                <a:solidFill>
                  <a:srgbClr val="231F20"/>
                </a:solidFill>
                <a:latin typeface="Calibri"/>
                <a:ea typeface="Calibri"/>
                <a:cs typeface="Calibri"/>
              </a:rPr>
              <a:t>Review this delivery ends on the result line.</a:t>
            </a:r>
          </a:p>
        </p:txBody>
      </p:sp>
      <p:sp>
        <p:nvSpPr>
          <p:cNvPr id="5" name="seq"/>
          <p:cNvSpPr/>
          <p:nvPr/>
        </p:nvSpPr>
        <p:spPr>
          <a:xfrm>
            <a:off x="502920" y="1527048"/>
            <a:ext cx="402336" cy="402336"/>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FFFFFF"/>
                </a:solidFill>
                <a:latin typeface="Calibri"/>
                <a:ea typeface="Calibri"/>
                <a:cs typeface="Calibri"/>
              </a:rPr>
              <a:t>1</a:t>
            </a:r>
          </a:p>
        </p:txBody>
      </p:sp>
      <p:sp>
        <p:nvSpPr>
          <p:cNvPr id="6" name="Rounded Rectangle 5"/>
          <p:cNvSpPr/>
          <p:nvPr/>
        </p:nvSpPr>
        <p:spPr>
          <a:xfrm>
            <a:off x="1097280" y="1417320"/>
            <a:ext cx="10149840" cy="65836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rd:0"/>
          <p:cNvSpPr txBox="1"/>
          <p:nvPr/>
        </p:nvSpPr>
        <p:spPr>
          <a:xfrm>
            <a:off x="1280160" y="1417320"/>
            <a:ext cx="9784080" cy="658368"/>
          </a:xfrm>
          <a:prstGeom prst="rect">
            <a:avLst/>
          </a:prstGeom>
          <a:noFill/>
        </p:spPr>
        <p:txBody>
          <a:bodyPr wrap="square" lIns="54864" tIns="36576" rIns="54864" bIns="36576" anchor="ctr"/>
          <a:lstStyle/>
          <a:p>
            <a:pPr algn="l">
              <a:spcBef>
                <a:spcPts val="0"/>
              </a:spcBef>
              <a:spcAft>
                <a:spcPts val="0"/>
              </a:spcAft>
            </a:pPr>
            <a:r>
              <a:rPr sz="1600" b="0" i="0">
                <a:solidFill>
                  <a:srgbClr val="231F20"/>
                </a:solidFill>
                <a:latin typeface="Calibri"/>
                <a:ea typeface="Calibri"/>
                <a:cs typeface="Calibri"/>
              </a:rPr>
              <a:t>Click Review this delivery.</a:t>
            </a:r>
          </a:p>
        </p:txBody>
      </p:sp>
      <p:sp>
        <p:nvSpPr>
          <p:cNvPr id="8" name="seq"/>
          <p:cNvSpPr/>
          <p:nvPr/>
        </p:nvSpPr>
        <p:spPr>
          <a:xfrm>
            <a:off x="502920" y="2395728"/>
            <a:ext cx="402336" cy="402336"/>
          </a:xfrm>
          <a:prstGeom prst="ellipse">
            <a:avLst/>
          </a:prstGeom>
          <a:solidFill>
            <a:srgbClr val="231F20"/>
          </a:solidFill>
          <a:ln>
            <a:noFill/>
          </a:ln>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FFFFFF"/>
                </a:solidFill>
                <a:latin typeface="Calibri"/>
                <a:ea typeface="Calibri"/>
                <a:cs typeface="Calibri"/>
              </a:rPr>
              <a:t>2</a:t>
            </a:r>
          </a:p>
        </p:txBody>
      </p:sp>
      <p:sp>
        <p:nvSpPr>
          <p:cNvPr id="9" name="Rounded Rectangle 8"/>
          <p:cNvSpPr/>
          <p:nvPr/>
        </p:nvSpPr>
        <p:spPr>
          <a:xfrm>
            <a:off x="1097280" y="2286000"/>
            <a:ext cx="10149840" cy="65836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ard:1"/>
          <p:cNvSpPr txBox="1"/>
          <p:nvPr/>
        </p:nvSpPr>
        <p:spPr>
          <a:xfrm>
            <a:off x="1280160" y="2286000"/>
            <a:ext cx="9784080" cy="658368"/>
          </a:xfrm>
          <a:prstGeom prst="rect">
            <a:avLst/>
          </a:prstGeom>
          <a:noFill/>
        </p:spPr>
        <p:txBody>
          <a:bodyPr wrap="square" lIns="54864" tIns="36576" rIns="54864" bIns="36576" anchor="ctr"/>
          <a:lstStyle/>
          <a:p>
            <a:pPr algn="l">
              <a:spcBef>
                <a:spcPts val="0"/>
              </a:spcBef>
              <a:spcAft>
                <a:spcPts val="0"/>
              </a:spcAft>
            </a:pPr>
            <a:r>
              <a:rPr sz="1600" b="0" i="0">
                <a:solidFill>
                  <a:srgbClr val="231F20"/>
                </a:solidFill>
                <a:latin typeface="Calibri"/>
                <a:ea typeface="Calibri"/>
                <a:cs typeface="Calibri"/>
              </a:rPr>
              <a:t>The page reads the saved explanation.</a:t>
            </a:r>
          </a:p>
        </p:txBody>
      </p:sp>
      <p:sp>
        <p:nvSpPr>
          <p:cNvPr id="11" name="seq"/>
          <p:cNvSpPr/>
          <p:nvPr/>
        </p:nvSpPr>
        <p:spPr>
          <a:xfrm>
            <a:off x="502920" y="3264408"/>
            <a:ext cx="402336" cy="402336"/>
          </a:xfrm>
          <a:prstGeom prst="ellipse">
            <a:avLst/>
          </a:prstGeom>
          <a:solidFill>
            <a:srgbClr val="231F20"/>
          </a:solidFill>
          <a:ln>
            <a:noFill/>
          </a:ln>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FFFFFF"/>
                </a:solidFill>
                <a:latin typeface="Calibri"/>
                <a:ea typeface="Calibri"/>
                <a:cs typeface="Calibri"/>
              </a:rPr>
              <a:t>3</a:t>
            </a:r>
          </a:p>
        </p:txBody>
      </p:sp>
      <p:sp>
        <p:nvSpPr>
          <p:cNvPr id="12" name="Rounded Rectangle 11"/>
          <p:cNvSpPr/>
          <p:nvPr/>
        </p:nvSpPr>
        <p:spPr>
          <a:xfrm>
            <a:off x="1097280" y="3154680"/>
            <a:ext cx="10149840" cy="65836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ard:2"/>
          <p:cNvSpPr txBox="1"/>
          <p:nvPr/>
        </p:nvSpPr>
        <p:spPr>
          <a:xfrm>
            <a:off x="1280160" y="3154680"/>
            <a:ext cx="9784080" cy="658368"/>
          </a:xfrm>
          <a:prstGeom prst="rect">
            <a:avLst/>
          </a:prstGeom>
          <a:noFill/>
        </p:spPr>
        <p:txBody>
          <a:bodyPr wrap="square" lIns="54864" tIns="36576" rIns="54864" bIns="36576" anchor="ctr"/>
          <a:lstStyle/>
          <a:p>
            <a:pPr algn="l">
              <a:spcBef>
                <a:spcPts val="0"/>
              </a:spcBef>
              <a:spcAft>
                <a:spcPts val="0"/>
              </a:spcAft>
            </a:pPr>
            <a:r>
              <a:rPr sz="1600" b="0" i="0">
                <a:solidFill>
                  <a:srgbClr val="231F20"/>
                </a:solidFill>
                <a:latin typeface="Calibri"/>
                <a:ea typeface="Calibri"/>
                <a:cs typeface="Calibri"/>
              </a:rPr>
              <a:t>The delivery row moves onto the queue.</a:t>
            </a:r>
          </a:p>
        </p:txBody>
      </p:sp>
      <p:sp>
        <p:nvSpPr>
          <p:cNvPr id="14" name="seq"/>
          <p:cNvSpPr/>
          <p:nvPr/>
        </p:nvSpPr>
        <p:spPr>
          <a:xfrm>
            <a:off x="502920" y="4133087"/>
            <a:ext cx="402336" cy="402336"/>
          </a:xfrm>
          <a:prstGeom prst="ellipse">
            <a:avLst/>
          </a:prstGeom>
          <a:solidFill>
            <a:srgbClr val="231F20"/>
          </a:solidFill>
          <a:ln>
            <a:noFill/>
          </a:ln>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FFFFFF"/>
                </a:solidFill>
                <a:latin typeface="Calibri"/>
                <a:ea typeface="Calibri"/>
                <a:cs typeface="Calibri"/>
              </a:rPr>
              <a:t>4</a:t>
            </a:r>
          </a:p>
        </p:txBody>
      </p:sp>
      <p:sp>
        <p:nvSpPr>
          <p:cNvPr id="15" name="Rounded Rectangle 14"/>
          <p:cNvSpPr/>
          <p:nvPr/>
        </p:nvSpPr>
        <p:spPr>
          <a:xfrm>
            <a:off x="1097280" y="4023359"/>
            <a:ext cx="10149840" cy="65836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ard:3"/>
          <p:cNvSpPr txBox="1"/>
          <p:nvPr/>
        </p:nvSpPr>
        <p:spPr>
          <a:xfrm>
            <a:off x="1280160" y="4023359"/>
            <a:ext cx="9784080" cy="658368"/>
          </a:xfrm>
          <a:prstGeom prst="rect">
            <a:avLst/>
          </a:prstGeom>
          <a:noFill/>
        </p:spPr>
        <p:txBody>
          <a:bodyPr wrap="square" lIns="54864" tIns="36576" rIns="54864" bIns="36576" anchor="ctr"/>
          <a:lstStyle/>
          <a:p>
            <a:pPr algn="l">
              <a:spcBef>
                <a:spcPts val="0"/>
              </a:spcBef>
              <a:spcAft>
                <a:spcPts val="0"/>
              </a:spcAft>
            </a:pPr>
            <a:r>
              <a:rPr sz="1600" b="0" i="0">
                <a:solidFill>
                  <a:srgbClr val="231F20"/>
                </a:solidFill>
                <a:latin typeface="Calibri"/>
                <a:ea typeface="Calibri"/>
                <a:cs typeface="Calibri"/>
              </a:rPr>
              <a:t>The count becomes 197. Packaged rows stay 67.</a:t>
            </a:r>
          </a:p>
        </p:txBody>
      </p:sp>
      <p:sp>
        <p:nvSpPr>
          <p:cNvPr id="17" name="seq"/>
          <p:cNvSpPr/>
          <p:nvPr/>
        </p:nvSpPr>
        <p:spPr>
          <a:xfrm>
            <a:off x="502920" y="5001768"/>
            <a:ext cx="402336" cy="402336"/>
          </a:xfrm>
          <a:prstGeom prst="ellipse">
            <a:avLst/>
          </a:prstGeom>
          <a:solidFill>
            <a:srgbClr val="231F20"/>
          </a:solidFill>
          <a:ln>
            <a:noFill/>
          </a:ln>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p>
            <a:pPr algn="ctr">
              <a:spcBef>
                <a:spcPts val="0"/>
              </a:spcBef>
              <a:spcAft>
                <a:spcPts val="0"/>
              </a:spcAft>
            </a:pPr>
            <a:r>
              <a:rPr sz="1400" b="1" i="0">
                <a:solidFill>
                  <a:srgbClr val="FFFFFF"/>
                </a:solidFill>
                <a:latin typeface="Calibri"/>
                <a:ea typeface="Calibri"/>
                <a:cs typeface="Calibri"/>
              </a:rPr>
              <a:t>5</a:t>
            </a:r>
          </a:p>
        </p:txBody>
      </p:sp>
      <p:sp>
        <p:nvSpPr>
          <p:cNvPr id="18" name="Rounded Rectangle 17"/>
          <p:cNvSpPr/>
          <p:nvPr/>
        </p:nvSpPr>
        <p:spPr>
          <a:xfrm>
            <a:off x="1097280" y="4892040"/>
            <a:ext cx="10149840" cy="658368"/>
          </a:xfrm>
          <a:prstGeom prst="roundRect">
            <a:avLst>
              <a:gd name="adj" fmla="val 8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ard:4"/>
          <p:cNvSpPr txBox="1"/>
          <p:nvPr/>
        </p:nvSpPr>
        <p:spPr>
          <a:xfrm>
            <a:off x="1280160" y="4892040"/>
            <a:ext cx="9784080" cy="658368"/>
          </a:xfrm>
          <a:prstGeom prst="rect">
            <a:avLst/>
          </a:prstGeom>
          <a:noFill/>
        </p:spPr>
        <p:txBody>
          <a:bodyPr wrap="square" lIns="54864" tIns="36576" rIns="54864" bIns="36576" anchor="ctr"/>
          <a:lstStyle/>
          <a:p>
            <a:pPr algn="l">
              <a:spcBef>
                <a:spcPts val="0"/>
              </a:spcBef>
              <a:spcAft>
                <a:spcPts val="0"/>
              </a:spcAft>
            </a:pPr>
            <a:r>
              <a:rPr sz="1600" b="0" i="0">
                <a:solidFill>
                  <a:srgbClr val="231F20"/>
                </a:solidFill>
                <a:latin typeface="Calibri"/>
                <a:ea typeface="Calibri"/>
                <a:cs typeface="Calibri"/>
              </a:rPr>
              <a:t>The result line states both numbers.</a:t>
            </a:r>
          </a:p>
        </p:txBody>
      </p:sp>
    </p:spTree>
  </p:cSld>
  <p:clrMapOvr>
    <a:masterClrMapping/>
  </p:clrMapOvr>
</p:sld>
</file>

<file path=ppt/theme/theme1.xml><?xml version="1.0" encoding="utf-8"?>
<a:theme xmlns:a="http://schemas.openxmlformats.org/drawingml/2006/main" name="Fabpulse Defence">
  <a:themeElements>
    <a:clrScheme name="Fabpulse">
      <a:dk1>
        <a:srgbClr val="231F20"/>
      </a:dk1>
      <a:lt1>
        <a:srgbClr val="FFFFFF"/>
      </a:lt1>
      <a:dk2>
        <a:srgbClr val="231F20"/>
      </a:dk2>
      <a:lt2>
        <a:srgbClr val="F2F2F2"/>
      </a:lt2>
      <a:accent1>
        <a:srgbClr val="ED1C24"/>
      </a:accent1>
      <a:accent2>
        <a:srgbClr val="72007D"/>
      </a:accent2>
      <a:accent3>
        <a:srgbClr val="EFBC4A"/>
      </a:accent3>
      <a:accent4>
        <a:srgbClr val="666666"/>
      </a:accent4>
      <a:accent5>
        <a:srgbClr val="4B4B4B"/>
      </a:accent5>
      <a:accent6>
        <a:srgbClr val="FDEBEC"/>
      </a:accent6>
      <a:hlink>
        <a:srgbClr val="231F20"/>
      </a:hlink>
      <a:folHlink>
        <a:srgbClr val="666666"/>
      </a:folHlink>
    </a:clrScheme>
    <a:fontScheme name="Fabpulse Calibri">
      <a:majorFont>
        <a:latin typeface="Calibri"/>
        <a:ea typeface="Calibri"/>
        <a:cs typeface="Calibri"/>
      </a:majorFont>
      <a:minorFont>
        <a:latin typeface="Calibri"/>
        <a:ea typeface="Calibri"/>
        <a:cs typeface="Calibri"/>
      </a:minorFont>
    </a:fontScheme>
    <a:fmtScheme name="Fabpulse">
      <a:fillStyleLst>
        <a:solidFill>
          <a:srgbClr val="FFFFFF"/>
        </a:solidFill>
        <a:solidFill>
          <a:srgbClr val="F2F2F2"/>
        </a:solidFill>
        <a:solidFill>
          <a:srgbClr val="231F20"/>
        </a:solidFill>
      </a:fillStyleLst>
      <a:lnStyleLst>
        <a:ln w="6350">
          <a:solidFill>
            <a:srgbClr val="E0E0E0"/>
          </a:solidFill>
        </a:ln>
        <a:ln w="12700">
          <a:solidFill>
            <a:srgbClr val="231F20"/>
          </a:solidFill>
        </a:ln>
        <a:ln w="19050">
          <a:solidFill>
            <a:srgbClr val="ED1C24"/>
          </a:solidFill>
        </a:ln>
      </a:lnStyleLst>
      <a:effectStyleLst>
        <a:effectStyle>
          <a:effectLst/>
        </a:effectStyle>
        <a:effectStyle>
          <a:effectLst/>
        </a:effectStyle>
        <a:effectStyle>
          <a:effectLst/>
        </a:effectStyle>
      </a:effectStyleLst>
      <a:bgFillStyleLst>
        <a:solidFill>
          <a:srgbClr val="FFFFFF"/>
        </a:solidFill>
        <a:solidFill>
          <a:srgbClr val="F2F2F2"/>
        </a:solidFill>
        <a:solidFill>
          <a:srgbClr val="FFFFFF"/>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3547</Words>
  <Application>Microsoft Office PowerPoint</Application>
  <PresentationFormat>Widescreen</PresentationFormat>
  <Paragraphs>445</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Fabpulse Defence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Fabpulse exception console</dc:title>
  <dc:subject>Internal capstone defence</dc:subject>
  <dc:creator>Team-Force</dc:creator>
  <cp:keywords/>
  <dc:description>generated using python-pptx</dc:description>
  <cp:lastModifiedBy>Mangesh Umbrajkar</cp:lastModifiedBy>
  <cp:revision>1</cp:revision>
  <dcterms:created xsi:type="dcterms:W3CDTF">2013-01-27T09:14:16Z</dcterms:created>
  <dcterms:modified xsi:type="dcterms:W3CDTF">2026-10-20T19:37:15Z</dcterms:modified>
  <cp:category/>
</cp:coreProperties>
</file>